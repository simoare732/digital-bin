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4"/>
  </p:sldMasterIdLst>
  <p:notesMasterIdLst>
    <p:notesMasterId r:id="rId36"/>
  </p:notesMasterIdLst>
  <p:sldIdLst>
    <p:sldId id="256" r:id="rId5"/>
    <p:sldId id="257" r:id="rId6"/>
    <p:sldId id="258" r:id="rId7"/>
    <p:sldId id="259" r:id="rId8"/>
    <p:sldId id="260" r:id="rId9"/>
    <p:sldId id="261" r:id="rId10"/>
    <p:sldId id="262" r:id="rId11"/>
    <p:sldId id="265" r:id="rId12"/>
    <p:sldId id="263" r:id="rId13"/>
    <p:sldId id="287" r:id="rId14"/>
    <p:sldId id="264" r:id="rId15"/>
    <p:sldId id="266" r:id="rId16"/>
    <p:sldId id="270" r:id="rId17"/>
    <p:sldId id="271" r:id="rId18"/>
    <p:sldId id="273" r:id="rId19"/>
    <p:sldId id="274" r:id="rId20"/>
    <p:sldId id="275" r:id="rId21"/>
    <p:sldId id="267" r:id="rId22"/>
    <p:sldId id="268" r:id="rId23"/>
    <p:sldId id="276" r:id="rId24"/>
    <p:sldId id="277" r:id="rId25"/>
    <p:sldId id="272" r:id="rId26"/>
    <p:sldId id="280" r:id="rId27"/>
    <p:sldId id="282" r:id="rId28"/>
    <p:sldId id="283" r:id="rId29"/>
    <p:sldId id="284" r:id="rId30"/>
    <p:sldId id="285" r:id="rId31"/>
    <p:sldId id="286" r:id="rId32"/>
    <p:sldId id="278" r:id="rId33"/>
    <p:sldId id="279" r:id="rId34"/>
    <p:sldId id="28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D5600C-3A25-889B-DD3C-E1EFB266EBBB}" v="6" dt="2026-02-09T15:12:38.744"/>
    <p1510:client id="{CBAE1D79-CB51-9018-17D8-DA95D06613F9}" v="16" dt="2026-02-09T10:29:07.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5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0A13DE-55FC-48EB-9E3B-8F290DA9BD5E}"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00B2CEAD-97A3-4657-98F7-7D96ADE113B7}">
      <dgm:prSet/>
      <dgm:spPr/>
      <dgm:t>
        <a:bodyPr/>
        <a:lstStyle/>
        <a:p>
          <a:r>
            <a:rPr lang="en-US"/>
            <a:t>Urban and rural upkeep</a:t>
          </a:r>
        </a:p>
      </dgm:t>
    </dgm:pt>
    <dgm:pt modelId="{B0124EEE-373A-4B84-BF7A-8CA10A81E089}" type="parTrans" cxnId="{21CA7981-B98D-405D-BAD6-10B8682DF6FA}">
      <dgm:prSet/>
      <dgm:spPr/>
      <dgm:t>
        <a:bodyPr/>
        <a:lstStyle/>
        <a:p>
          <a:endParaRPr lang="en-US"/>
        </a:p>
      </dgm:t>
    </dgm:pt>
    <dgm:pt modelId="{B9746FA1-2A78-49D8-899D-FCD1B8FEB8A6}" type="sibTrans" cxnId="{21CA7981-B98D-405D-BAD6-10B8682DF6FA}">
      <dgm:prSet/>
      <dgm:spPr/>
      <dgm:t>
        <a:bodyPr/>
        <a:lstStyle/>
        <a:p>
          <a:endParaRPr lang="en-US"/>
        </a:p>
      </dgm:t>
    </dgm:pt>
    <dgm:pt modelId="{D31D2791-1BD0-48F0-8720-A7C06BD483FB}">
      <dgm:prSet/>
      <dgm:spPr/>
      <dgm:t>
        <a:bodyPr/>
        <a:lstStyle/>
        <a:p>
          <a:r>
            <a:rPr lang="en-US"/>
            <a:t>Preventing bin overflows</a:t>
          </a:r>
        </a:p>
      </dgm:t>
    </dgm:pt>
    <dgm:pt modelId="{7E264580-A830-4546-9656-31DAA2D9F43A}" type="parTrans" cxnId="{F8B84A52-4B7F-4457-A489-3FBE0510A383}">
      <dgm:prSet/>
      <dgm:spPr/>
      <dgm:t>
        <a:bodyPr/>
        <a:lstStyle/>
        <a:p>
          <a:endParaRPr lang="en-US"/>
        </a:p>
      </dgm:t>
    </dgm:pt>
    <dgm:pt modelId="{5C3A7162-472F-415C-988F-B61D1B63E1D2}" type="sibTrans" cxnId="{F8B84A52-4B7F-4457-A489-3FBE0510A383}">
      <dgm:prSet/>
      <dgm:spPr/>
      <dgm:t>
        <a:bodyPr/>
        <a:lstStyle/>
        <a:p>
          <a:endParaRPr lang="en-US"/>
        </a:p>
      </dgm:t>
    </dgm:pt>
    <dgm:pt modelId="{B942C3CC-4F60-4A52-8DFC-17942708B413}">
      <dgm:prSet/>
      <dgm:spPr/>
      <dgm:t>
        <a:bodyPr/>
        <a:lstStyle/>
        <a:p>
          <a:r>
            <a:rPr lang="en-US"/>
            <a:t>Enhanced schedule of waste collectors</a:t>
          </a:r>
        </a:p>
      </dgm:t>
    </dgm:pt>
    <dgm:pt modelId="{EC68E57D-5CA7-4AE8-B3C2-2429B2342BBF}" type="parTrans" cxnId="{C3882486-A8BC-4A91-9900-C842756B0032}">
      <dgm:prSet/>
      <dgm:spPr/>
      <dgm:t>
        <a:bodyPr/>
        <a:lstStyle/>
        <a:p>
          <a:endParaRPr lang="en-US"/>
        </a:p>
      </dgm:t>
    </dgm:pt>
    <dgm:pt modelId="{35B5F42D-7095-4DC2-97EE-2B658B5CDC51}" type="sibTrans" cxnId="{C3882486-A8BC-4A91-9900-C842756B0032}">
      <dgm:prSet/>
      <dgm:spPr/>
      <dgm:t>
        <a:bodyPr/>
        <a:lstStyle/>
        <a:p>
          <a:endParaRPr lang="en-US"/>
        </a:p>
      </dgm:t>
    </dgm:pt>
    <dgm:pt modelId="{89AFCA20-C223-463E-8DFD-29A7859ABAD0}">
      <dgm:prSet/>
      <dgm:spPr/>
      <dgm:t>
        <a:bodyPr/>
        <a:lstStyle/>
        <a:p>
          <a:r>
            <a:rPr lang="en-US"/>
            <a:t>Enhance maintenance interventions </a:t>
          </a:r>
        </a:p>
      </dgm:t>
    </dgm:pt>
    <dgm:pt modelId="{7E802593-A281-47BB-B262-A0BFD1B29604}" type="parTrans" cxnId="{418351F8-D0BE-4ABF-B3CF-D4AF2CEDD8CD}">
      <dgm:prSet/>
      <dgm:spPr/>
      <dgm:t>
        <a:bodyPr/>
        <a:lstStyle/>
        <a:p>
          <a:endParaRPr lang="en-US"/>
        </a:p>
      </dgm:t>
    </dgm:pt>
    <dgm:pt modelId="{2E825D8E-2ACE-4B30-A298-2D0877457C80}" type="sibTrans" cxnId="{418351F8-D0BE-4ABF-B3CF-D4AF2CEDD8CD}">
      <dgm:prSet/>
      <dgm:spPr/>
      <dgm:t>
        <a:bodyPr/>
        <a:lstStyle/>
        <a:p>
          <a:endParaRPr lang="en-US"/>
        </a:p>
      </dgm:t>
    </dgm:pt>
    <dgm:pt modelId="{4D189D35-3A84-44AE-8EC5-0C40F8EEB347}" type="pres">
      <dgm:prSet presAssocID="{A60A13DE-55FC-48EB-9E3B-8F290DA9BD5E}" presName="vert0" presStyleCnt="0">
        <dgm:presLayoutVars>
          <dgm:dir/>
          <dgm:animOne val="branch"/>
          <dgm:animLvl val="lvl"/>
        </dgm:presLayoutVars>
      </dgm:prSet>
      <dgm:spPr/>
    </dgm:pt>
    <dgm:pt modelId="{A08F0719-8322-4D05-945B-CA0F80099E22}" type="pres">
      <dgm:prSet presAssocID="{00B2CEAD-97A3-4657-98F7-7D96ADE113B7}" presName="thickLine" presStyleLbl="alignNode1" presStyleIdx="0" presStyleCnt="4"/>
      <dgm:spPr/>
    </dgm:pt>
    <dgm:pt modelId="{B6D4E364-922B-490D-B93D-1CD5C08070BA}" type="pres">
      <dgm:prSet presAssocID="{00B2CEAD-97A3-4657-98F7-7D96ADE113B7}" presName="horz1" presStyleCnt="0"/>
      <dgm:spPr/>
    </dgm:pt>
    <dgm:pt modelId="{E1C81FF3-198E-4E05-A530-6DDF374CB169}" type="pres">
      <dgm:prSet presAssocID="{00B2CEAD-97A3-4657-98F7-7D96ADE113B7}" presName="tx1" presStyleLbl="revTx" presStyleIdx="0" presStyleCnt="4"/>
      <dgm:spPr/>
    </dgm:pt>
    <dgm:pt modelId="{61A24FFB-128D-4D56-82F9-375614D610AC}" type="pres">
      <dgm:prSet presAssocID="{00B2CEAD-97A3-4657-98F7-7D96ADE113B7}" presName="vert1" presStyleCnt="0"/>
      <dgm:spPr/>
    </dgm:pt>
    <dgm:pt modelId="{F130113B-8EE3-4D4F-A420-0CE4DB45B079}" type="pres">
      <dgm:prSet presAssocID="{D31D2791-1BD0-48F0-8720-A7C06BD483FB}" presName="thickLine" presStyleLbl="alignNode1" presStyleIdx="1" presStyleCnt="4"/>
      <dgm:spPr/>
    </dgm:pt>
    <dgm:pt modelId="{BC7091C9-C595-41A2-A6C5-AE3FBA93C37C}" type="pres">
      <dgm:prSet presAssocID="{D31D2791-1BD0-48F0-8720-A7C06BD483FB}" presName="horz1" presStyleCnt="0"/>
      <dgm:spPr/>
    </dgm:pt>
    <dgm:pt modelId="{87DA76BE-83D0-422D-9CF2-019DF77B4500}" type="pres">
      <dgm:prSet presAssocID="{D31D2791-1BD0-48F0-8720-A7C06BD483FB}" presName="tx1" presStyleLbl="revTx" presStyleIdx="1" presStyleCnt="4"/>
      <dgm:spPr/>
    </dgm:pt>
    <dgm:pt modelId="{6FB60B1D-BE4D-43DC-8719-E19456F3CD0C}" type="pres">
      <dgm:prSet presAssocID="{D31D2791-1BD0-48F0-8720-A7C06BD483FB}" presName="vert1" presStyleCnt="0"/>
      <dgm:spPr/>
    </dgm:pt>
    <dgm:pt modelId="{63323098-B57C-45E6-8A6E-1D76051E402E}" type="pres">
      <dgm:prSet presAssocID="{B942C3CC-4F60-4A52-8DFC-17942708B413}" presName="thickLine" presStyleLbl="alignNode1" presStyleIdx="2" presStyleCnt="4"/>
      <dgm:spPr/>
    </dgm:pt>
    <dgm:pt modelId="{854D7984-9271-4E5C-A28E-C398465D6D5A}" type="pres">
      <dgm:prSet presAssocID="{B942C3CC-4F60-4A52-8DFC-17942708B413}" presName="horz1" presStyleCnt="0"/>
      <dgm:spPr/>
    </dgm:pt>
    <dgm:pt modelId="{AD6F1D53-C60B-44E8-954A-54C1614438A3}" type="pres">
      <dgm:prSet presAssocID="{B942C3CC-4F60-4A52-8DFC-17942708B413}" presName="tx1" presStyleLbl="revTx" presStyleIdx="2" presStyleCnt="4"/>
      <dgm:spPr/>
    </dgm:pt>
    <dgm:pt modelId="{6C4FE477-E5F0-4ACE-AC75-942B7B8BAE19}" type="pres">
      <dgm:prSet presAssocID="{B942C3CC-4F60-4A52-8DFC-17942708B413}" presName="vert1" presStyleCnt="0"/>
      <dgm:spPr/>
    </dgm:pt>
    <dgm:pt modelId="{302DB063-911E-40E1-A76C-11C987C53543}" type="pres">
      <dgm:prSet presAssocID="{89AFCA20-C223-463E-8DFD-29A7859ABAD0}" presName="thickLine" presStyleLbl="alignNode1" presStyleIdx="3" presStyleCnt="4"/>
      <dgm:spPr/>
    </dgm:pt>
    <dgm:pt modelId="{105CB983-9AA3-430F-95BB-E8A0E955FEE5}" type="pres">
      <dgm:prSet presAssocID="{89AFCA20-C223-463E-8DFD-29A7859ABAD0}" presName="horz1" presStyleCnt="0"/>
      <dgm:spPr/>
    </dgm:pt>
    <dgm:pt modelId="{DA1A3CBB-CAC1-4A63-AFF9-BF8DCC47DBFE}" type="pres">
      <dgm:prSet presAssocID="{89AFCA20-C223-463E-8DFD-29A7859ABAD0}" presName="tx1" presStyleLbl="revTx" presStyleIdx="3" presStyleCnt="4"/>
      <dgm:spPr/>
    </dgm:pt>
    <dgm:pt modelId="{B9F860D5-1A86-4657-8D02-CD6DAB98C478}" type="pres">
      <dgm:prSet presAssocID="{89AFCA20-C223-463E-8DFD-29A7859ABAD0}" presName="vert1" presStyleCnt="0"/>
      <dgm:spPr/>
    </dgm:pt>
  </dgm:ptLst>
  <dgm:cxnLst>
    <dgm:cxn modelId="{C055131F-017D-4B0C-A196-DDE64681FCD5}" type="presOf" srcId="{D31D2791-1BD0-48F0-8720-A7C06BD483FB}" destId="{87DA76BE-83D0-422D-9CF2-019DF77B4500}" srcOrd="0" destOrd="0" presId="urn:microsoft.com/office/officeart/2008/layout/LinedList"/>
    <dgm:cxn modelId="{F8B84A52-4B7F-4457-A489-3FBE0510A383}" srcId="{A60A13DE-55FC-48EB-9E3B-8F290DA9BD5E}" destId="{D31D2791-1BD0-48F0-8720-A7C06BD483FB}" srcOrd="1" destOrd="0" parTransId="{7E264580-A830-4546-9656-31DAA2D9F43A}" sibTransId="{5C3A7162-472F-415C-988F-B61D1B63E1D2}"/>
    <dgm:cxn modelId="{21CA7981-B98D-405D-BAD6-10B8682DF6FA}" srcId="{A60A13DE-55FC-48EB-9E3B-8F290DA9BD5E}" destId="{00B2CEAD-97A3-4657-98F7-7D96ADE113B7}" srcOrd="0" destOrd="0" parTransId="{B0124EEE-373A-4B84-BF7A-8CA10A81E089}" sibTransId="{B9746FA1-2A78-49D8-899D-FCD1B8FEB8A6}"/>
    <dgm:cxn modelId="{5FE8DE85-64E6-4AF6-B442-C1F0ECD3011D}" type="presOf" srcId="{89AFCA20-C223-463E-8DFD-29A7859ABAD0}" destId="{DA1A3CBB-CAC1-4A63-AFF9-BF8DCC47DBFE}" srcOrd="0" destOrd="0" presId="urn:microsoft.com/office/officeart/2008/layout/LinedList"/>
    <dgm:cxn modelId="{C3882486-A8BC-4A91-9900-C842756B0032}" srcId="{A60A13DE-55FC-48EB-9E3B-8F290DA9BD5E}" destId="{B942C3CC-4F60-4A52-8DFC-17942708B413}" srcOrd="2" destOrd="0" parTransId="{EC68E57D-5CA7-4AE8-B3C2-2429B2342BBF}" sibTransId="{35B5F42D-7095-4DC2-97EE-2B658B5CDC51}"/>
    <dgm:cxn modelId="{03606BA8-982F-4E04-9BE4-38A60AB2BE15}" type="presOf" srcId="{A60A13DE-55FC-48EB-9E3B-8F290DA9BD5E}" destId="{4D189D35-3A84-44AE-8EC5-0C40F8EEB347}" srcOrd="0" destOrd="0" presId="urn:microsoft.com/office/officeart/2008/layout/LinedList"/>
    <dgm:cxn modelId="{FE7BC9CC-0AA7-4362-BBE8-E35770D30BB5}" type="presOf" srcId="{00B2CEAD-97A3-4657-98F7-7D96ADE113B7}" destId="{E1C81FF3-198E-4E05-A530-6DDF374CB169}" srcOrd="0" destOrd="0" presId="urn:microsoft.com/office/officeart/2008/layout/LinedList"/>
    <dgm:cxn modelId="{418351F8-D0BE-4ABF-B3CF-D4AF2CEDD8CD}" srcId="{A60A13DE-55FC-48EB-9E3B-8F290DA9BD5E}" destId="{89AFCA20-C223-463E-8DFD-29A7859ABAD0}" srcOrd="3" destOrd="0" parTransId="{7E802593-A281-47BB-B262-A0BFD1B29604}" sibTransId="{2E825D8E-2ACE-4B30-A298-2D0877457C80}"/>
    <dgm:cxn modelId="{A72FAEF8-3F01-4A7C-B42B-4FB7C0AE28D5}" type="presOf" srcId="{B942C3CC-4F60-4A52-8DFC-17942708B413}" destId="{AD6F1D53-C60B-44E8-954A-54C1614438A3}" srcOrd="0" destOrd="0" presId="urn:microsoft.com/office/officeart/2008/layout/LinedList"/>
    <dgm:cxn modelId="{A30E34DA-0E74-4EAB-934D-66067CB24833}" type="presParOf" srcId="{4D189D35-3A84-44AE-8EC5-0C40F8EEB347}" destId="{A08F0719-8322-4D05-945B-CA0F80099E22}" srcOrd="0" destOrd="0" presId="urn:microsoft.com/office/officeart/2008/layout/LinedList"/>
    <dgm:cxn modelId="{EEEB94DE-0BF4-497C-8B0A-E3945D86DEFC}" type="presParOf" srcId="{4D189D35-3A84-44AE-8EC5-0C40F8EEB347}" destId="{B6D4E364-922B-490D-B93D-1CD5C08070BA}" srcOrd="1" destOrd="0" presId="urn:microsoft.com/office/officeart/2008/layout/LinedList"/>
    <dgm:cxn modelId="{C0F956D2-EE96-4C07-8221-FCC93FD05AC1}" type="presParOf" srcId="{B6D4E364-922B-490D-B93D-1CD5C08070BA}" destId="{E1C81FF3-198E-4E05-A530-6DDF374CB169}" srcOrd="0" destOrd="0" presId="urn:microsoft.com/office/officeart/2008/layout/LinedList"/>
    <dgm:cxn modelId="{001B7903-A059-4A4B-BBC0-CF7AAB1FD246}" type="presParOf" srcId="{B6D4E364-922B-490D-B93D-1CD5C08070BA}" destId="{61A24FFB-128D-4D56-82F9-375614D610AC}" srcOrd="1" destOrd="0" presId="urn:microsoft.com/office/officeart/2008/layout/LinedList"/>
    <dgm:cxn modelId="{1DB8F831-CFB2-4962-B9FA-00A6EBAB1821}" type="presParOf" srcId="{4D189D35-3A84-44AE-8EC5-0C40F8EEB347}" destId="{F130113B-8EE3-4D4F-A420-0CE4DB45B079}" srcOrd="2" destOrd="0" presId="urn:microsoft.com/office/officeart/2008/layout/LinedList"/>
    <dgm:cxn modelId="{A2535811-8038-4217-9360-94E0CFA63FC2}" type="presParOf" srcId="{4D189D35-3A84-44AE-8EC5-0C40F8EEB347}" destId="{BC7091C9-C595-41A2-A6C5-AE3FBA93C37C}" srcOrd="3" destOrd="0" presId="urn:microsoft.com/office/officeart/2008/layout/LinedList"/>
    <dgm:cxn modelId="{44F2C731-8C8F-4A0A-8FA9-7ECB8934941D}" type="presParOf" srcId="{BC7091C9-C595-41A2-A6C5-AE3FBA93C37C}" destId="{87DA76BE-83D0-422D-9CF2-019DF77B4500}" srcOrd="0" destOrd="0" presId="urn:microsoft.com/office/officeart/2008/layout/LinedList"/>
    <dgm:cxn modelId="{F34B2748-8F11-4F42-A77E-F20E4E8E83A3}" type="presParOf" srcId="{BC7091C9-C595-41A2-A6C5-AE3FBA93C37C}" destId="{6FB60B1D-BE4D-43DC-8719-E19456F3CD0C}" srcOrd="1" destOrd="0" presId="urn:microsoft.com/office/officeart/2008/layout/LinedList"/>
    <dgm:cxn modelId="{069554B0-EED3-463E-A867-057039592E8C}" type="presParOf" srcId="{4D189D35-3A84-44AE-8EC5-0C40F8EEB347}" destId="{63323098-B57C-45E6-8A6E-1D76051E402E}" srcOrd="4" destOrd="0" presId="urn:microsoft.com/office/officeart/2008/layout/LinedList"/>
    <dgm:cxn modelId="{4B258FBB-61B2-4839-AF55-87DB86F9A9FB}" type="presParOf" srcId="{4D189D35-3A84-44AE-8EC5-0C40F8EEB347}" destId="{854D7984-9271-4E5C-A28E-C398465D6D5A}" srcOrd="5" destOrd="0" presId="urn:microsoft.com/office/officeart/2008/layout/LinedList"/>
    <dgm:cxn modelId="{705DE56F-E479-49E3-9D27-73D8A9B6B280}" type="presParOf" srcId="{854D7984-9271-4E5C-A28E-C398465D6D5A}" destId="{AD6F1D53-C60B-44E8-954A-54C1614438A3}" srcOrd="0" destOrd="0" presId="urn:microsoft.com/office/officeart/2008/layout/LinedList"/>
    <dgm:cxn modelId="{BC16BFD2-7196-470A-B501-F3BA67359E6E}" type="presParOf" srcId="{854D7984-9271-4E5C-A28E-C398465D6D5A}" destId="{6C4FE477-E5F0-4ACE-AC75-942B7B8BAE19}" srcOrd="1" destOrd="0" presId="urn:microsoft.com/office/officeart/2008/layout/LinedList"/>
    <dgm:cxn modelId="{48EFB010-55B5-49CF-ACF5-AC39B2DA609A}" type="presParOf" srcId="{4D189D35-3A84-44AE-8EC5-0C40F8EEB347}" destId="{302DB063-911E-40E1-A76C-11C987C53543}" srcOrd="6" destOrd="0" presId="urn:microsoft.com/office/officeart/2008/layout/LinedList"/>
    <dgm:cxn modelId="{865BAAD1-86EF-45A3-AA38-D20E4BE1187B}" type="presParOf" srcId="{4D189D35-3A84-44AE-8EC5-0C40F8EEB347}" destId="{105CB983-9AA3-430F-95BB-E8A0E955FEE5}" srcOrd="7" destOrd="0" presId="urn:microsoft.com/office/officeart/2008/layout/LinedList"/>
    <dgm:cxn modelId="{70AABEC1-5E15-4034-A2C2-302B44321F61}" type="presParOf" srcId="{105CB983-9AA3-430F-95BB-E8A0E955FEE5}" destId="{DA1A3CBB-CAC1-4A63-AFF9-BF8DCC47DBFE}" srcOrd="0" destOrd="0" presId="urn:microsoft.com/office/officeart/2008/layout/LinedList"/>
    <dgm:cxn modelId="{D5E11BBD-DB3A-4BB9-962E-57FD71C00773}" type="presParOf" srcId="{105CB983-9AA3-430F-95BB-E8A0E955FEE5}" destId="{B9F860D5-1A86-4657-8D02-CD6DAB98C478}"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B4A847-1AB7-457F-8689-001F2662F64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3FC2C90-1F14-4517-9119-58BDE065CB10}">
      <dgm:prSet/>
      <dgm:spPr/>
      <dgm:t>
        <a:bodyPr/>
        <a:lstStyle/>
        <a:p>
          <a:pPr>
            <a:lnSpc>
              <a:spcPct val="100000"/>
            </a:lnSpc>
          </a:pPr>
          <a:r>
            <a:rPr lang="it-IT"/>
            <a:t>It exploits ThingsBoard CE </a:t>
          </a:r>
        </a:p>
      </dgm:t>
    </dgm:pt>
    <dgm:pt modelId="{B55829E0-60E5-4F25-B6AB-44A96E192B17}" type="parTrans" cxnId="{72B5FC49-AAC7-4587-AB76-8B0A7326A7D1}">
      <dgm:prSet/>
      <dgm:spPr/>
      <dgm:t>
        <a:bodyPr/>
        <a:lstStyle/>
        <a:p>
          <a:endParaRPr lang="en-US"/>
        </a:p>
      </dgm:t>
    </dgm:pt>
    <dgm:pt modelId="{87C034C4-7956-4716-8262-22867E6CC0CF}" type="sibTrans" cxnId="{72B5FC49-AAC7-4587-AB76-8B0A7326A7D1}">
      <dgm:prSet/>
      <dgm:spPr/>
      <dgm:t>
        <a:bodyPr/>
        <a:lstStyle/>
        <a:p>
          <a:endParaRPr lang="en-US"/>
        </a:p>
      </dgm:t>
    </dgm:pt>
    <dgm:pt modelId="{C704E66B-6AC1-4817-88CA-E413E0851072}">
      <dgm:prSet/>
      <dgm:spPr/>
      <dgm:t>
        <a:bodyPr/>
        <a:lstStyle/>
        <a:p>
          <a:pPr>
            <a:lnSpc>
              <a:spcPct val="100000"/>
            </a:lnSpc>
          </a:pPr>
          <a:r>
            <a:rPr lang="it-IT"/>
            <a:t>It shows map on where the bins are located</a:t>
          </a:r>
          <a:endParaRPr lang="en-US"/>
        </a:p>
      </dgm:t>
    </dgm:pt>
    <dgm:pt modelId="{6280CB92-437D-46B5-A132-F6B18815E138}" type="parTrans" cxnId="{9BF9CC60-A306-49E4-A193-8EC2EDC46DF9}">
      <dgm:prSet/>
      <dgm:spPr/>
      <dgm:t>
        <a:bodyPr/>
        <a:lstStyle/>
        <a:p>
          <a:endParaRPr lang="en-US"/>
        </a:p>
      </dgm:t>
    </dgm:pt>
    <dgm:pt modelId="{563C6A06-C021-4A30-93D9-277D51B5F033}" type="sibTrans" cxnId="{9BF9CC60-A306-49E4-A193-8EC2EDC46DF9}">
      <dgm:prSet/>
      <dgm:spPr/>
      <dgm:t>
        <a:bodyPr/>
        <a:lstStyle/>
        <a:p>
          <a:endParaRPr lang="en-US"/>
        </a:p>
      </dgm:t>
    </dgm:pt>
    <dgm:pt modelId="{6779A47A-22CF-4A73-B32D-C8F38D87D09A}">
      <dgm:prSet/>
      <dgm:spPr/>
      <dgm:t>
        <a:bodyPr/>
        <a:lstStyle/>
        <a:p>
          <a:pPr>
            <a:lnSpc>
              <a:spcPct val="100000"/>
            </a:lnSpc>
          </a:pPr>
          <a:r>
            <a:rPr lang="it-IT"/>
            <a:t>It shows fill level of each bin</a:t>
          </a:r>
          <a:endParaRPr lang="en-US"/>
        </a:p>
      </dgm:t>
    </dgm:pt>
    <dgm:pt modelId="{F3172F61-958C-4B76-AE66-0F8D1EB28B6B}" type="parTrans" cxnId="{F6C30CC2-1E87-4D8D-ABB3-6B77151B86F5}">
      <dgm:prSet/>
      <dgm:spPr/>
      <dgm:t>
        <a:bodyPr/>
        <a:lstStyle/>
        <a:p>
          <a:endParaRPr lang="en-US"/>
        </a:p>
      </dgm:t>
    </dgm:pt>
    <dgm:pt modelId="{A9402549-5518-4708-B1B6-11E471C7122B}" type="sibTrans" cxnId="{F6C30CC2-1E87-4D8D-ABB3-6B77151B86F5}">
      <dgm:prSet/>
      <dgm:spPr/>
      <dgm:t>
        <a:bodyPr/>
        <a:lstStyle/>
        <a:p>
          <a:endParaRPr lang="en-US"/>
        </a:p>
      </dgm:t>
    </dgm:pt>
    <dgm:pt modelId="{ADD235C4-8B41-472D-A45C-C8948F020625}">
      <dgm:prSet/>
      <dgm:spPr/>
      <dgm:t>
        <a:bodyPr/>
        <a:lstStyle/>
        <a:p>
          <a:pPr>
            <a:lnSpc>
              <a:spcPct val="100000"/>
            </a:lnSpc>
          </a:pPr>
          <a:r>
            <a:rPr lang="it-IT"/>
            <a:t>It shows a chart displaying the fill level of each bin over time</a:t>
          </a:r>
          <a:endParaRPr lang="en-US"/>
        </a:p>
      </dgm:t>
    </dgm:pt>
    <dgm:pt modelId="{1420051C-2733-4F76-BEC4-EABA5105FD9F}" type="parTrans" cxnId="{5599FDF3-1C70-4864-AD24-26F846910BBE}">
      <dgm:prSet/>
      <dgm:spPr/>
      <dgm:t>
        <a:bodyPr/>
        <a:lstStyle/>
        <a:p>
          <a:endParaRPr lang="en-US"/>
        </a:p>
      </dgm:t>
    </dgm:pt>
    <dgm:pt modelId="{5026EF3C-9E9D-4710-8D3D-13AB69903093}" type="sibTrans" cxnId="{5599FDF3-1C70-4864-AD24-26F846910BBE}">
      <dgm:prSet/>
      <dgm:spPr/>
      <dgm:t>
        <a:bodyPr/>
        <a:lstStyle/>
        <a:p>
          <a:endParaRPr lang="en-US"/>
        </a:p>
      </dgm:t>
    </dgm:pt>
    <dgm:pt modelId="{65EB179B-59F6-481F-A6E5-7F93BA938F3A}">
      <dgm:prSet/>
      <dgm:spPr/>
      <dgm:t>
        <a:bodyPr/>
        <a:lstStyle/>
        <a:p>
          <a:pPr>
            <a:lnSpc>
              <a:spcPct val="100000"/>
            </a:lnSpc>
          </a:pPr>
          <a:r>
            <a:rPr lang="it-IT"/>
            <a:t>You can ask to a ML Model the fill level of a bin in the future</a:t>
          </a:r>
          <a:endParaRPr lang="en-US"/>
        </a:p>
      </dgm:t>
    </dgm:pt>
    <dgm:pt modelId="{94144826-B25E-472F-93B9-245003DFABDF}" type="parTrans" cxnId="{4E05F751-2C2C-4DB6-AF49-09CF8F6C6077}">
      <dgm:prSet/>
      <dgm:spPr/>
      <dgm:t>
        <a:bodyPr/>
        <a:lstStyle/>
        <a:p>
          <a:endParaRPr lang="en-US"/>
        </a:p>
      </dgm:t>
    </dgm:pt>
    <dgm:pt modelId="{4CF70AE5-02E8-4EE0-AF0C-FA24B678B11B}" type="sibTrans" cxnId="{4E05F751-2C2C-4DB6-AF49-09CF8F6C6077}">
      <dgm:prSet/>
      <dgm:spPr/>
      <dgm:t>
        <a:bodyPr/>
        <a:lstStyle/>
        <a:p>
          <a:endParaRPr lang="en-US"/>
        </a:p>
      </dgm:t>
    </dgm:pt>
    <dgm:pt modelId="{5CA979DE-38CD-4C71-918E-BE367FB6C5E2}" type="pres">
      <dgm:prSet presAssocID="{5DB4A847-1AB7-457F-8689-001F2662F64D}" presName="root" presStyleCnt="0">
        <dgm:presLayoutVars>
          <dgm:dir/>
          <dgm:resizeHandles val="exact"/>
        </dgm:presLayoutVars>
      </dgm:prSet>
      <dgm:spPr/>
    </dgm:pt>
    <dgm:pt modelId="{26205921-FB6A-420C-8428-C23FA72433C3}" type="pres">
      <dgm:prSet presAssocID="{33FC2C90-1F14-4517-9119-58BDE065CB10}" presName="compNode" presStyleCnt="0"/>
      <dgm:spPr/>
    </dgm:pt>
    <dgm:pt modelId="{65ED2451-5A72-46CA-A1AA-BBAE11089B9B}" type="pres">
      <dgm:prSet presAssocID="{33FC2C90-1F14-4517-9119-58BDE065CB1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A09A2EAD-B283-4362-BA4F-FF91CA082160}" type="pres">
      <dgm:prSet presAssocID="{33FC2C90-1F14-4517-9119-58BDE065CB10}" presName="spaceRect" presStyleCnt="0"/>
      <dgm:spPr/>
    </dgm:pt>
    <dgm:pt modelId="{9B558FFD-CBB1-4BEE-ACF5-C46415C4EE1E}" type="pres">
      <dgm:prSet presAssocID="{33FC2C90-1F14-4517-9119-58BDE065CB10}" presName="textRect" presStyleLbl="revTx" presStyleIdx="0" presStyleCnt="5">
        <dgm:presLayoutVars>
          <dgm:chMax val="1"/>
          <dgm:chPref val="1"/>
        </dgm:presLayoutVars>
      </dgm:prSet>
      <dgm:spPr/>
    </dgm:pt>
    <dgm:pt modelId="{B8FED788-CD7E-4675-A6F5-813ABEFC15E7}" type="pres">
      <dgm:prSet presAssocID="{87C034C4-7956-4716-8262-22867E6CC0CF}" presName="sibTrans" presStyleCnt="0"/>
      <dgm:spPr/>
    </dgm:pt>
    <dgm:pt modelId="{B058402F-DE2E-42A9-90CF-45256AB03586}" type="pres">
      <dgm:prSet presAssocID="{C704E66B-6AC1-4817-88CA-E413E0851072}" presName="compNode" presStyleCnt="0"/>
      <dgm:spPr/>
    </dgm:pt>
    <dgm:pt modelId="{160D6A0E-4C03-4609-B5D6-8D2DFBC520CE}" type="pres">
      <dgm:prSet presAssocID="{C704E66B-6AC1-4817-88CA-E413E085107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rker"/>
        </a:ext>
      </dgm:extLst>
    </dgm:pt>
    <dgm:pt modelId="{7F08E78B-3D0D-440B-B9AD-AE9B0E9AF83B}" type="pres">
      <dgm:prSet presAssocID="{C704E66B-6AC1-4817-88CA-E413E0851072}" presName="spaceRect" presStyleCnt="0"/>
      <dgm:spPr/>
    </dgm:pt>
    <dgm:pt modelId="{507C5268-D1A5-4382-89FF-2E3FFAA306C1}" type="pres">
      <dgm:prSet presAssocID="{C704E66B-6AC1-4817-88CA-E413E0851072}" presName="textRect" presStyleLbl="revTx" presStyleIdx="1" presStyleCnt="5">
        <dgm:presLayoutVars>
          <dgm:chMax val="1"/>
          <dgm:chPref val="1"/>
        </dgm:presLayoutVars>
      </dgm:prSet>
      <dgm:spPr/>
    </dgm:pt>
    <dgm:pt modelId="{B50F0EEE-431B-4FF5-8411-B72337F4DE14}" type="pres">
      <dgm:prSet presAssocID="{563C6A06-C021-4A30-93D9-277D51B5F033}" presName="sibTrans" presStyleCnt="0"/>
      <dgm:spPr/>
    </dgm:pt>
    <dgm:pt modelId="{8A23FC44-5C6B-456B-85F9-0B26FD2A72F9}" type="pres">
      <dgm:prSet presAssocID="{6779A47A-22CF-4A73-B32D-C8F38D87D09A}" presName="compNode" presStyleCnt="0"/>
      <dgm:spPr/>
    </dgm:pt>
    <dgm:pt modelId="{2C3C1848-B83B-458A-88B5-9B75493FF29F}" type="pres">
      <dgm:prSet presAssocID="{6779A47A-22CF-4A73-B32D-C8F38D87D09A}" presName="iconRect" presStyleLbl="node1" presStyleIdx="2" presStyleCnt="5"/>
      <dgm:spPr>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pt>
    <dgm:pt modelId="{A4E2E304-377B-4B4B-844A-8E4E89162D56}" type="pres">
      <dgm:prSet presAssocID="{6779A47A-22CF-4A73-B32D-C8F38D87D09A}" presName="spaceRect" presStyleCnt="0"/>
      <dgm:spPr/>
    </dgm:pt>
    <dgm:pt modelId="{7BEFF673-EE3C-4976-9AED-DB63D1D35E96}" type="pres">
      <dgm:prSet presAssocID="{6779A47A-22CF-4A73-B32D-C8F38D87D09A}" presName="textRect" presStyleLbl="revTx" presStyleIdx="2" presStyleCnt="5">
        <dgm:presLayoutVars>
          <dgm:chMax val="1"/>
          <dgm:chPref val="1"/>
        </dgm:presLayoutVars>
      </dgm:prSet>
      <dgm:spPr/>
    </dgm:pt>
    <dgm:pt modelId="{18CAD01A-F3C7-4EB7-933B-517D2843A5CA}" type="pres">
      <dgm:prSet presAssocID="{A9402549-5518-4708-B1B6-11E471C7122B}" presName="sibTrans" presStyleCnt="0"/>
      <dgm:spPr/>
    </dgm:pt>
    <dgm:pt modelId="{AD9616E3-5C25-461A-BC7F-752579DF030D}" type="pres">
      <dgm:prSet presAssocID="{ADD235C4-8B41-472D-A45C-C8948F020625}" presName="compNode" presStyleCnt="0"/>
      <dgm:spPr/>
    </dgm:pt>
    <dgm:pt modelId="{9BCFDAD0-BBE3-4F4B-9B96-4D21C602AC1E}" type="pres">
      <dgm:prSet presAssocID="{ADD235C4-8B41-472D-A45C-C8948F02062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3321D592-5D5C-440E-8AB8-AB0DEC56E4B6}" type="pres">
      <dgm:prSet presAssocID="{ADD235C4-8B41-472D-A45C-C8948F020625}" presName="spaceRect" presStyleCnt="0"/>
      <dgm:spPr/>
    </dgm:pt>
    <dgm:pt modelId="{54E36004-6665-4FF1-944C-2BF4699A21D8}" type="pres">
      <dgm:prSet presAssocID="{ADD235C4-8B41-472D-A45C-C8948F020625}" presName="textRect" presStyleLbl="revTx" presStyleIdx="3" presStyleCnt="5">
        <dgm:presLayoutVars>
          <dgm:chMax val="1"/>
          <dgm:chPref val="1"/>
        </dgm:presLayoutVars>
      </dgm:prSet>
      <dgm:spPr/>
    </dgm:pt>
    <dgm:pt modelId="{C96D1D49-6171-454D-8460-4D7532CCDA6B}" type="pres">
      <dgm:prSet presAssocID="{5026EF3C-9E9D-4710-8D3D-13AB69903093}" presName="sibTrans" presStyleCnt="0"/>
      <dgm:spPr/>
    </dgm:pt>
    <dgm:pt modelId="{2972C617-80D1-4928-B75C-4BEFF5EECE0A}" type="pres">
      <dgm:prSet presAssocID="{65EB179B-59F6-481F-A6E5-7F93BA938F3A}" presName="compNode" presStyleCnt="0"/>
      <dgm:spPr/>
    </dgm:pt>
    <dgm:pt modelId="{AA4CDB5E-3C73-4070-8B03-72E69BA0A226}" type="pres">
      <dgm:prSet presAssocID="{65EB179B-59F6-481F-A6E5-7F93BA938F3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ead with Gears"/>
        </a:ext>
      </dgm:extLst>
    </dgm:pt>
    <dgm:pt modelId="{28B5BA78-8AB7-4B0A-B89A-68666D5416F3}" type="pres">
      <dgm:prSet presAssocID="{65EB179B-59F6-481F-A6E5-7F93BA938F3A}" presName="spaceRect" presStyleCnt="0"/>
      <dgm:spPr/>
    </dgm:pt>
    <dgm:pt modelId="{81772AC4-FD8F-4C53-8492-3BDD0F4BB3E8}" type="pres">
      <dgm:prSet presAssocID="{65EB179B-59F6-481F-A6E5-7F93BA938F3A}" presName="textRect" presStyleLbl="revTx" presStyleIdx="4" presStyleCnt="5">
        <dgm:presLayoutVars>
          <dgm:chMax val="1"/>
          <dgm:chPref val="1"/>
        </dgm:presLayoutVars>
      </dgm:prSet>
      <dgm:spPr/>
    </dgm:pt>
  </dgm:ptLst>
  <dgm:cxnLst>
    <dgm:cxn modelId="{7BAAED13-9F30-4176-AF46-93A6B50C6660}" type="presOf" srcId="{33FC2C90-1F14-4517-9119-58BDE065CB10}" destId="{9B558FFD-CBB1-4BEE-ACF5-C46415C4EE1E}" srcOrd="0" destOrd="0" presId="urn:microsoft.com/office/officeart/2018/2/layout/IconLabelList"/>
    <dgm:cxn modelId="{31A00B1C-FD32-49F2-B742-C7DC8828E33A}" type="presOf" srcId="{65EB179B-59F6-481F-A6E5-7F93BA938F3A}" destId="{81772AC4-FD8F-4C53-8492-3BDD0F4BB3E8}" srcOrd="0" destOrd="0" presId="urn:microsoft.com/office/officeart/2018/2/layout/IconLabelList"/>
    <dgm:cxn modelId="{4378F61C-46C2-42DC-BC12-9C057C70A803}" type="presOf" srcId="{6779A47A-22CF-4A73-B32D-C8F38D87D09A}" destId="{7BEFF673-EE3C-4976-9AED-DB63D1D35E96}" srcOrd="0" destOrd="0" presId="urn:microsoft.com/office/officeart/2018/2/layout/IconLabelList"/>
    <dgm:cxn modelId="{9BF9CC60-A306-49E4-A193-8EC2EDC46DF9}" srcId="{5DB4A847-1AB7-457F-8689-001F2662F64D}" destId="{C704E66B-6AC1-4817-88CA-E413E0851072}" srcOrd="1" destOrd="0" parTransId="{6280CB92-437D-46B5-A132-F6B18815E138}" sibTransId="{563C6A06-C021-4A30-93D9-277D51B5F033}"/>
    <dgm:cxn modelId="{C3C8BC41-3869-45E7-A88A-E08C896BC55C}" type="presOf" srcId="{5DB4A847-1AB7-457F-8689-001F2662F64D}" destId="{5CA979DE-38CD-4C71-918E-BE367FB6C5E2}" srcOrd="0" destOrd="0" presId="urn:microsoft.com/office/officeart/2018/2/layout/IconLabelList"/>
    <dgm:cxn modelId="{72B5FC49-AAC7-4587-AB76-8B0A7326A7D1}" srcId="{5DB4A847-1AB7-457F-8689-001F2662F64D}" destId="{33FC2C90-1F14-4517-9119-58BDE065CB10}" srcOrd="0" destOrd="0" parTransId="{B55829E0-60E5-4F25-B6AB-44A96E192B17}" sibTransId="{87C034C4-7956-4716-8262-22867E6CC0CF}"/>
    <dgm:cxn modelId="{4E05F751-2C2C-4DB6-AF49-09CF8F6C6077}" srcId="{5DB4A847-1AB7-457F-8689-001F2662F64D}" destId="{65EB179B-59F6-481F-A6E5-7F93BA938F3A}" srcOrd="4" destOrd="0" parTransId="{94144826-B25E-472F-93B9-245003DFABDF}" sibTransId="{4CF70AE5-02E8-4EE0-AF0C-FA24B678B11B}"/>
    <dgm:cxn modelId="{F7FAC4C1-09C0-4FB0-9868-D3E3E152E02A}" type="presOf" srcId="{ADD235C4-8B41-472D-A45C-C8948F020625}" destId="{54E36004-6665-4FF1-944C-2BF4699A21D8}" srcOrd="0" destOrd="0" presId="urn:microsoft.com/office/officeart/2018/2/layout/IconLabelList"/>
    <dgm:cxn modelId="{F6C30CC2-1E87-4D8D-ABB3-6B77151B86F5}" srcId="{5DB4A847-1AB7-457F-8689-001F2662F64D}" destId="{6779A47A-22CF-4A73-B32D-C8F38D87D09A}" srcOrd="2" destOrd="0" parTransId="{F3172F61-958C-4B76-AE66-0F8D1EB28B6B}" sibTransId="{A9402549-5518-4708-B1B6-11E471C7122B}"/>
    <dgm:cxn modelId="{24186BDC-7FBE-44EE-B732-741461C1A265}" type="presOf" srcId="{C704E66B-6AC1-4817-88CA-E413E0851072}" destId="{507C5268-D1A5-4382-89FF-2E3FFAA306C1}" srcOrd="0" destOrd="0" presId="urn:microsoft.com/office/officeart/2018/2/layout/IconLabelList"/>
    <dgm:cxn modelId="{5599FDF3-1C70-4864-AD24-26F846910BBE}" srcId="{5DB4A847-1AB7-457F-8689-001F2662F64D}" destId="{ADD235C4-8B41-472D-A45C-C8948F020625}" srcOrd="3" destOrd="0" parTransId="{1420051C-2733-4F76-BEC4-EABA5105FD9F}" sibTransId="{5026EF3C-9E9D-4710-8D3D-13AB69903093}"/>
    <dgm:cxn modelId="{78F8825B-2B99-4BE4-BC87-C36A3625B6D4}" type="presParOf" srcId="{5CA979DE-38CD-4C71-918E-BE367FB6C5E2}" destId="{26205921-FB6A-420C-8428-C23FA72433C3}" srcOrd="0" destOrd="0" presId="urn:microsoft.com/office/officeart/2018/2/layout/IconLabelList"/>
    <dgm:cxn modelId="{50B208BE-4AD8-44D7-AC28-8EFBAD73482F}" type="presParOf" srcId="{26205921-FB6A-420C-8428-C23FA72433C3}" destId="{65ED2451-5A72-46CA-A1AA-BBAE11089B9B}" srcOrd="0" destOrd="0" presId="urn:microsoft.com/office/officeart/2018/2/layout/IconLabelList"/>
    <dgm:cxn modelId="{1667CDE8-9A43-495E-91F3-E64DABFA9FD2}" type="presParOf" srcId="{26205921-FB6A-420C-8428-C23FA72433C3}" destId="{A09A2EAD-B283-4362-BA4F-FF91CA082160}" srcOrd="1" destOrd="0" presId="urn:microsoft.com/office/officeart/2018/2/layout/IconLabelList"/>
    <dgm:cxn modelId="{2BB0C740-C12D-4764-8D56-0F7B83B506E3}" type="presParOf" srcId="{26205921-FB6A-420C-8428-C23FA72433C3}" destId="{9B558FFD-CBB1-4BEE-ACF5-C46415C4EE1E}" srcOrd="2" destOrd="0" presId="urn:microsoft.com/office/officeart/2018/2/layout/IconLabelList"/>
    <dgm:cxn modelId="{501573EE-AB8D-444B-BF0A-8B1A420D1250}" type="presParOf" srcId="{5CA979DE-38CD-4C71-918E-BE367FB6C5E2}" destId="{B8FED788-CD7E-4675-A6F5-813ABEFC15E7}" srcOrd="1" destOrd="0" presId="urn:microsoft.com/office/officeart/2018/2/layout/IconLabelList"/>
    <dgm:cxn modelId="{26BCF190-7AC9-418D-8989-FD76E16C0B87}" type="presParOf" srcId="{5CA979DE-38CD-4C71-918E-BE367FB6C5E2}" destId="{B058402F-DE2E-42A9-90CF-45256AB03586}" srcOrd="2" destOrd="0" presId="urn:microsoft.com/office/officeart/2018/2/layout/IconLabelList"/>
    <dgm:cxn modelId="{A3127674-5AEB-47C9-A3D8-7D9678D8D48B}" type="presParOf" srcId="{B058402F-DE2E-42A9-90CF-45256AB03586}" destId="{160D6A0E-4C03-4609-B5D6-8D2DFBC520CE}" srcOrd="0" destOrd="0" presId="urn:microsoft.com/office/officeart/2018/2/layout/IconLabelList"/>
    <dgm:cxn modelId="{32D96378-6668-4906-B06D-CFA40828AA8F}" type="presParOf" srcId="{B058402F-DE2E-42A9-90CF-45256AB03586}" destId="{7F08E78B-3D0D-440B-B9AD-AE9B0E9AF83B}" srcOrd="1" destOrd="0" presId="urn:microsoft.com/office/officeart/2018/2/layout/IconLabelList"/>
    <dgm:cxn modelId="{6B738B0D-D3AE-4AD0-B894-65F18FCF1FFC}" type="presParOf" srcId="{B058402F-DE2E-42A9-90CF-45256AB03586}" destId="{507C5268-D1A5-4382-89FF-2E3FFAA306C1}" srcOrd="2" destOrd="0" presId="urn:microsoft.com/office/officeart/2018/2/layout/IconLabelList"/>
    <dgm:cxn modelId="{E5A0698B-7E41-4B77-9BE5-B7917916F0DE}" type="presParOf" srcId="{5CA979DE-38CD-4C71-918E-BE367FB6C5E2}" destId="{B50F0EEE-431B-4FF5-8411-B72337F4DE14}" srcOrd="3" destOrd="0" presId="urn:microsoft.com/office/officeart/2018/2/layout/IconLabelList"/>
    <dgm:cxn modelId="{D565CAF6-D815-4848-8C65-6F048766BEC6}" type="presParOf" srcId="{5CA979DE-38CD-4C71-918E-BE367FB6C5E2}" destId="{8A23FC44-5C6B-456B-85F9-0B26FD2A72F9}" srcOrd="4" destOrd="0" presId="urn:microsoft.com/office/officeart/2018/2/layout/IconLabelList"/>
    <dgm:cxn modelId="{722D0F92-E94C-4197-9828-E087FBCAD12C}" type="presParOf" srcId="{8A23FC44-5C6B-456B-85F9-0B26FD2A72F9}" destId="{2C3C1848-B83B-458A-88B5-9B75493FF29F}" srcOrd="0" destOrd="0" presId="urn:microsoft.com/office/officeart/2018/2/layout/IconLabelList"/>
    <dgm:cxn modelId="{E4D86AD3-4EE0-4F98-BD3F-1F3CB4F49029}" type="presParOf" srcId="{8A23FC44-5C6B-456B-85F9-0B26FD2A72F9}" destId="{A4E2E304-377B-4B4B-844A-8E4E89162D56}" srcOrd="1" destOrd="0" presId="urn:microsoft.com/office/officeart/2018/2/layout/IconLabelList"/>
    <dgm:cxn modelId="{29B7AAAC-A453-4197-8172-A2DFBBF10715}" type="presParOf" srcId="{8A23FC44-5C6B-456B-85F9-0B26FD2A72F9}" destId="{7BEFF673-EE3C-4976-9AED-DB63D1D35E96}" srcOrd="2" destOrd="0" presId="urn:microsoft.com/office/officeart/2018/2/layout/IconLabelList"/>
    <dgm:cxn modelId="{0E9EEEAE-37D6-44CB-B839-64619A102ABD}" type="presParOf" srcId="{5CA979DE-38CD-4C71-918E-BE367FB6C5E2}" destId="{18CAD01A-F3C7-4EB7-933B-517D2843A5CA}" srcOrd="5" destOrd="0" presId="urn:microsoft.com/office/officeart/2018/2/layout/IconLabelList"/>
    <dgm:cxn modelId="{2021BE5D-9DA8-4AD1-BFEE-C8309901D05E}" type="presParOf" srcId="{5CA979DE-38CD-4C71-918E-BE367FB6C5E2}" destId="{AD9616E3-5C25-461A-BC7F-752579DF030D}" srcOrd="6" destOrd="0" presId="urn:microsoft.com/office/officeart/2018/2/layout/IconLabelList"/>
    <dgm:cxn modelId="{D528B3A2-CC48-49DE-AB67-5E097F0495E4}" type="presParOf" srcId="{AD9616E3-5C25-461A-BC7F-752579DF030D}" destId="{9BCFDAD0-BBE3-4F4B-9B96-4D21C602AC1E}" srcOrd="0" destOrd="0" presId="urn:microsoft.com/office/officeart/2018/2/layout/IconLabelList"/>
    <dgm:cxn modelId="{D278A2B6-6FE1-4FCE-B34B-1F1DD38CCA06}" type="presParOf" srcId="{AD9616E3-5C25-461A-BC7F-752579DF030D}" destId="{3321D592-5D5C-440E-8AB8-AB0DEC56E4B6}" srcOrd="1" destOrd="0" presId="urn:microsoft.com/office/officeart/2018/2/layout/IconLabelList"/>
    <dgm:cxn modelId="{ED50702D-9E14-4D72-9394-277DFB84DE22}" type="presParOf" srcId="{AD9616E3-5C25-461A-BC7F-752579DF030D}" destId="{54E36004-6665-4FF1-944C-2BF4699A21D8}" srcOrd="2" destOrd="0" presId="urn:microsoft.com/office/officeart/2018/2/layout/IconLabelList"/>
    <dgm:cxn modelId="{52D368D9-B95B-47A1-ADC7-13456E7738CD}" type="presParOf" srcId="{5CA979DE-38CD-4C71-918E-BE367FB6C5E2}" destId="{C96D1D49-6171-454D-8460-4D7532CCDA6B}" srcOrd="7" destOrd="0" presId="urn:microsoft.com/office/officeart/2018/2/layout/IconLabelList"/>
    <dgm:cxn modelId="{5DABB98E-B4D6-4C98-844D-09CDEB3CF287}" type="presParOf" srcId="{5CA979DE-38CD-4C71-918E-BE367FB6C5E2}" destId="{2972C617-80D1-4928-B75C-4BEFF5EECE0A}" srcOrd="8" destOrd="0" presId="urn:microsoft.com/office/officeart/2018/2/layout/IconLabelList"/>
    <dgm:cxn modelId="{6FDDE3BA-793F-44CD-9F61-0CA6E38342D4}" type="presParOf" srcId="{2972C617-80D1-4928-B75C-4BEFF5EECE0A}" destId="{AA4CDB5E-3C73-4070-8B03-72E69BA0A226}" srcOrd="0" destOrd="0" presId="urn:microsoft.com/office/officeart/2018/2/layout/IconLabelList"/>
    <dgm:cxn modelId="{EBE8704D-194F-428E-B7DE-D670911F88FF}" type="presParOf" srcId="{2972C617-80D1-4928-B75C-4BEFF5EECE0A}" destId="{28B5BA78-8AB7-4B0A-B89A-68666D5416F3}" srcOrd="1" destOrd="0" presId="urn:microsoft.com/office/officeart/2018/2/layout/IconLabelList"/>
    <dgm:cxn modelId="{BA3389DF-5B62-4048-A6D3-ED586D84C3A2}" type="presParOf" srcId="{2972C617-80D1-4928-B75C-4BEFF5EECE0A}" destId="{81772AC4-FD8F-4C53-8492-3BDD0F4BB3E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497E21-CE51-4B8B-B221-4B3EB8C45BF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6A2B10A-43AB-4A50-BC38-8B7EB108ACAD}">
      <dgm:prSet custT="1"/>
      <dgm:spPr/>
      <dgm:t>
        <a:bodyPr/>
        <a:lstStyle/>
        <a:p>
          <a:pPr>
            <a:lnSpc>
              <a:spcPct val="100000"/>
            </a:lnSpc>
          </a:pPr>
          <a:r>
            <a:rPr lang="en-US" sz="1600"/>
            <a:t>LoRa (Long Range) is a radio modulation technique used to create long-range (5-10 km) communication links.</a:t>
          </a:r>
        </a:p>
        <a:p>
          <a:pPr>
            <a:lnSpc>
              <a:spcPct val="100000"/>
            </a:lnSpc>
          </a:pPr>
          <a:r>
            <a:rPr lang="en-US" sz="1600"/>
            <a:t>The communication is Broadcast (433 </a:t>
          </a:r>
          <a:r>
            <a:rPr lang="en-US" sz="1600" err="1"/>
            <a:t>Mhz</a:t>
          </a:r>
          <a:r>
            <a:rPr lang="en-US" sz="1600"/>
            <a:t>)</a:t>
          </a:r>
        </a:p>
      </dgm:t>
    </dgm:pt>
    <dgm:pt modelId="{72CE3D62-14E9-4C71-8F57-A1784618CAE1}" type="parTrans" cxnId="{7CF0F978-BA9E-4C9E-A6E8-96819E143E9F}">
      <dgm:prSet/>
      <dgm:spPr/>
      <dgm:t>
        <a:bodyPr/>
        <a:lstStyle/>
        <a:p>
          <a:endParaRPr lang="en-US"/>
        </a:p>
      </dgm:t>
    </dgm:pt>
    <dgm:pt modelId="{473825AE-ACD5-41EE-BDDC-D311BB896C8E}" type="sibTrans" cxnId="{7CF0F978-BA9E-4C9E-A6E8-96819E143E9F}">
      <dgm:prSet/>
      <dgm:spPr/>
      <dgm:t>
        <a:bodyPr/>
        <a:lstStyle/>
        <a:p>
          <a:endParaRPr lang="en-US"/>
        </a:p>
      </dgm:t>
    </dgm:pt>
    <dgm:pt modelId="{FC4ED087-CC17-4E74-A47D-4FDA79AFABF8}">
      <dgm:prSet custT="1"/>
      <dgm:spPr/>
      <dgm:t>
        <a:bodyPr/>
        <a:lstStyle/>
        <a:p>
          <a:pPr>
            <a:lnSpc>
              <a:spcPct val="100000"/>
            </a:lnSpc>
          </a:pPr>
          <a:r>
            <a:rPr lang="en-US" sz="1600"/>
            <a:t>It’s designed for low power usage and low bandwidth (sending small data packets)</a:t>
          </a:r>
        </a:p>
      </dgm:t>
    </dgm:pt>
    <dgm:pt modelId="{694771F7-16EC-4C77-B442-6BE098F756C9}" type="parTrans" cxnId="{6AF174C6-E4D4-4B71-90B4-8D67DF423062}">
      <dgm:prSet/>
      <dgm:spPr/>
      <dgm:t>
        <a:bodyPr/>
        <a:lstStyle/>
        <a:p>
          <a:endParaRPr lang="en-US"/>
        </a:p>
      </dgm:t>
    </dgm:pt>
    <dgm:pt modelId="{DF7D2403-38AD-42CD-91B0-3B383FAD094B}" type="sibTrans" cxnId="{6AF174C6-E4D4-4B71-90B4-8D67DF423062}">
      <dgm:prSet/>
      <dgm:spPr/>
      <dgm:t>
        <a:bodyPr/>
        <a:lstStyle/>
        <a:p>
          <a:endParaRPr lang="en-US"/>
        </a:p>
      </dgm:t>
    </dgm:pt>
    <dgm:pt modelId="{AB92DD3E-45B3-4EE0-A8DA-9A7394D9DBC6}">
      <dgm:prSet custT="1"/>
      <dgm:spPr/>
      <dgm:t>
        <a:bodyPr/>
        <a:lstStyle/>
        <a:p>
          <a:pPr>
            <a:lnSpc>
              <a:spcPct val="100000"/>
            </a:lnSpc>
          </a:pPr>
          <a:r>
            <a:rPr lang="en-US" sz="1400"/>
            <a:t>For the project, LoRa is used to connect more digital bins with a central receiver. Each digital bin sends data of its sensors to the receiver, and the receiver sends the information of what to do (created by Central Controller) to each digital bin.</a:t>
          </a:r>
        </a:p>
      </dgm:t>
    </dgm:pt>
    <dgm:pt modelId="{CC79552A-0F3D-4AA4-B33B-35CEE8BA6123}" type="parTrans" cxnId="{DA0CD89C-2FD2-440A-8495-3AF154F16E35}">
      <dgm:prSet/>
      <dgm:spPr/>
      <dgm:t>
        <a:bodyPr/>
        <a:lstStyle/>
        <a:p>
          <a:endParaRPr lang="en-US"/>
        </a:p>
      </dgm:t>
    </dgm:pt>
    <dgm:pt modelId="{80F79FBE-1E16-4D0E-988A-6B4B989B06B9}" type="sibTrans" cxnId="{DA0CD89C-2FD2-440A-8495-3AF154F16E35}">
      <dgm:prSet/>
      <dgm:spPr/>
      <dgm:t>
        <a:bodyPr/>
        <a:lstStyle/>
        <a:p>
          <a:endParaRPr lang="en-US"/>
        </a:p>
      </dgm:t>
    </dgm:pt>
    <dgm:pt modelId="{F37E9687-E8B6-4C41-8D9C-4C1B84A5351B}" type="pres">
      <dgm:prSet presAssocID="{6F497E21-CE51-4B8B-B221-4B3EB8C45BF1}" presName="root" presStyleCnt="0">
        <dgm:presLayoutVars>
          <dgm:dir/>
          <dgm:resizeHandles val="exact"/>
        </dgm:presLayoutVars>
      </dgm:prSet>
      <dgm:spPr/>
    </dgm:pt>
    <dgm:pt modelId="{991A738C-F846-4D5F-861E-9134CB88F37A}" type="pres">
      <dgm:prSet presAssocID="{E6A2B10A-43AB-4A50-BC38-8B7EB108ACAD}" presName="compNode" presStyleCnt="0"/>
      <dgm:spPr/>
    </dgm:pt>
    <dgm:pt modelId="{68D180C0-0B88-4442-A11C-CD83C4F97962}" type="pres">
      <dgm:prSet presAssocID="{E6A2B10A-43AB-4A50-BC38-8B7EB108ACA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Voice"/>
        </a:ext>
      </dgm:extLst>
    </dgm:pt>
    <dgm:pt modelId="{6A2537B6-6FD6-42A1-B70D-DBE8006BC60F}" type="pres">
      <dgm:prSet presAssocID="{E6A2B10A-43AB-4A50-BC38-8B7EB108ACAD}" presName="spaceRect" presStyleCnt="0"/>
      <dgm:spPr/>
    </dgm:pt>
    <dgm:pt modelId="{C245046C-AD49-4A1D-8F92-CF694972746D}" type="pres">
      <dgm:prSet presAssocID="{E6A2B10A-43AB-4A50-BC38-8B7EB108ACAD}" presName="textRect" presStyleLbl="revTx" presStyleIdx="0" presStyleCnt="3">
        <dgm:presLayoutVars>
          <dgm:chMax val="1"/>
          <dgm:chPref val="1"/>
        </dgm:presLayoutVars>
      </dgm:prSet>
      <dgm:spPr/>
    </dgm:pt>
    <dgm:pt modelId="{F891FA8A-AAFA-4396-8A2D-0D6BF5276254}" type="pres">
      <dgm:prSet presAssocID="{473825AE-ACD5-41EE-BDDC-D311BB896C8E}" presName="sibTrans" presStyleCnt="0"/>
      <dgm:spPr/>
    </dgm:pt>
    <dgm:pt modelId="{E090673B-02DF-4608-AFF5-766EBA6AFB50}" type="pres">
      <dgm:prSet presAssocID="{FC4ED087-CC17-4E74-A47D-4FDA79AFABF8}" presName="compNode" presStyleCnt="0"/>
      <dgm:spPr/>
    </dgm:pt>
    <dgm:pt modelId="{55ABB07A-C9BC-4855-9812-C420DEA65D74}" type="pres">
      <dgm:prSet presAssocID="{FC4ED087-CC17-4E74-A47D-4FDA79AFABF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reless"/>
        </a:ext>
      </dgm:extLst>
    </dgm:pt>
    <dgm:pt modelId="{2916394A-DDBB-4A18-8144-BC9EF3B7AE8D}" type="pres">
      <dgm:prSet presAssocID="{FC4ED087-CC17-4E74-A47D-4FDA79AFABF8}" presName="spaceRect" presStyleCnt="0"/>
      <dgm:spPr/>
    </dgm:pt>
    <dgm:pt modelId="{4027B830-2BF6-484C-91F5-F6A5CB34A4C2}" type="pres">
      <dgm:prSet presAssocID="{FC4ED087-CC17-4E74-A47D-4FDA79AFABF8}" presName="textRect" presStyleLbl="revTx" presStyleIdx="1" presStyleCnt="3">
        <dgm:presLayoutVars>
          <dgm:chMax val="1"/>
          <dgm:chPref val="1"/>
        </dgm:presLayoutVars>
      </dgm:prSet>
      <dgm:spPr/>
    </dgm:pt>
    <dgm:pt modelId="{37C8F1FC-6E15-467F-B342-10C30A45BF04}" type="pres">
      <dgm:prSet presAssocID="{DF7D2403-38AD-42CD-91B0-3B383FAD094B}" presName="sibTrans" presStyleCnt="0"/>
      <dgm:spPr/>
    </dgm:pt>
    <dgm:pt modelId="{7743C2E3-8929-4944-A5FD-AC6C30A1C69B}" type="pres">
      <dgm:prSet presAssocID="{AB92DD3E-45B3-4EE0-A8DA-9A7394D9DBC6}" presName="compNode" presStyleCnt="0"/>
      <dgm:spPr/>
    </dgm:pt>
    <dgm:pt modelId="{E0B40231-CDD0-4904-BD01-F09C50E58601}" type="pres">
      <dgm:prSet presAssocID="{AB92DD3E-45B3-4EE0-A8DA-9A7394D9DBC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Network"/>
        </a:ext>
      </dgm:extLst>
    </dgm:pt>
    <dgm:pt modelId="{8AC46AB3-EBD1-4478-A553-DFE7E7688183}" type="pres">
      <dgm:prSet presAssocID="{AB92DD3E-45B3-4EE0-A8DA-9A7394D9DBC6}" presName="spaceRect" presStyleCnt="0"/>
      <dgm:spPr/>
    </dgm:pt>
    <dgm:pt modelId="{D38F9315-EEA2-45CE-ACB1-00C8DE3D1C9B}" type="pres">
      <dgm:prSet presAssocID="{AB92DD3E-45B3-4EE0-A8DA-9A7394D9DBC6}" presName="textRect" presStyleLbl="revTx" presStyleIdx="2" presStyleCnt="3">
        <dgm:presLayoutVars>
          <dgm:chMax val="1"/>
          <dgm:chPref val="1"/>
        </dgm:presLayoutVars>
      </dgm:prSet>
      <dgm:spPr/>
    </dgm:pt>
  </dgm:ptLst>
  <dgm:cxnLst>
    <dgm:cxn modelId="{981BC50A-5E46-4A1D-9789-6E77FEE19DBD}" type="presOf" srcId="{FC4ED087-CC17-4E74-A47D-4FDA79AFABF8}" destId="{4027B830-2BF6-484C-91F5-F6A5CB34A4C2}" srcOrd="0" destOrd="0" presId="urn:microsoft.com/office/officeart/2018/2/layout/IconLabelList"/>
    <dgm:cxn modelId="{5521066F-AE8D-4AA6-B7DC-1E71C1AF9449}" type="presOf" srcId="{AB92DD3E-45B3-4EE0-A8DA-9A7394D9DBC6}" destId="{D38F9315-EEA2-45CE-ACB1-00C8DE3D1C9B}" srcOrd="0" destOrd="0" presId="urn:microsoft.com/office/officeart/2018/2/layout/IconLabelList"/>
    <dgm:cxn modelId="{7CF0F978-BA9E-4C9E-A6E8-96819E143E9F}" srcId="{6F497E21-CE51-4B8B-B221-4B3EB8C45BF1}" destId="{E6A2B10A-43AB-4A50-BC38-8B7EB108ACAD}" srcOrd="0" destOrd="0" parTransId="{72CE3D62-14E9-4C71-8F57-A1784618CAE1}" sibTransId="{473825AE-ACD5-41EE-BDDC-D311BB896C8E}"/>
    <dgm:cxn modelId="{9948B28D-F4B3-4A01-A630-C43C4B8B367E}" type="presOf" srcId="{E6A2B10A-43AB-4A50-BC38-8B7EB108ACAD}" destId="{C245046C-AD49-4A1D-8F92-CF694972746D}" srcOrd="0" destOrd="0" presId="urn:microsoft.com/office/officeart/2018/2/layout/IconLabelList"/>
    <dgm:cxn modelId="{DA0CD89C-2FD2-440A-8495-3AF154F16E35}" srcId="{6F497E21-CE51-4B8B-B221-4B3EB8C45BF1}" destId="{AB92DD3E-45B3-4EE0-A8DA-9A7394D9DBC6}" srcOrd="2" destOrd="0" parTransId="{CC79552A-0F3D-4AA4-B33B-35CEE8BA6123}" sibTransId="{80F79FBE-1E16-4D0E-988A-6B4B989B06B9}"/>
    <dgm:cxn modelId="{B9242EC5-A9EF-4745-867B-D9E99A6BE41D}" type="presOf" srcId="{6F497E21-CE51-4B8B-B221-4B3EB8C45BF1}" destId="{F37E9687-E8B6-4C41-8D9C-4C1B84A5351B}" srcOrd="0" destOrd="0" presId="urn:microsoft.com/office/officeart/2018/2/layout/IconLabelList"/>
    <dgm:cxn modelId="{6AF174C6-E4D4-4B71-90B4-8D67DF423062}" srcId="{6F497E21-CE51-4B8B-B221-4B3EB8C45BF1}" destId="{FC4ED087-CC17-4E74-A47D-4FDA79AFABF8}" srcOrd="1" destOrd="0" parTransId="{694771F7-16EC-4C77-B442-6BE098F756C9}" sibTransId="{DF7D2403-38AD-42CD-91B0-3B383FAD094B}"/>
    <dgm:cxn modelId="{9B5344FC-01F4-4018-9830-82B358893C0C}" type="presParOf" srcId="{F37E9687-E8B6-4C41-8D9C-4C1B84A5351B}" destId="{991A738C-F846-4D5F-861E-9134CB88F37A}" srcOrd="0" destOrd="0" presId="urn:microsoft.com/office/officeart/2018/2/layout/IconLabelList"/>
    <dgm:cxn modelId="{CC738C09-4D9C-469E-A2A5-F4A7566C2913}" type="presParOf" srcId="{991A738C-F846-4D5F-861E-9134CB88F37A}" destId="{68D180C0-0B88-4442-A11C-CD83C4F97962}" srcOrd="0" destOrd="0" presId="urn:microsoft.com/office/officeart/2018/2/layout/IconLabelList"/>
    <dgm:cxn modelId="{FE515D9A-F03E-4AC5-8D7C-88F4D8368072}" type="presParOf" srcId="{991A738C-F846-4D5F-861E-9134CB88F37A}" destId="{6A2537B6-6FD6-42A1-B70D-DBE8006BC60F}" srcOrd="1" destOrd="0" presId="urn:microsoft.com/office/officeart/2018/2/layout/IconLabelList"/>
    <dgm:cxn modelId="{5479F0F8-0770-4B71-A59F-C24B9DDCD6F6}" type="presParOf" srcId="{991A738C-F846-4D5F-861E-9134CB88F37A}" destId="{C245046C-AD49-4A1D-8F92-CF694972746D}" srcOrd="2" destOrd="0" presId="urn:microsoft.com/office/officeart/2018/2/layout/IconLabelList"/>
    <dgm:cxn modelId="{47DF2900-9034-4BE1-9C51-61797A83BF6D}" type="presParOf" srcId="{F37E9687-E8B6-4C41-8D9C-4C1B84A5351B}" destId="{F891FA8A-AAFA-4396-8A2D-0D6BF5276254}" srcOrd="1" destOrd="0" presId="urn:microsoft.com/office/officeart/2018/2/layout/IconLabelList"/>
    <dgm:cxn modelId="{A21BA768-4BEF-45CA-9A74-B1AB2F1B5081}" type="presParOf" srcId="{F37E9687-E8B6-4C41-8D9C-4C1B84A5351B}" destId="{E090673B-02DF-4608-AFF5-766EBA6AFB50}" srcOrd="2" destOrd="0" presId="urn:microsoft.com/office/officeart/2018/2/layout/IconLabelList"/>
    <dgm:cxn modelId="{E58ECB97-327D-4D97-8F05-5ECC1760C97C}" type="presParOf" srcId="{E090673B-02DF-4608-AFF5-766EBA6AFB50}" destId="{55ABB07A-C9BC-4855-9812-C420DEA65D74}" srcOrd="0" destOrd="0" presId="urn:microsoft.com/office/officeart/2018/2/layout/IconLabelList"/>
    <dgm:cxn modelId="{43B55300-1D42-49B6-8BAD-CA10A852A5F6}" type="presParOf" srcId="{E090673B-02DF-4608-AFF5-766EBA6AFB50}" destId="{2916394A-DDBB-4A18-8144-BC9EF3B7AE8D}" srcOrd="1" destOrd="0" presId="urn:microsoft.com/office/officeart/2018/2/layout/IconLabelList"/>
    <dgm:cxn modelId="{8DC4ABC4-F38B-44D1-802A-DB360EF9CA7F}" type="presParOf" srcId="{E090673B-02DF-4608-AFF5-766EBA6AFB50}" destId="{4027B830-2BF6-484C-91F5-F6A5CB34A4C2}" srcOrd="2" destOrd="0" presId="urn:microsoft.com/office/officeart/2018/2/layout/IconLabelList"/>
    <dgm:cxn modelId="{07466D45-DD54-4EF6-997F-1E4328287BA3}" type="presParOf" srcId="{F37E9687-E8B6-4C41-8D9C-4C1B84A5351B}" destId="{37C8F1FC-6E15-467F-B342-10C30A45BF04}" srcOrd="3" destOrd="0" presId="urn:microsoft.com/office/officeart/2018/2/layout/IconLabelList"/>
    <dgm:cxn modelId="{66A6B504-0798-4D54-8EBC-E34BA80A6895}" type="presParOf" srcId="{F37E9687-E8B6-4C41-8D9C-4C1B84A5351B}" destId="{7743C2E3-8929-4944-A5FD-AC6C30A1C69B}" srcOrd="4" destOrd="0" presId="urn:microsoft.com/office/officeart/2018/2/layout/IconLabelList"/>
    <dgm:cxn modelId="{769C18C2-3E88-47A3-8A7C-653D8BCC0AFE}" type="presParOf" srcId="{7743C2E3-8929-4944-A5FD-AC6C30A1C69B}" destId="{E0B40231-CDD0-4904-BD01-F09C50E58601}" srcOrd="0" destOrd="0" presId="urn:microsoft.com/office/officeart/2018/2/layout/IconLabelList"/>
    <dgm:cxn modelId="{BF9199A6-B858-4BD2-981E-80D650E14179}" type="presParOf" srcId="{7743C2E3-8929-4944-A5FD-AC6C30A1C69B}" destId="{8AC46AB3-EBD1-4478-A553-DFE7E7688183}" srcOrd="1" destOrd="0" presId="urn:microsoft.com/office/officeart/2018/2/layout/IconLabelList"/>
    <dgm:cxn modelId="{3C3AC584-B379-4BE3-A50B-5E40D9D46EB2}" type="presParOf" srcId="{7743C2E3-8929-4944-A5FD-AC6C30A1C69B}" destId="{D38F9315-EEA2-45CE-ACB1-00C8DE3D1C9B}"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7D4891-D9BF-4802-B8F7-24F8B7DCDD07}"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45BDF86-44DB-4098-8DBA-0B0B65CB6CD3}">
      <dgm:prSet/>
      <dgm:spPr/>
      <dgm:t>
        <a:bodyPr/>
        <a:lstStyle/>
        <a:p>
          <a:r>
            <a:rPr lang="it-IT">
              <a:solidFill>
                <a:schemeClr val="tx1"/>
              </a:solidFill>
            </a:rPr>
            <a:t>The goal of this component is to connect the Digital Bins with the Bridge.</a:t>
          </a:r>
          <a:endParaRPr lang="en-US">
            <a:solidFill>
              <a:schemeClr val="tx1"/>
            </a:solidFill>
          </a:endParaRPr>
        </a:p>
      </dgm:t>
    </dgm:pt>
    <dgm:pt modelId="{0C6C3D35-68D5-467E-BB5A-83D60112B169}" type="parTrans" cxnId="{22ED290A-17FC-4433-A34E-F9DBB4EB235D}">
      <dgm:prSet/>
      <dgm:spPr/>
      <dgm:t>
        <a:bodyPr/>
        <a:lstStyle/>
        <a:p>
          <a:endParaRPr lang="en-US"/>
        </a:p>
      </dgm:t>
    </dgm:pt>
    <dgm:pt modelId="{0BFCFE8A-BB25-4DE2-9364-6D0E7F1517F3}" type="sibTrans" cxnId="{22ED290A-17FC-4433-A34E-F9DBB4EB235D}">
      <dgm:prSet/>
      <dgm:spPr/>
      <dgm:t>
        <a:bodyPr/>
        <a:lstStyle/>
        <a:p>
          <a:endParaRPr lang="en-US"/>
        </a:p>
      </dgm:t>
    </dgm:pt>
    <dgm:pt modelId="{7F493B14-AA6E-4B94-8BB8-383955118836}">
      <dgm:prSet/>
      <dgm:spPr/>
      <dgm:t>
        <a:bodyPr/>
        <a:lstStyle/>
        <a:p>
          <a:r>
            <a:rPr lang="it-IT">
              <a:solidFill>
                <a:schemeClr val="tx1"/>
              </a:solidFill>
            </a:rPr>
            <a:t>Bin </a:t>
          </a:r>
          <a:r>
            <a:rPr lang="en-GB">
              <a:solidFill>
                <a:schemeClr val="tx1"/>
              </a:solidFill>
            </a:rPr>
            <a:t>→ Bridge: it listens via LoRa. When it receives the packet, it forwards that on the Bridge</a:t>
          </a:r>
          <a:endParaRPr lang="en-US">
            <a:solidFill>
              <a:schemeClr val="tx1"/>
            </a:solidFill>
          </a:endParaRPr>
        </a:p>
      </dgm:t>
    </dgm:pt>
    <dgm:pt modelId="{0E62427C-E2ED-4A2C-BDD9-08A319032913}" type="parTrans" cxnId="{1E47A96E-117E-4097-9135-BC321B9C7C4D}">
      <dgm:prSet/>
      <dgm:spPr/>
      <dgm:t>
        <a:bodyPr/>
        <a:lstStyle/>
        <a:p>
          <a:endParaRPr lang="en-US"/>
        </a:p>
      </dgm:t>
    </dgm:pt>
    <dgm:pt modelId="{2BC33FA3-CCBD-4F2C-B9E9-79C370ED9A7E}" type="sibTrans" cxnId="{1E47A96E-117E-4097-9135-BC321B9C7C4D}">
      <dgm:prSet/>
      <dgm:spPr/>
      <dgm:t>
        <a:bodyPr/>
        <a:lstStyle/>
        <a:p>
          <a:endParaRPr lang="en-US"/>
        </a:p>
      </dgm:t>
    </dgm:pt>
    <dgm:pt modelId="{15AF3BFC-1857-4DDB-B5F8-13E1415D3D06}">
      <dgm:prSet/>
      <dgm:spPr/>
      <dgm:t>
        <a:bodyPr/>
        <a:lstStyle/>
        <a:p>
          <a:r>
            <a:rPr lang="en-GB">
              <a:solidFill>
                <a:schemeClr val="tx1"/>
              </a:solidFill>
            </a:rPr>
            <a:t>Bridge → Bin: it listens via Serial. When it receives the packet (0xFE … 0xFF), it packs that, inserting the start_seq and the address of destination digital_bin</a:t>
          </a:r>
          <a:endParaRPr lang="en-US">
            <a:solidFill>
              <a:schemeClr val="tx1"/>
            </a:solidFill>
          </a:endParaRPr>
        </a:p>
      </dgm:t>
    </dgm:pt>
    <dgm:pt modelId="{B2F8C325-251B-4B4D-A39E-F9DE5F16551F}" type="parTrans" cxnId="{96A7E790-F4DC-488C-8114-EC2C77DFA14F}">
      <dgm:prSet/>
      <dgm:spPr/>
      <dgm:t>
        <a:bodyPr/>
        <a:lstStyle/>
        <a:p>
          <a:endParaRPr lang="en-US"/>
        </a:p>
      </dgm:t>
    </dgm:pt>
    <dgm:pt modelId="{D73ABB32-BE03-431E-BD49-04CFA38DC770}" type="sibTrans" cxnId="{96A7E790-F4DC-488C-8114-EC2C77DFA14F}">
      <dgm:prSet/>
      <dgm:spPr/>
      <dgm:t>
        <a:bodyPr/>
        <a:lstStyle/>
        <a:p>
          <a:endParaRPr lang="en-US"/>
        </a:p>
      </dgm:t>
    </dgm:pt>
    <dgm:pt modelId="{2ABFEC06-2156-4792-87B9-A8C3B9AF51F8}" type="pres">
      <dgm:prSet presAssocID="{867D4891-D9BF-4802-B8F7-24F8B7DCDD07}" presName="vert0" presStyleCnt="0">
        <dgm:presLayoutVars>
          <dgm:dir/>
          <dgm:animOne val="branch"/>
          <dgm:animLvl val="lvl"/>
        </dgm:presLayoutVars>
      </dgm:prSet>
      <dgm:spPr/>
    </dgm:pt>
    <dgm:pt modelId="{84888262-23E4-4AFC-8C72-42FA1CAE0F94}" type="pres">
      <dgm:prSet presAssocID="{D45BDF86-44DB-4098-8DBA-0B0B65CB6CD3}" presName="thickLine" presStyleLbl="alignNode1" presStyleIdx="0" presStyleCnt="3"/>
      <dgm:spPr/>
    </dgm:pt>
    <dgm:pt modelId="{63192E48-C6D2-470A-AA00-AADE6ADA9D86}" type="pres">
      <dgm:prSet presAssocID="{D45BDF86-44DB-4098-8DBA-0B0B65CB6CD3}" presName="horz1" presStyleCnt="0"/>
      <dgm:spPr/>
    </dgm:pt>
    <dgm:pt modelId="{B5203446-E1F2-4127-AA97-F3941A40D399}" type="pres">
      <dgm:prSet presAssocID="{D45BDF86-44DB-4098-8DBA-0B0B65CB6CD3}" presName="tx1" presStyleLbl="revTx" presStyleIdx="0" presStyleCnt="3"/>
      <dgm:spPr/>
    </dgm:pt>
    <dgm:pt modelId="{BEA4AEBB-F1A3-4755-AD18-3E078F413767}" type="pres">
      <dgm:prSet presAssocID="{D45BDF86-44DB-4098-8DBA-0B0B65CB6CD3}" presName="vert1" presStyleCnt="0"/>
      <dgm:spPr/>
    </dgm:pt>
    <dgm:pt modelId="{177A2039-0BEC-4893-83DE-2A52D1866191}" type="pres">
      <dgm:prSet presAssocID="{7F493B14-AA6E-4B94-8BB8-383955118836}" presName="thickLine" presStyleLbl="alignNode1" presStyleIdx="1" presStyleCnt="3"/>
      <dgm:spPr/>
    </dgm:pt>
    <dgm:pt modelId="{49418213-F2C8-483E-A5C9-455F389FDE2D}" type="pres">
      <dgm:prSet presAssocID="{7F493B14-AA6E-4B94-8BB8-383955118836}" presName="horz1" presStyleCnt="0"/>
      <dgm:spPr/>
    </dgm:pt>
    <dgm:pt modelId="{4194A96C-C20A-4319-AD47-8D937510FECA}" type="pres">
      <dgm:prSet presAssocID="{7F493B14-AA6E-4B94-8BB8-383955118836}" presName="tx1" presStyleLbl="revTx" presStyleIdx="1" presStyleCnt="3"/>
      <dgm:spPr/>
    </dgm:pt>
    <dgm:pt modelId="{5E2D01B8-9FB8-4C33-9780-DF8712949E58}" type="pres">
      <dgm:prSet presAssocID="{7F493B14-AA6E-4B94-8BB8-383955118836}" presName="vert1" presStyleCnt="0"/>
      <dgm:spPr/>
    </dgm:pt>
    <dgm:pt modelId="{8F4EEE5D-527E-4A5F-9B82-F91CAF2F6691}" type="pres">
      <dgm:prSet presAssocID="{15AF3BFC-1857-4DDB-B5F8-13E1415D3D06}" presName="thickLine" presStyleLbl="alignNode1" presStyleIdx="2" presStyleCnt="3"/>
      <dgm:spPr/>
    </dgm:pt>
    <dgm:pt modelId="{451E5E09-2CD4-4BA4-A0E2-95FF4CEF9816}" type="pres">
      <dgm:prSet presAssocID="{15AF3BFC-1857-4DDB-B5F8-13E1415D3D06}" presName="horz1" presStyleCnt="0"/>
      <dgm:spPr/>
    </dgm:pt>
    <dgm:pt modelId="{FFB399D4-8E03-4745-B55E-ABBE96065DFA}" type="pres">
      <dgm:prSet presAssocID="{15AF3BFC-1857-4DDB-B5F8-13E1415D3D06}" presName="tx1" presStyleLbl="revTx" presStyleIdx="2" presStyleCnt="3"/>
      <dgm:spPr/>
    </dgm:pt>
    <dgm:pt modelId="{26A70E83-5B2E-4E1C-84DE-87AB2F733D02}" type="pres">
      <dgm:prSet presAssocID="{15AF3BFC-1857-4DDB-B5F8-13E1415D3D06}" presName="vert1" presStyleCnt="0"/>
      <dgm:spPr/>
    </dgm:pt>
  </dgm:ptLst>
  <dgm:cxnLst>
    <dgm:cxn modelId="{22ED290A-17FC-4433-A34E-F9DBB4EB235D}" srcId="{867D4891-D9BF-4802-B8F7-24F8B7DCDD07}" destId="{D45BDF86-44DB-4098-8DBA-0B0B65CB6CD3}" srcOrd="0" destOrd="0" parTransId="{0C6C3D35-68D5-467E-BB5A-83D60112B169}" sibTransId="{0BFCFE8A-BB25-4DE2-9364-6D0E7F1517F3}"/>
    <dgm:cxn modelId="{ACB2A00D-EEB5-41FB-8EB0-CC409275C350}" type="presOf" srcId="{D45BDF86-44DB-4098-8DBA-0B0B65CB6CD3}" destId="{B5203446-E1F2-4127-AA97-F3941A40D399}" srcOrd="0" destOrd="0" presId="urn:microsoft.com/office/officeart/2008/layout/LinedList"/>
    <dgm:cxn modelId="{E32A0D10-C230-4C4B-B9AD-1BBA5E5875F2}" type="presOf" srcId="{15AF3BFC-1857-4DDB-B5F8-13E1415D3D06}" destId="{FFB399D4-8E03-4745-B55E-ABBE96065DFA}" srcOrd="0" destOrd="0" presId="urn:microsoft.com/office/officeart/2008/layout/LinedList"/>
    <dgm:cxn modelId="{284F0A18-675B-45D5-A1D9-F986BE1BEEC4}" type="presOf" srcId="{7F493B14-AA6E-4B94-8BB8-383955118836}" destId="{4194A96C-C20A-4319-AD47-8D937510FECA}" srcOrd="0" destOrd="0" presId="urn:microsoft.com/office/officeart/2008/layout/LinedList"/>
    <dgm:cxn modelId="{1E47A96E-117E-4097-9135-BC321B9C7C4D}" srcId="{867D4891-D9BF-4802-B8F7-24F8B7DCDD07}" destId="{7F493B14-AA6E-4B94-8BB8-383955118836}" srcOrd="1" destOrd="0" parTransId="{0E62427C-E2ED-4A2C-BDD9-08A319032913}" sibTransId="{2BC33FA3-CCBD-4F2C-B9E9-79C370ED9A7E}"/>
    <dgm:cxn modelId="{96A7E790-F4DC-488C-8114-EC2C77DFA14F}" srcId="{867D4891-D9BF-4802-B8F7-24F8B7DCDD07}" destId="{15AF3BFC-1857-4DDB-B5F8-13E1415D3D06}" srcOrd="2" destOrd="0" parTransId="{B2F8C325-251B-4B4D-A39E-F9DE5F16551F}" sibTransId="{D73ABB32-BE03-431E-BD49-04CFA38DC770}"/>
    <dgm:cxn modelId="{5211C2B6-91FC-4E86-8D41-579636109FB5}" type="presOf" srcId="{867D4891-D9BF-4802-B8F7-24F8B7DCDD07}" destId="{2ABFEC06-2156-4792-87B9-A8C3B9AF51F8}" srcOrd="0" destOrd="0" presId="urn:microsoft.com/office/officeart/2008/layout/LinedList"/>
    <dgm:cxn modelId="{54497E5B-AF9A-4E83-A72D-22912D767045}" type="presParOf" srcId="{2ABFEC06-2156-4792-87B9-A8C3B9AF51F8}" destId="{84888262-23E4-4AFC-8C72-42FA1CAE0F94}" srcOrd="0" destOrd="0" presId="urn:microsoft.com/office/officeart/2008/layout/LinedList"/>
    <dgm:cxn modelId="{8AC36E59-03D5-443E-ABEC-30128471E3B6}" type="presParOf" srcId="{2ABFEC06-2156-4792-87B9-A8C3B9AF51F8}" destId="{63192E48-C6D2-470A-AA00-AADE6ADA9D86}" srcOrd="1" destOrd="0" presId="urn:microsoft.com/office/officeart/2008/layout/LinedList"/>
    <dgm:cxn modelId="{4B6EFB97-4DD9-4D77-A33D-3CFA93A8C745}" type="presParOf" srcId="{63192E48-C6D2-470A-AA00-AADE6ADA9D86}" destId="{B5203446-E1F2-4127-AA97-F3941A40D399}" srcOrd="0" destOrd="0" presId="urn:microsoft.com/office/officeart/2008/layout/LinedList"/>
    <dgm:cxn modelId="{24246A4D-44EC-4108-8AFA-458D91C00CCA}" type="presParOf" srcId="{63192E48-C6D2-470A-AA00-AADE6ADA9D86}" destId="{BEA4AEBB-F1A3-4755-AD18-3E078F413767}" srcOrd="1" destOrd="0" presId="urn:microsoft.com/office/officeart/2008/layout/LinedList"/>
    <dgm:cxn modelId="{29D8D225-A032-4F26-9946-5C3D252111D7}" type="presParOf" srcId="{2ABFEC06-2156-4792-87B9-A8C3B9AF51F8}" destId="{177A2039-0BEC-4893-83DE-2A52D1866191}" srcOrd="2" destOrd="0" presId="urn:microsoft.com/office/officeart/2008/layout/LinedList"/>
    <dgm:cxn modelId="{9FA3BE24-9023-48A0-8A2B-7E163F18D2A2}" type="presParOf" srcId="{2ABFEC06-2156-4792-87B9-A8C3B9AF51F8}" destId="{49418213-F2C8-483E-A5C9-455F389FDE2D}" srcOrd="3" destOrd="0" presId="urn:microsoft.com/office/officeart/2008/layout/LinedList"/>
    <dgm:cxn modelId="{72037E18-39D5-4980-99DE-07FF6BA45ABD}" type="presParOf" srcId="{49418213-F2C8-483E-A5C9-455F389FDE2D}" destId="{4194A96C-C20A-4319-AD47-8D937510FECA}" srcOrd="0" destOrd="0" presId="urn:microsoft.com/office/officeart/2008/layout/LinedList"/>
    <dgm:cxn modelId="{BBAD0DDE-B49F-48BA-9243-5BBC24A79AC5}" type="presParOf" srcId="{49418213-F2C8-483E-A5C9-455F389FDE2D}" destId="{5E2D01B8-9FB8-4C33-9780-DF8712949E58}" srcOrd="1" destOrd="0" presId="urn:microsoft.com/office/officeart/2008/layout/LinedList"/>
    <dgm:cxn modelId="{28000767-45A5-4AE4-9718-9E7BF8869B35}" type="presParOf" srcId="{2ABFEC06-2156-4792-87B9-A8C3B9AF51F8}" destId="{8F4EEE5D-527E-4A5F-9B82-F91CAF2F6691}" srcOrd="4" destOrd="0" presId="urn:microsoft.com/office/officeart/2008/layout/LinedList"/>
    <dgm:cxn modelId="{389D2691-8815-4014-94CC-476C9F98F378}" type="presParOf" srcId="{2ABFEC06-2156-4792-87B9-A8C3B9AF51F8}" destId="{451E5E09-2CD4-4BA4-A0E2-95FF4CEF9816}" srcOrd="5" destOrd="0" presId="urn:microsoft.com/office/officeart/2008/layout/LinedList"/>
    <dgm:cxn modelId="{0E4F1364-0F13-414C-9D6C-E3E0E00696DB}" type="presParOf" srcId="{451E5E09-2CD4-4BA4-A0E2-95FF4CEF9816}" destId="{FFB399D4-8E03-4745-B55E-ABBE96065DFA}" srcOrd="0" destOrd="0" presId="urn:microsoft.com/office/officeart/2008/layout/LinedList"/>
    <dgm:cxn modelId="{FE727BBE-5F76-466D-A4AD-D32CA9E3E5A1}" type="presParOf" srcId="{451E5E09-2CD4-4BA4-A0E2-95FF4CEF9816}" destId="{26A70E83-5B2E-4E1C-84DE-87AB2F733D0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CCB997-B696-4B34-AD03-046AA08EF325}"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010AD290-DCFA-47B0-A992-162BDC549815}">
      <dgm:prSet/>
      <dgm:spPr/>
      <dgm:t>
        <a:bodyPr/>
        <a:lstStyle/>
        <a:p>
          <a:r>
            <a:rPr lang="it-IT">
              <a:solidFill>
                <a:schemeClr val="tx1"/>
              </a:solidFill>
            </a:rPr>
            <a:t>The Bridge </a:t>
          </a:r>
          <a:r>
            <a:rPr lang="it-IT" err="1">
              <a:solidFill>
                <a:schemeClr val="tx1"/>
              </a:solidFill>
            </a:rPr>
            <a:t>has</a:t>
          </a:r>
          <a:r>
            <a:rPr lang="it-IT">
              <a:solidFill>
                <a:schemeClr val="tx1"/>
              </a:solidFill>
            </a:rPr>
            <a:t> the </a:t>
          </a:r>
          <a:r>
            <a:rPr lang="it-IT" err="1">
              <a:solidFill>
                <a:schemeClr val="tx1"/>
              </a:solidFill>
            </a:rPr>
            <a:t>role</a:t>
          </a:r>
          <a:r>
            <a:rPr lang="it-IT">
              <a:solidFill>
                <a:schemeClr val="tx1"/>
              </a:solidFill>
            </a:rPr>
            <a:t> to </a:t>
          </a:r>
          <a:r>
            <a:rPr lang="it-IT" err="1">
              <a:solidFill>
                <a:schemeClr val="tx1"/>
              </a:solidFill>
            </a:rPr>
            <a:t>connect</a:t>
          </a:r>
          <a:r>
            <a:rPr lang="it-IT">
              <a:solidFill>
                <a:schemeClr val="tx1"/>
              </a:solidFill>
            </a:rPr>
            <a:t> the Digital </a:t>
          </a:r>
          <a:r>
            <a:rPr lang="it-IT" err="1">
              <a:solidFill>
                <a:schemeClr val="tx1"/>
              </a:solidFill>
            </a:rPr>
            <a:t>Bins</a:t>
          </a:r>
          <a:r>
            <a:rPr lang="it-IT">
              <a:solidFill>
                <a:schemeClr val="tx1"/>
              </a:solidFill>
            </a:rPr>
            <a:t> to the </a:t>
          </a:r>
          <a:r>
            <a:rPr lang="it-IT" err="1">
              <a:solidFill>
                <a:schemeClr val="tx1"/>
              </a:solidFill>
            </a:rPr>
            <a:t>digital</a:t>
          </a:r>
          <a:r>
            <a:rPr lang="it-IT">
              <a:solidFill>
                <a:schemeClr val="tx1"/>
              </a:solidFill>
            </a:rPr>
            <a:t> </a:t>
          </a:r>
          <a:r>
            <a:rPr lang="it-IT" err="1">
              <a:solidFill>
                <a:schemeClr val="tx1"/>
              </a:solidFill>
            </a:rPr>
            <a:t>real</a:t>
          </a:r>
          <a:r>
            <a:rPr lang="it-IT">
              <a:solidFill>
                <a:schemeClr val="tx1"/>
              </a:solidFill>
            </a:rPr>
            <a:t> world. In </a:t>
          </a:r>
          <a:r>
            <a:rPr lang="it-IT" err="1">
              <a:solidFill>
                <a:schemeClr val="tx1"/>
              </a:solidFill>
            </a:rPr>
            <a:t>particular</a:t>
          </a:r>
          <a:r>
            <a:rPr lang="it-IT">
              <a:solidFill>
                <a:schemeClr val="tx1"/>
              </a:solidFill>
            </a:rPr>
            <a:t> </a:t>
          </a:r>
          <a:r>
            <a:rPr lang="it-IT" err="1">
              <a:solidFill>
                <a:schemeClr val="tx1"/>
              </a:solidFill>
            </a:rPr>
            <a:t>it</a:t>
          </a:r>
          <a:r>
            <a:rPr lang="it-IT">
              <a:solidFill>
                <a:schemeClr val="tx1"/>
              </a:solidFill>
            </a:rPr>
            <a:t> </a:t>
          </a:r>
          <a:r>
            <a:rPr lang="it-IT" err="1">
              <a:solidFill>
                <a:schemeClr val="tx1"/>
              </a:solidFill>
            </a:rPr>
            <a:t>converts</a:t>
          </a:r>
          <a:r>
            <a:rPr lang="it-IT">
              <a:solidFill>
                <a:schemeClr val="tx1"/>
              </a:solidFill>
            </a:rPr>
            <a:t> the data from Serial (</a:t>
          </a:r>
          <a:r>
            <a:rPr lang="it-IT" err="1">
              <a:solidFill>
                <a:schemeClr val="tx1"/>
              </a:solidFill>
            </a:rPr>
            <a:t>used</a:t>
          </a:r>
          <a:r>
            <a:rPr lang="it-IT">
              <a:solidFill>
                <a:schemeClr val="tx1"/>
              </a:solidFill>
            </a:rPr>
            <a:t> to </a:t>
          </a:r>
          <a:r>
            <a:rPr lang="it-IT" err="1">
              <a:solidFill>
                <a:schemeClr val="tx1"/>
              </a:solidFill>
            </a:rPr>
            <a:t>communicate</a:t>
          </a:r>
          <a:r>
            <a:rPr lang="it-IT">
              <a:solidFill>
                <a:schemeClr val="tx1"/>
              </a:solidFill>
            </a:rPr>
            <a:t> with </a:t>
          </a:r>
          <a:r>
            <a:rPr lang="it-IT" err="1">
              <a:solidFill>
                <a:schemeClr val="tx1"/>
              </a:solidFill>
            </a:rPr>
            <a:t>Receiver</a:t>
          </a:r>
          <a:r>
            <a:rPr lang="it-IT">
              <a:solidFill>
                <a:schemeClr val="tx1"/>
              </a:solidFill>
            </a:rPr>
            <a:t> </a:t>
          </a:r>
          <a:r>
            <a:rPr lang="it-IT" err="1">
              <a:solidFill>
                <a:schemeClr val="tx1"/>
              </a:solidFill>
            </a:rPr>
            <a:t>LoRa</a:t>
          </a:r>
          <a:r>
            <a:rPr lang="it-IT">
              <a:solidFill>
                <a:schemeClr val="tx1"/>
              </a:solidFill>
            </a:rPr>
            <a:t>) to MQTT (TCP/IP) (</a:t>
          </a:r>
          <a:r>
            <a:rPr lang="it-IT" err="1">
              <a:solidFill>
                <a:schemeClr val="tx1"/>
              </a:solidFill>
            </a:rPr>
            <a:t>used</a:t>
          </a:r>
          <a:r>
            <a:rPr lang="it-IT">
              <a:solidFill>
                <a:schemeClr val="tx1"/>
              </a:solidFill>
            </a:rPr>
            <a:t> to </a:t>
          </a:r>
          <a:r>
            <a:rPr lang="it-IT" err="1">
              <a:solidFill>
                <a:schemeClr val="tx1"/>
              </a:solidFill>
            </a:rPr>
            <a:t>communicate</a:t>
          </a:r>
          <a:r>
            <a:rPr lang="it-IT">
              <a:solidFill>
                <a:schemeClr val="tx1"/>
              </a:solidFill>
            </a:rPr>
            <a:t> with </a:t>
          </a:r>
          <a:r>
            <a:rPr lang="it-IT" err="1">
              <a:solidFill>
                <a:schemeClr val="tx1"/>
              </a:solidFill>
            </a:rPr>
            <a:t>HiveMQ</a:t>
          </a:r>
          <a:r>
            <a:rPr lang="it-IT">
              <a:solidFill>
                <a:schemeClr val="tx1"/>
              </a:solidFill>
            </a:rPr>
            <a:t>) and viceversa</a:t>
          </a:r>
          <a:endParaRPr lang="en-US">
            <a:solidFill>
              <a:schemeClr val="tx1"/>
            </a:solidFill>
          </a:endParaRPr>
        </a:p>
      </dgm:t>
    </dgm:pt>
    <dgm:pt modelId="{E82A40F3-6BD5-4231-843C-A05B802DA69C}" type="parTrans" cxnId="{101847BF-9A81-4E81-9592-658B999FE55E}">
      <dgm:prSet/>
      <dgm:spPr/>
      <dgm:t>
        <a:bodyPr/>
        <a:lstStyle/>
        <a:p>
          <a:endParaRPr lang="en-US"/>
        </a:p>
      </dgm:t>
    </dgm:pt>
    <dgm:pt modelId="{E27D88A2-2487-443B-AE08-153FAD773CBE}" type="sibTrans" cxnId="{101847BF-9A81-4E81-9592-658B999FE55E}">
      <dgm:prSet/>
      <dgm:spPr/>
      <dgm:t>
        <a:bodyPr/>
        <a:lstStyle/>
        <a:p>
          <a:endParaRPr lang="en-US"/>
        </a:p>
      </dgm:t>
    </dgm:pt>
    <dgm:pt modelId="{CCC99763-F8A7-455F-AA9F-71B7BB4494D1}">
      <dgm:prSet/>
      <dgm:spPr/>
      <dgm:t>
        <a:bodyPr/>
        <a:lstStyle/>
        <a:p>
          <a:r>
            <a:rPr lang="it-IT">
              <a:solidFill>
                <a:schemeClr val="tx1"/>
              </a:solidFill>
            </a:rPr>
            <a:t>The Bridge </a:t>
          </a:r>
          <a:r>
            <a:rPr lang="it-IT" err="1">
              <a:solidFill>
                <a:schemeClr val="tx1"/>
              </a:solidFill>
            </a:rPr>
            <a:t>is</a:t>
          </a:r>
          <a:r>
            <a:rPr lang="it-IT">
              <a:solidFill>
                <a:schemeClr val="tx1"/>
              </a:solidFill>
            </a:rPr>
            <a:t> Publisher for </a:t>
          </a:r>
          <a:endParaRPr lang="en-US">
            <a:solidFill>
              <a:schemeClr val="tx1"/>
            </a:solidFill>
          </a:endParaRPr>
        </a:p>
      </dgm:t>
    </dgm:pt>
    <dgm:pt modelId="{7DC4D3B4-70FA-46C8-8706-2B76625861F3}" type="parTrans" cxnId="{38AB8D33-B648-48C4-BCB8-1355D578CFBD}">
      <dgm:prSet/>
      <dgm:spPr/>
      <dgm:t>
        <a:bodyPr/>
        <a:lstStyle/>
        <a:p>
          <a:endParaRPr lang="en-US"/>
        </a:p>
      </dgm:t>
    </dgm:pt>
    <dgm:pt modelId="{930CD29C-BEEB-4C7C-9BA5-31444B33B9C0}" type="sibTrans" cxnId="{38AB8D33-B648-48C4-BCB8-1355D578CFBD}">
      <dgm:prSet/>
      <dgm:spPr/>
      <dgm:t>
        <a:bodyPr/>
        <a:lstStyle/>
        <a:p>
          <a:endParaRPr lang="en-US"/>
        </a:p>
      </dgm:t>
    </dgm:pt>
    <dgm:pt modelId="{F1897A96-71F6-4B7C-8F4E-69D09FADDC3A}">
      <dgm:prSet/>
      <dgm:spPr/>
      <dgm:t>
        <a:bodyPr/>
        <a:lstStyle/>
        <a:p>
          <a:r>
            <a:rPr lang="it-IT"/>
            <a:t>/Bins/Bin_id/fill</a:t>
          </a:r>
          <a:endParaRPr lang="en-US"/>
        </a:p>
      </dgm:t>
    </dgm:pt>
    <dgm:pt modelId="{1408A569-916B-4D1C-951F-E0AD47198C64}" type="parTrans" cxnId="{D02533CB-CA61-40E7-ACD2-33271837AB2C}">
      <dgm:prSet/>
      <dgm:spPr/>
      <dgm:t>
        <a:bodyPr/>
        <a:lstStyle/>
        <a:p>
          <a:endParaRPr lang="en-US"/>
        </a:p>
      </dgm:t>
    </dgm:pt>
    <dgm:pt modelId="{9C96D419-21BB-412E-8BEB-0E3E7EFCCF8E}" type="sibTrans" cxnId="{D02533CB-CA61-40E7-ACD2-33271837AB2C}">
      <dgm:prSet/>
      <dgm:spPr/>
      <dgm:t>
        <a:bodyPr/>
        <a:lstStyle/>
        <a:p>
          <a:endParaRPr lang="en-US"/>
        </a:p>
      </dgm:t>
    </dgm:pt>
    <dgm:pt modelId="{759AB786-9C04-4113-9715-71D82B86268C}">
      <dgm:prSet/>
      <dgm:spPr/>
      <dgm:t>
        <a:bodyPr/>
        <a:lstStyle/>
        <a:p>
          <a:r>
            <a:rPr lang="it-IT"/>
            <a:t>/Bins/Bin_id/overturn</a:t>
          </a:r>
          <a:endParaRPr lang="en-US"/>
        </a:p>
      </dgm:t>
    </dgm:pt>
    <dgm:pt modelId="{28219DCD-0132-4863-8449-B1BF7DC416B9}" type="parTrans" cxnId="{8896FD0D-F7F9-4724-8EB3-9A0EC80C25A7}">
      <dgm:prSet/>
      <dgm:spPr/>
      <dgm:t>
        <a:bodyPr/>
        <a:lstStyle/>
        <a:p>
          <a:endParaRPr lang="en-US"/>
        </a:p>
      </dgm:t>
    </dgm:pt>
    <dgm:pt modelId="{2C143641-8188-431E-8909-7183AEFF5CF2}" type="sibTrans" cxnId="{8896FD0D-F7F9-4724-8EB3-9A0EC80C25A7}">
      <dgm:prSet/>
      <dgm:spPr/>
      <dgm:t>
        <a:bodyPr/>
        <a:lstStyle/>
        <a:p>
          <a:endParaRPr lang="en-US"/>
        </a:p>
      </dgm:t>
    </dgm:pt>
    <dgm:pt modelId="{7D124455-A25B-4733-B74C-8F6FBDE05DD2}">
      <dgm:prSet/>
      <dgm:spPr/>
      <dgm:t>
        <a:bodyPr/>
        <a:lstStyle/>
        <a:p>
          <a:r>
            <a:rPr lang="it-IT"/>
            <a:t>/Bins/Bin_id/position</a:t>
          </a:r>
          <a:endParaRPr lang="en-US"/>
        </a:p>
      </dgm:t>
    </dgm:pt>
    <dgm:pt modelId="{4F7E1D3D-9493-4413-BB59-32D168031552}" type="parTrans" cxnId="{0BE5F469-C85C-4663-A973-677EC05A31F5}">
      <dgm:prSet/>
      <dgm:spPr/>
      <dgm:t>
        <a:bodyPr/>
        <a:lstStyle/>
        <a:p>
          <a:endParaRPr lang="en-US"/>
        </a:p>
      </dgm:t>
    </dgm:pt>
    <dgm:pt modelId="{119BC5DF-9F45-4D0C-A596-DC30AED59644}" type="sibTrans" cxnId="{0BE5F469-C85C-4663-A973-677EC05A31F5}">
      <dgm:prSet/>
      <dgm:spPr/>
      <dgm:t>
        <a:bodyPr/>
        <a:lstStyle/>
        <a:p>
          <a:endParaRPr lang="en-US"/>
        </a:p>
      </dgm:t>
    </dgm:pt>
    <dgm:pt modelId="{DD98EF51-0186-483E-B9CF-E3F001CB9A39}">
      <dgm:prSet/>
      <dgm:spPr/>
      <dgm:t>
        <a:bodyPr/>
        <a:lstStyle/>
        <a:p>
          <a:r>
            <a:rPr lang="it-IT">
              <a:solidFill>
                <a:schemeClr val="tx1"/>
              </a:solidFill>
            </a:rPr>
            <a:t>The Bridge </a:t>
          </a:r>
          <a:r>
            <a:rPr lang="it-IT" err="1">
              <a:solidFill>
                <a:schemeClr val="tx1"/>
              </a:solidFill>
            </a:rPr>
            <a:t>is</a:t>
          </a:r>
          <a:r>
            <a:rPr lang="it-IT">
              <a:solidFill>
                <a:schemeClr val="tx1"/>
              </a:solidFill>
            </a:rPr>
            <a:t> </a:t>
          </a:r>
          <a:r>
            <a:rPr lang="it-IT" err="1">
              <a:solidFill>
                <a:schemeClr val="tx1"/>
              </a:solidFill>
            </a:rPr>
            <a:t>Subscriber</a:t>
          </a:r>
          <a:r>
            <a:rPr lang="it-IT">
              <a:solidFill>
                <a:schemeClr val="tx1"/>
              </a:solidFill>
            </a:rPr>
            <a:t> for</a:t>
          </a:r>
          <a:endParaRPr lang="en-US">
            <a:solidFill>
              <a:schemeClr val="tx1"/>
            </a:solidFill>
          </a:endParaRPr>
        </a:p>
      </dgm:t>
    </dgm:pt>
    <dgm:pt modelId="{DBDBD148-E5E3-4875-90F8-518335CDB65A}" type="parTrans" cxnId="{B68DA8BA-C252-4EAF-B4F7-3C22A5DCE2DD}">
      <dgm:prSet/>
      <dgm:spPr/>
      <dgm:t>
        <a:bodyPr/>
        <a:lstStyle/>
        <a:p>
          <a:endParaRPr lang="en-US"/>
        </a:p>
      </dgm:t>
    </dgm:pt>
    <dgm:pt modelId="{E3544531-5ACD-4847-A7CB-B9743A4BD2B9}" type="sibTrans" cxnId="{B68DA8BA-C252-4EAF-B4F7-3C22A5DCE2DD}">
      <dgm:prSet/>
      <dgm:spPr/>
      <dgm:t>
        <a:bodyPr/>
        <a:lstStyle/>
        <a:p>
          <a:endParaRPr lang="en-US"/>
        </a:p>
      </dgm:t>
    </dgm:pt>
    <dgm:pt modelId="{FB636288-3CA3-4C72-96A4-A623B88B4852}">
      <dgm:prSet/>
      <dgm:spPr/>
      <dgm:t>
        <a:bodyPr/>
        <a:lstStyle/>
        <a:p>
          <a:r>
            <a:rPr lang="it-IT"/>
            <a:t>/Bins/Bin_id/lock</a:t>
          </a:r>
          <a:endParaRPr lang="en-US"/>
        </a:p>
      </dgm:t>
    </dgm:pt>
    <dgm:pt modelId="{C45A1B19-6A8A-4117-97CB-963D06A22E0A}" type="parTrans" cxnId="{BD7D74E1-99CF-4440-AE0F-3710674DE979}">
      <dgm:prSet/>
      <dgm:spPr/>
      <dgm:t>
        <a:bodyPr/>
        <a:lstStyle/>
        <a:p>
          <a:endParaRPr lang="en-US"/>
        </a:p>
      </dgm:t>
    </dgm:pt>
    <dgm:pt modelId="{2D034D53-0E38-47D4-9A13-C66E878A2AB4}" type="sibTrans" cxnId="{BD7D74E1-99CF-4440-AE0F-3710674DE979}">
      <dgm:prSet/>
      <dgm:spPr/>
      <dgm:t>
        <a:bodyPr/>
        <a:lstStyle/>
        <a:p>
          <a:endParaRPr lang="en-US"/>
        </a:p>
      </dgm:t>
    </dgm:pt>
    <dgm:pt modelId="{7A0AB513-7D60-4199-9A18-2AEC3865331F}">
      <dgm:prSet/>
      <dgm:spPr/>
      <dgm:t>
        <a:bodyPr/>
        <a:lstStyle/>
        <a:p>
          <a:r>
            <a:rPr lang="it-IT"/>
            <a:t>/Bins/Bin_id/lcd</a:t>
          </a:r>
          <a:endParaRPr lang="en-US"/>
        </a:p>
      </dgm:t>
    </dgm:pt>
    <dgm:pt modelId="{69D2A827-00B3-4E6A-8D21-CBBAE6A0AC42}" type="parTrans" cxnId="{B051E176-582D-499F-9EF4-0E32F7AB078C}">
      <dgm:prSet/>
      <dgm:spPr/>
      <dgm:t>
        <a:bodyPr/>
        <a:lstStyle/>
        <a:p>
          <a:endParaRPr lang="en-US"/>
        </a:p>
      </dgm:t>
    </dgm:pt>
    <dgm:pt modelId="{6C8DF737-0C76-4E7E-9B2F-D971C2132D14}" type="sibTrans" cxnId="{B051E176-582D-499F-9EF4-0E32F7AB078C}">
      <dgm:prSet/>
      <dgm:spPr/>
      <dgm:t>
        <a:bodyPr/>
        <a:lstStyle/>
        <a:p>
          <a:endParaRPr lang="en-US"/>
        </a:p>
      </dgm:t>
    </dgm:pt>
    <dgm:pt modelId="{563AAD7F-FE7B-4297-ABCA-C1CEFB7BE422}" type="pres">
      <dgm:prSet presAssocID="{DBCCB997-B696-4B34-AD03-046AA08EF325}" presName="Name0" presStyleCnt="0">
        <dgm:presLayoutVars>
          <dgm:dir/>
          <dgm:animLvl val="lvl"/>
          <dgm:resizeHandles val="exact"/>
        </dgm:presLayoutVars>
      </dgm:prSet>
      <dgm:spPr/>
    </dgm:pt>
    <dgm:pt modelId="{C23EFE72-5B68-45E2-AD2A-DBC8FE67FF35}" type="pres">
      <dgm:prSet presAssocID="{DD98EF51-0186-483E-B9CF-E3F001CB9A39}" presName="boxAndChildren" presStyleCnt="0"/>
      <dgm:spPr/>
    </dgm:pt>
    <dgm:pt modelId="{857A5FA1-2329-4292-ABAE-6D7043946E29}" type="pres">
      <dgm:prSet presAssocID="{DD98EF51-0186-483E-B9CF-E3F001CB9A39}" presName="parentTextBox" presStyleLbl="node1" presStyleIdx="0" presStyleCnt="3"/>
      <dgm:spPr/>
    </dgm:pt>
    <dgm:pt modelId="{39A9365C-FB89-46D1-9AD4-67600EA803EB}" type="pres">
      <dgm:prSet presAssocID="{DD98EF51-0186-483E-B9CF-E3F001CB9A39}" presName="entireBox" presStyleLbl="node1" presStyleIdx="0" presStyleCnt="3"/>
      <dgm:spPr/>
    </dgm:pt>
    <dgm:pt modelId="{FE06775D-62AD-4DEE-873A-5C27F5C52E4F}" type="pres">
      <dgm:prSet presAssocID="{DD98EF51-0186-483E-B9CF-E3F001CB9A39}" presName="descendantBox" presStyleCnt="0"/>
      <dgm:spPr/>
    </dgm:pt>
    <dgm:pt modelId="{49B85B4B-72B0-4755-BA06-6CC3B0ECDD93}" type="pres">
      <dgm:prSet presAssocID="{FB636288-3CA3-4C72-96A4-A623B88B4852}" presName="childTextBox" presStyleLbl="fgAccFollowNode1" presStyleIdx="0" presStyleCnt="5">
        <dgm:presLayoutVars>
          <dgm:bulletEnabled val="1"/>
        </dgm:presLayoutVars>
      </dgm:prSet>
      <dgm:spPr/>
    </dgm:pt>
    <dgm:pt modelId="{7FB91A72-7F8D-41E0-8B75-2D79948F5F9B}" type="pres">
      <dgm:prSet presAssocID="{7A0AB513-7D60-4199-9A18-2AEC3865331F}" presName="childTextBox" presStyleLbl="fgAccFollowNode1" presStyleIdx="1" presStyleCnt="5">
        <dgm:presLayoutVars>
          <dgm:bulletEnabled val="1"/>
        </dgm:presLayoutVars>
      </dgm:prSet>
      <dgm:spPr/>
    </dgm:pt>
    <dgm:pt modelId="{0B21DB3E-DAD3-4C6A-98A7-A93ED31B75D4}" type="pres">
      <dgm:prSet presAssocID="{930CD29C-BEEB-4C7C-9BA5-31444B33B9C0}" presName="sp" presStyleCnt="0"/>
      <dgm:spPr/>
    </dgm:pt>
    <dgm:pt modelId="{50F04ACC-50FC-4916-B117-1231050C2F4D}" type="pres">
      <dgm:prSet presAssocID="{CCC99763-F8A7-455F-AA9F-71B7BB4494D1}" presName="arrowAndChildren" presStyleCnt="0"/>
      <dgm:spPr/>
    </dgm:pt>
    <dgm:pt modelId="{87689514-2048-4DEE-B490-B387AFB5C288}" type="pres">
      <dgm:prSet presAssocID="{CCC99763-F8A7-455F-AA9F-71B7BB4494D1}" presName="parentTextArrow" presStyleLbl="node1" presStyleIdx="0" presStyleCnt="3"/>
      <dgm:spPr/>
    </dgm:pt>
    <dgm:pt modelId="{3DC4B963-1F6F-4F02-8D2A-3A87D55F1659}" type="pres">
      <dgm:prSet presAssocID="{CCC99763-F8A7-455F-AA9F-71B7BB4494D1}" presName="arrow" presStyleLbl="node1" presStyleIdx="1" presStyleCnt="3"/>
      <dgm:spPr/>
    </dgm:pt>
    <dgm:pt modelId="{342AAF3E-1B67-44A4-8529-F53101662442}" type="pres">
      <dgm:prSet presAssocID="{CCC99763-F8A7-455F-AA9F-71B7BB4494D1}" presName="descendantArrow" presStyleCnt="0"/>
      <dgm:spPr/>
    </dgm:pt>
    <dgm:pt modelId="{28EEB3C6-286E-4FAD-9FE3-EFFFBB17E632}" type="pres">
      <dgm:prSet presAssocID="{F1897A96-71F6-4B7C-8F4E-69D09FADDC3A}" presName="childTextArrow" presStyleLbl="fgAccFollowNode1" presStyleIdx="2" presStyleCnt="5">
        <dgm:presLayoutVars>
          <dgm:bulletEnabled val="1"/>
        </dgm:presLayoutVars>
      </dgm:prSet>
      <dgm:spPr/>
    </dgm:pt>
    <dgm:pt modelId="{7DFC9092-689E-47BE-9755-63F7E5DB3EFC}" type="pres">
      <dgm:prSet presAssocID="{759AB786-9C04-4113-9715-71D82B86268C}" presName="childTextArrow" presStyleLbl="fgAccFollowNode1" presStyleIdx="3" presStyleCnt="5">
        <dgm:presLayoutVars>
          <dgm:bulletEnabled val="1"/>
        </dgm:presLayoutVars>
      </dgm:prSet>
      <dgm:spPr/>
    </dgm:pt>
    <dgm:pt modelId="{83A61C45-1272-4D3E-80A5-FE04E4C48DB0}" type="pres">
      <dgm:prSet presAssocID="{7D124455-A25B-4733-B74C-8F6FBDE05DD2}" presName="childTextArrow" presStyleLbl="fgAccFollowNode1" presStyleIdx="4" presStyleCnt="5">
        <dgm:presLayoutVars>
          <dgm:bulletEnabled val="1"/>
        </dgm:presLayoutVars>
      </dgm:prSet>
      <dgm:spPr/>
    </dgm:pt>
    <dgm:pt modelId="{1CF025B6-32D7-4A0C-8290-5AAEA9674E5A}" type="pres">
      <dgm:prSet presAssocID="{E27D88A2-2487-443B-AE08-153FAD773CBE}" presName="sp" presStyleCnt="0"/>
      <dgm:spPr/>
    </dgm:pt>
    <dgm:pt modelId="{143B0F2F-628B-4FB4-BB5C-2BFA9D7913CA}" type="pres">
      <dgm:prSet presAssocID="{010AD290-DCFA-47B0-A992-162BDC549815}" presName="arrowAndChildren" presStyleCnt="0"/>
      <dgm:spPr/>
    </dgm:pt>
    <dgm:pt modelId="{E52530D2-75FE-4F2B-92AA-E118CFDD46D0}" type="pres">
      <dgm:prSet presAssocID="{010AD290-DCFA-47B0-A992-162BDC549815}" presName="parentTextArrow" presStyleLbl="node1" presStyleIdx="2" presStyleCnt="3"/>
      <dgm:spPr/>
    </dgm:pt>
  </dgm:ptLst>
  <dgm:cxnLst>
    <dgm:cxn modelId="{1E1B1103-B40E-4C34-ADDA-38CABC40BB30}" type="presOf" srcId="{CCC99763-F8A7-455F-AA9F-71B7BB4494D1}" destId="{87689514-2048-4DEE-B490-B387AFB5C288}" srcOrd="0" destOrd="0" presId="urn:microsoft.com/office/officeart/2005/8/layout/process4"/>
    <dgm:cxn modelId="{8896FD0D-F7F9-4724-8EB3-9A0EC80C25A7}" srcId="{CCC99763-F8A7-455F-AA9F-71B7BB4494D1}" destId="{759AB786-9C04-4113-9715-71D82B86268C}" srcOrd="1" destOrd="0" parTransId="{28219DCD-0132-4863-8449-B1BF7DC416B9}" sibTransId="{2C143641-8188-431E-8909-7183AEFF5CF2}"/>
    <dgm:cxn modelId="{53B80D16-CDAA-4A7C-A7E4-03935A33DED0}" type="presOf" srcId="{759AB786-9C04-4113-9715-71D82B86268C}" destId="{7DFC9092-689E-47BE-9755-63F7E5DB3EFC}" srcOrd="0" destOrd="0" presId="urn:microsoft.com/office/officeart/2005/8/layout/process4"/>
    <dgm:cxn modelId="{38AB8D33-B648-48C4-BCB8-1355D578CFBD}" srcId="{DBCCB997-B696-4B34-AD03-046AA08EF325}" destId="{CCC99763-F8A7-455F-AA9F-71B7BB4494D1}" srcOrd="1" destOrd="0" parTransId="{7DC4D3B4-70FA-46C8-8706-2B76625861F3}" sibTransId="{930CD29C-BEEB-4C7C-9BA5-31444B33B9C0}"/>
    <dgm:cxn modelId="{1E07D25B-BB88-44CC-95AB-A7815EC6AA34}" type="presOf" srcId="{F1897A96-71F6-4B7C-8F4E-69D09FADDC3A}" destId="{28EEB3C6-286E-4FAD-9FE3-EFFFBB17E632}" srcOrd="0" destOrd="0" presId="urn:microsoft.com/office/officeart/2005/8/layout/process4"/>
    <dgm:cxn modelId="{AA0C1047-5ED8-41F3-B6FE-83A5A44E87BD}" type="presOf" srcId="{7A0AB513-7D60-4199-9A18-2AEC3865331F}" destId="{7FB91A72-7F8D-41E0-8B75-2D79948F5F9B}" srcOrd="0" destOrd="0" presId="urn:microsoft.com/office/officeart/2005/8/layout/process4"/>
    <dgm:cxn modelId="{0BE5F469-C85C-4663-A973-677EC05A31F5}" srcId="{CCC99763-F8A7-455F-AA9F-71B7BB4494D1}" destId="{7D124455-A25B-4733-B74C-8F6FBDE05DD2}" srcOrd="2" destOrd="0" parTransId="{4F7E1D3D-9493-4413-BB59-32D168031552}" sibTransId="{119BC5DF-9F45-4D0C-A596-DC30AED59644}"/>
    <dgm:cxn modelId="{7A243D4D-D935-429C-81CF-A30054ABD79C}" type="presOf" srcId="{010AD290-DCFA-47B0-A992-162BDC549815}" destId="{E52530D2-75FE-4F2B-92AA-E118CFDD46D0}" srcOrd="0" destOrd="0" presId="urn:microsoft.com/office/officeart/2005/8/layout/process4"/>
    <dgm:cxn modelId="{EE898F76-FE1A-4A24-BADD-7F8C32BFFF01}" type="presOf" srcId="{DD98EF51-0186-483E-B9CF-E3F001CB9A39}" destId="{39A9365C-FB89-46D1-9AD4-67600EA803EB}" srcOrd="1" destOrd="0" presId="urn:microsoft.com/office/officeart/2005/8/layout/process4"/>
    <dgm:cxn modelId="{B051E176-582D-499F-9EF4-0E32F7AB078C}" srcId="{DD98EF51-0186-483E-B9CF-E3F001CB9A39}" destId="{7A0AB513-7D60-4199-9A18-2AEC3865331F}" srcOrd="1" destOrd="0" parTransId="{69D2A827-00B3-4E6A-8D21-CBBAE6A0AC42}" sibTransId="{6C8DF737-0C76-4E7E-9B2F-D971C2132D14}"/>
    <dgm:cxn modelId="{0C6286A5-385F-48AF-8E9B-7B6D1DD605FD}" type="presOf" srcId="{7D124455-A25B-4733-B74C-8F6FBDE05DD2}" destId="{83A61C45-1272-4D3E-80A5-FE04E4C48DB0}" srcOrd="0" destOrd="0" presId="urn:microsoft.com/office/officeart/2005/8/layout/process4"/>
    <dgm:cxn modelId="{165BA9B8-775C-4ED9-BA29-47D2443DAB58}" type="presOf" srcId="{DBCCB997-B696-4B34-AD03-046AA08EF325}" destId="{563AAD7F-FE7B-4297-ABCA-C1CEFB7BE422}" srcOrd="0" destOrd="0" presId="urn:microsoft.com/office/officeart/2005/8/layout/process4"/>
    <dgm:cxn modelId="{B68DA8BA-C252-4EAF-B4F7-3C22A5DCE2DD}" srcId="{DBCCB997-B696-4B34-AD03-046AA08EF325}" destId="{DD98EF51-0186-483E-B9CF-E3F001CB9A39}" srcOrd="2" destOrd="0" parTransId="{DBDBD148-E5E3-4875-90F8-518335CDB65A}" sibTransId="{E3544531-5ACD-4847-A7CB-B9743A4BD2B9}"/>
    <dgm:cxn modelId="{101847BF-9A81-4E81-9592-658B999FE55E}" srcId="{DBCCB997-B696-4B34-AD03-046AA08EF325}" destId="{010AD290-DCFA-47B0-A992-162BDC549815}" srcOrd="0" destOrd="0" parTransId="{E82A40F3-6BD5-4231-843C-A05B802DA69C}" sibTransId="{E27D88A2-2487-443B-AE08-153FAD773CBE}"/>
    <dgm:cxn modelId="{D02533CB-CA61-40E7-ACD2-33271837AB2C}" srcId="{CCC99763-F8A7-455F-AA9F-71B7BB4494D1}" destId="{F1897A96-71F6-4B7C-8F4E-69D09FADDC3A}" srcOrd="0" destOrd="0" parTransId="{1408A569-916B-4D1C-951F-E0AD47198C64}" sibTransId="{9C96D419-21BB-412E-8BEB-0E3E7EFCCF8E}"/>
    <dgm:cxn modelId="{BD7D74E1-99CF-4440-AE0F-3710674DE979}" srcId="{DD98EF51-0186-483E-B9CF-E3F001CB9A39}" destId="{FB636288-3CA3-4C72-96A4-A623B88B4852}" srcOrd="0" destOrd="0" parTransId="{C45A1B19-6A8A-4117-97CB-963D06A22E0A}" sibTransId="{2D034D53-0E38-47D4-9A13-C66E878A2AB4}"/>
    <dgm:cxn modelId="{84D081E7-B99E-4C27-937B-723FEC6E1EE4}" type="presOf" srcId="{CCC99763-F8A7-455F-AA9F-71B7BB4494D1}" destId="{3DC4B963-1F6F-4F02-8D2A-3A87D55F1659}" srcOrd="1" destOrd="0" presId="urn:microsoft.com/office/officeart/2005/8/layout/process4"/>
    <dgm:cxn modelId="{5A6FB1ED-FF51-40F5-B118-CF5331B75403}" type="presOf" srcId="{FB636288-3CA3-4C72-96A4-A623B88B4852}" destId="{49B85B4B-72B0-4755-BA06-6CC3B0ECDD93}" srcOrd="0" destOrd="0" presId="urn:microsoft.com/office/officeart/2005/8/layout/process4"/>
    <dgm:cxn modelId="{E91911F4-4F81-4140-BB91-BCD2B19053F6}" type="presOf" srcId="{DD98EF51-0186-483E-B9CF-E3F001CB9A39}" destId="{857A5FA1-2329-4292-ABAE-6D7043946E29}" srcOrd="0" destOrd="0" presId="urn:microsoft.com/office/officeart/2005/8/layout/process4"/>
    <dgm:cxn modelId="{3B20C29A-0D19-4EB6-B88D-346E46D3DCC8}" type="presParOf" srcId="{563AAD7F-FE7B-4297-ABCA-C1CEFB7BE422}" destId="{C23EFE72-5B68-45E2-AD2A-DBC8FE67FF35}" srcOrd="0" destOrd="0" presId="urn:microsoft.com/office/officeart/2005/8/layout/process4"/>
    <dgm:cxn modelId="{B9A7E64A-316E-423A-AE71-107B1908FE0C}" type="presParOf" srcId="{C23EFE72-5B68-45E2-AD2A-DBC8FE67FF35}" destId="{857A5FA1-2329-4292-ABAE-6D7043946E29}" srcOrd="0" destOrd="0" presId="urn:microsoft.com/office/officeart/2005/8/layout/process4"/>
    <dgm:cxn modelId="{CB630DB9-6CC2-41E1-92AC-E9B667848478}" type="presParOf" srcId="{C23EFE72-5B68-45E2-AD2A-DBC8FE67FF35}" destId="{39A9365C-FB89-46D1-9AD4-67600EA803EB}" srcOrd="1" destOrd="0" presId="urn:microsoft.com/office/officeart/2005/8/layout/process4"/>
    <dgm:cxn modelId="{5835EE88-AA43-4CF4-8060-1C45847EF6F6}" type="presParOf" srcId="{C23EFE72-5B68-45E2-AD2A-DBC8FE67FF35}" destId="{FE06775D-62AD-4DEE-873A-5C27F5C52E4F}" srcOrd="2" destOrd="0" presId="urn:microsoft.com/office/officeart/2005/8/layout/process4"/>
    <dgm:cxn modelId="{5175C696-72A4-40A2-A2FE-6880043C7079}" type="presParOf" srcId="{FE06775D-62AD-4DEE-873A-5C27F5C52E4F}" destId="{49B85B4B-72B0-4755-BA06-6CC3B0ECDD93}" srcOrd="0" destOrd="0" presId="urn:microsoft.com/office/officeart/2005/8/layout/process4"/>
    <dgm:cxn modelId="{786BB2DB-6171-4302-91D2-B0C19F8493FB}" type="presParOf" srcId="{FE06775D-62AD-4DEE-873A-5C27F5C52E4F}" destId="{7FB91A72-7F8D-41E0-8B75-2D79948F5F9B}" srcOrd="1" destOrd="0" presId="urn:microsoft.com/office/officeart/2005/8/layout/process4"/>
    <dgm:cxn modelId="{A0701C86-1054-4403-8B22-9A788375559F}" type="presParOf" srcId="{563AAD7F-FE7B-4297-ABCA-C1CEFB7BE422}" destId="{0B21DB3E-DAD3-4C6A-98A7-A93ED31B75D4}" srcOrd="1" destOrd="0" presId="urn:microsoft.com/office/officeart/2005/8/layout/process4"/>
    <dgm:cxn modelId="{2CB0CA97-67AF-4201-85A2-AABC1CDD2367}" type="presParOf" srcId="{563AAD7F-FE7B-4297-ABCA-C1CEFB7BE422}" destId="{50F04ACC-50FC-4916-B117-1231050C2F4D}" srcOrd="2" destOrd="0" presId="urn:microsoft.com/office/officeart/2005/8/layout/process4"/>
    <dgm:cxn modelId="{3EE23973-E47B-4726-9125-4E0DAE3CAB12}" type="presParOf" srcId="{50F04ACC-50FC-4916-B117-1231050C2F4D}" destId="{87689514-2048-4DEE-B490-B387AFB5C288}" srcOrd="0" destOrd="0" presId="urn:microsoft.com/office/officeart/2005/8/layout/process4"/>
    <dgm:cxn modelId="{33658637-CEA4-46B3-B0E0-765E9F001C93}" type="presParOf" srcId="{50F04ACC-50FC-4916-B117-1231050C2F4D}" destId="{3DC4B963-1F6F-4F02-8D2A-3A87D55F1659}" srcOrd="1" destOrd="0" presId="urn:microsoft.com/office/officeart/2005/8/layout/process4"/>
    <dgm:cxn modelId="{72E4BF31-B845-4887-A45D-8D9FC4110171}" type="presParOf" srcId="{50F04ACC-50FC-4916-B117-1231050C2F4D}" destId="{342AAF3E-1B67-44A4-8529-F53101662442}" srcOrd="2" destOrd="0" presId="urn:microsoft.com/office/officeart/2005/8/layout/process4"/>
    <dgm:cxn modelId="{0432B874-EEA9-4A5A-A1E2-FA6D2D4C78AE}" type="presParOf" srcId="{342AAF3E-1B67-44A4-8529-F53101662442}" destId="{28EEB3C6-286E-4FAD-9FE3-EFFFBB17E632}" srcOrd="0" destOrd="0" presId="urn:microsoft.com/office/officeart/2005/8/layout/process4"/>
    <dgm:cxn modelId="{4ED836B2-52E4-43F0-A55B-4D1B07A646DE}" type="presParOf" srcId="{342AAF3E-1B67-44A4-8529-F53101662442}" destId="{7DFC9092-689E-47BE-9755-63F7E5DB3EFC}" srcOrd="1" destOrd="0" presId="urn:microsoft.com/office/officeart/2005/8/layout/process4"/>
    <dgm:cxn modelId="{60231627-3732-44F2-A082-447C18AE6439}" type="presParOf" srcId="{342AAF3E-1B67-44A4-8529-F53101662442}" destId="{83A61C45-1272-4D3E-80A5-FE04E4C48DB0}" srcOrd="2" destOrd="0" presId="urn:microsoft.com/office/officeart/2005/8/layout/process4"/>
    <dgm:cxn modelId="{7DE98BF4-C02B-4CAA-8A2D-E34278B69ACC}" type="presParOf" srcId="{563AAD7F-FE7B-4297-ABCA-C1CEFB7BE422}" destId="{1CF025B6-32D7-4A0C-8290-5AAEA9674E5A}" srcOrd="3" destOrd="0" presId="urn:microsoft.com/office/officeart/2005/8/layout/process4"/>
    <dgm:cxn modelId="{C389EFB9-B4D6-4AAF-89AC-FA0E3971760C}" type="presParOf" srcId="{563AAD7F-FE7B-4297-ABCA-C1CEFB7BE422}" destId="{143B0F2F-628B-4FB4-BB5C-2BFA9D7913CA}" srcOrd="4" destOrd="0" presId="urn:microsoft.com/office/officeart/2005/8/layout/process4"/>
    <dgm:cxn modelId="{BA814B5C-3A06-4C21-9193-E64F6A06A2D6}" type="presParOf" srcId="{143B0F2F-628B-4FB4-BB5C-2BFA9D7913CA}" destId="{E52530D2-75FE-4F2B-92AA-E118CFDD46D0}"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342A6D6-6B39-47F7-9228-6DC54E38422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5202BCB-1FFE-49ED-B466-1AB09884C9D0}">
      <dgm:prSet custT="1"/>
      <dgm:spPr/>
      <dgm:t>
        <a:bodyPr/>
        <a:lstStyle/>
        <a:p>
          <a:pPr rtl="0">
            <a:lnSpc>
              <a:spcPct val="100000"/>
            </a:lnSpc>
          </a:pPr>
          <a:r>
            <a:rPr lang="en-US" sz="1400"/>
            <a:t>HiveMQ is a fully managed MQTT Cloud Platform that aim to create reliable, scalable and secure MQTT cloud-broker clusters that are built for production. </a:t>
          </a:r>
          <a:br>
            <a:rPr lang="en-US" sz="1400"/>
          </a:br>
          <a:r>
            <a:rPr lang="en-US" sz="1400"/>
            <a:t>The free tier allows to connect up to 100 devices and gives 10Gb of MQTT traffic</a:t>
          </a:r>
          <a:r>
            <a:rPr lang="en-US" sz="1400">
              <a:latin typeface="Tw Cen MT" panose="020F0302020204030204"/>
            </a:rPr>
            <a:t> each month.</a:t>
          </a:r>
          <a:endParaRPr lang="en-US" sz="1400"/>
        </a:p>
      </dgm:t>
    </dgm:pt>
    <dgm:pt modelId="{87B42CFB-3100-4AEF-9BE7-7E2F037DCAA3}" type="parTrans" cxnId="{24E6C9D5-B01D-4151-8B2A-555EF93BB553}">
      <dgm:prSet/>
      <dgm:spPr/>
      <dgm:t>
        <a:bodyPr/>
        <a:lstStyle/>
        <a:p>
          <a:endParaRPr lang="en-US"/>
        </a:p>
      </dgm:t>
    </dgm:pt>
    <dgm:pt modelId="{79DE6C6E-0D01-46A7-8B07-D0DC116DF6E1}" type="sibTrans" cxnId="{24E6C9D5-B01D-4151-8B2A-555EF93BB553}">
      <dgm:prSet/>
      <dgm:spPr/>
      <dgm:t>
        <a:bodyPr/>
        <a:lstStyle/>
        <a:p>
          <a:endParaRPr lang="en-US"/>
        </a:p>
      </dgm:t>
    </dgm:pt>
    <dgm:pt modelId="{D3A53373-6C78-4AE4-8FD6-22958BD2949D}">
      <dgm:prSet/>
      <dgm:spPr/>
      <dgm:t>
        <a:bodyPr/>
        <a:lstStyle/>
        <a:p>
          <a:pPr>
            <a:lnSpc>
              <a:spcPct val="100000"/>
            </a:lnSpc>
          </a:pPr>
          <a:r>
            <a:rPr lang="en-US"/>
            <a:t>In our architecture we use it to transfer data from periferal bin to the central controller.</a:t>
          </a:r>
        </a:p>
      </dgm:t>
    </dgm:pt>
    <dgm:pt modelId="{C9789DD6-75D6-4135-B961-98B012AF6595}" type="parTrans" cxnId="{389566FB-02A2-48D2-AD20-CD0DF4431148}">
      <dgm:prSet/>
      <dgm:spPr/>
      <dgm:t>
        <a:bodyPr/>
        <a:lstStyle/>
        <a:p>
          <a:endParaRPr lang="en-US"/>
        </a:p>
      </dgm:t>
    </dgm:pt>
    <dgm:pt modelId="{0FE9306E-1BCF-4C1B-A9A3-6111B8137437}" type="sibTrans" cxnId="{389566FB-02A2-48D2-AD20-CD0DF4431148}">
      <dgm:prSet/>
      <dgm:spPr/>
      <dgm:t>
        <a:bodyPr/>
        <a:lstStyle/>
        <a:p>
          <a:endParaRPr lang="en-US"/>
        </a:p>
      </dgm:t>
    </dgm:pt>
    <dgm:pt modelId="{C00B0917-F561-45D9-A317-D2A11D677833}" type="pres">
      <dgm:prSet presAssocID="{0342A6D6-6B39-47F7-9228-6DC54E384225}" presName="root" presStyleCnt="0">
        <dgm:presLayoutVars>
          <dgm:dir/>
          <dgm:resizeHandles val="exact"/>
        </dgm:presLayoutVars>
      </dgm:prSet>
      <dgm:spPr/>
    </dgm:pt>
    <dgm:pt modelId="{6832FAA6-58BB-4D4F-AEE1-82A6394C6AF4}" type="pres">
      <dgm:prSet presAssocID="{15202BCB-1FFE-49ED-B466-1AB09884C9D0}" presName="compNode" presStyleCnt="0"/>
      <dgm:spPr/>
    </dgm:pt>
    <dgm:pt modelId="{4FE73104-7EF4-4880-9634-3A426A6EA03A}" type="pres">
      <dgm:prSet presAssocID="{15202BCB-1FFE-49ED-B466-1AB09884C9D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CFFCE710-B222-4B82-BC99-C32F0054ABD8}" type="pres">
      <dgm:prSet presAssocID="{15202BCB-1FFE-49ED-B466-1AB09884C9D0}" presName="spaceRect" presStyleCnt="0"/>
      <dgm:spPr/>
    </dgm:pt>
    <dgm:pt modelId="{1D318D57-BF4E-441D-B564-429E22F8DB79}" type="pres">
      <dgm:prSet presAssocID="{15202BCB-1FFE-49ED-B466-1AB09884C9D0}" presName="textRect" presStyleLbl="revTx" presStyleIdx="0" presStyleCnt="2">
        <dgm:presLayoutVars>
          <dgm:chMax val="1"/>
          <dgm:chPref val="1"/>
        </dgm:presLayoutVars>
      </dgm:prSet>
      <dgm:spPr/>
    </dgm:pt>
    <dgm:pt modelId="{5E6163A5-AA7D-44D9-ACF4-AF2E9C634843}" type="pres">
      <dgm:prSet presAssocID="{79DE6C6E-0D01-46A7-8B07-D0DC116DF6E1}" presName="sibTrans" presStyleCnt="0"/>
      <dgm:spPr/>
    </dgm:pt>
    <dgm:pt modelId="{561D9A51-9004-44CC-8087-2E644195A709}" type="pres">
      <dgm:prSet presAssocID="{D3A53373-6C78-4AE4-8FD6-22958BD2949D}" presName="compNode" presStyleCnt="0"/>
      <dgm:spPr/>
    </dgm:pt>
    <dgm:pt modelId="{0EF4228F-DBEC-4B31-A51B-0F11BEF91DA8}" type="pres">
      <dgm:prSet presAssocID="{D3A53373-6C78-4AE4-8FD6-22958BD294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F0934E72-8850-4FCF-8567-0AEE298563A0}" type="pres">
      <dgm:prSet presAssocID="{D3A53373-6C78-4AE4-8FD6-22958BD2949D}" presName="spaceRect" presStyleCnt="0"/>
      <dgm:spPr/>
    </dgm:pt>
    <dgm:pt modelId="{27E8A5AA-E420-4F3E-8F11-AB7A9B1C5F12}" type="pres">
      <dgm:prSet presAssocID="{D3A53373-6C78-4AE4-8FD6-22958BD2949D}" presName="textRect" presStyleLbl="revTx" presStyleIdx="1" presStyleCnt="2">
        <dgm:presLayoutVars>
          <dgm:chMax val="1"/>
          <dgm:chPref val="1"/>
        </dgm:presLayoutVars>
      </dgm:prSet>
      <dgm:spPr/>
    </dgm:pt>
  </dgm:ptLst>
  <dgm:cxnLst>
    <dgm:cxn modelId="{E4EB5042-9338-43AC-9396-71E24E96B4AB}" type="presOf" srcId="{D3A53373-6C78-4AE4-8FD6-22958BD2949D}" destId="{27E8A5AA-E420-4F3E-8F11-AB7A9B1C5F12}" srcOrd="0" destOrd="0" presId="urn:microsoft.com/office/officeart/2018/2/layout/IconLabelList"/>
    <dgm:cxn modelId="{61C56BBC-9D0F-42D1-A7E7-EB52B6936790}" type="presOf" srcId="{0342A6D6-6B39-47F7-9228-6DC54E384225}" destId="{C00B0917-F561-45D9-A317-D2A11D677833}" srcOrd="0" destOrd="0" presId="urn:microsoft.com/office/officeart/2018/2/layout/IconLabelList"/>
    <dgm:cxn modelId="{E745B4CB-DBD4-417D-8D11-D5281D79FAC9}" type="presOf" srcId="{15202BCB-1FFE-49ED-B466-1AB09884C9D0}" destId="{1D318D57-BF4E-441D-B564-429E22F8DB79}" srcOrd="0" destOrd="0" presId="urn:microsoft.com/office/officeart/2018/2/layout/IconLabelList"/>
    <dgm:cxn modelId="{24E6C9D5-B01D-4151-8B2A-555EF93BB553}" srcId="{0342A6D6-6B39-47F7-9228-6DC54E384225}" destId="{15202BCB-1FFE-49ED-B466-1AB09884C9D0}" srcOrd="0" destOrd="0" parTransId="{87B42CFB-3100-4AEF-9BE7-7E2F037DCAA3}" sibTransId="{79DE6C6E-0D01-46A7-8B07-D0DC116DF6E1}"/>
    <dgm:cxn modelId="{389566FB-02A2-48D2-AD20-CD0DF4431148}" srcId="{0342A6D6-6B39-47F7-9228-6DC54E384225}" destId="{D3A53373-6C78-4AE4-8FD6-22958BD2949D}" srcOrd="1" destOrd="0" parTransId="{C9789DD6-75D6-4135-B961-98B012AF6595}" sibTransId="{0FE9306E-1BCF-4C1B-A9A3-6111B8137437}"/>
    <dgm:cxn modelId="{AFC2A950-6FF4-4AA4-98A0-D06D19ACEC05}" type="presParOf" srcId="{C00B0917-F561-45D9-A317-D2A11D677833}" destId="{6832FAA6-58BB-4D4F-AEE1-82A6394C6AF4}" srcOrd="0" destOrd="0" presId="urn:microsoft.com/office/officeart/2018/2/layout/IconLabelList"/>
    <dgm:cxn modelId="{637A636D-7B47-43AE-9A2C-DD09F98BA7E2}" type="presParOf" srcId="{6832FAA6-58BB-4D4F-AEE1-82A6394C6AF4}" destId="{4FE73104-7EF4-4880-9634-3A426A6EA03A}" srcOrd="0" destOrd="0" presId="urn:microsoft.com/office/officeart/2018/2/layout/IconLabelList"/>
    <dgm:cxn modelId="{712773BD-D0D0-4FD2-AF49-894B6949A3C9}" type="presParOf" srcId="{6832FAA6-58BB-4D4F-AEE1-82A6394C6AF4}" destId="{CFFCE710-B222-4B82-BC99-C32F0054ABD8}" srcOrd="1" destOrd="0" presId="urn:microsoft.com/office/officeart/2018/2/layout/IconLabelList"/>
    <dgm:cxn modelId="{0DFC2D66-45E1-451B-986D-A2C38B692C49}" type="presParOf" srcId="{6832FAA6-58BB-4D4F-AEE1-82A6394C6AF4}" destId="{1D318D57-BF4E-441D-B564-429E22F8DB79}" srcOrd="2" destOrd="0" presId="urn:microsoft.com/office/officeart/2018/2/layout/IconLabelList"/>
    <dgm:cxn modelId="{7D0F6E7E-872F-42BE-A0E4-CC4863C07762}" type="presParOf" srcId="{C00B0917-F561-45D9-A317-D2A11D677833}" destId="{5E6163A5-AA7D-44D9-ACF4-AF2E9C634843}" srcOrd="1" destOrd="0" presId="urn:microsoft.com/office/officeart/2018/2/layout/IconLabelList"/>
    <dgm:cxn modelId="{9CB02E2B-DCDE-4395-A004-1311B785BCEB}" type="presParOf" srcId="{C00B0917-F561-45D9-A317-D2A11D677833}" destId="{561D9A51-9004-44CC-8087-2E644195A709}" srcOrd="2" destOrd="0" presId="urn:microsoft.com/office/officeart/2018/2/layout/IconLabelList"/>
    <dgm:cxn modelId="{3C6532C8-CB6C-4532-A18A-52BAB91429BB}" type="presParOf" srcId="{561D9A51-9004-44CC-8087-2E644195A709}" destId="{0EF4228F-DBEC-4B31-A51B-0F11BEF91DA8}" srcOrd="0" destOrd="0" presId="urn:microsoft.com/office/officeart/2018/2/layout/IconLabelList"/>
    <dgm:cxn modelId="{2796B5A2-9534-425F-BAEE-FDE49F40D1E5}" type="presParOf" srcId="{561D9A51-9004-44CC-8087-2E644195A709}" destId="{F0934E72-8850-4FCF-8567-0AEE298563A0}" srcOrd="1" destOrd="0" presId="urn:microsoft.com/office/officeart/2018/2/layout/IconLabelList"/>
    <dgm:cxn modelId="{12B77210-32F7-4C41-9D8C-8C64A583CEE0}" type="presParOf" srcId="{561D9A51-9004-44CC-8087-2E644195A709}" destId="{27E8A5AA-E420-4F3E-8F11-AB7A9B1C5F1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8F0719-8322-4D05-945B-CA0F80099E22}">
      <dsp:nvSpPr>
        <dsp:cNvPr id="0" name=""/>
        <dsp:cNvSpPr/>
      </dsp:nvSpPr>
      <dsp:spPr>
        <a:xfrm>
          <a:off x="0" y="0"/>
          <a:ext cx="10058399" cy="0"/>
        </a:xfrm>
        <a:prstGeom prst="line">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w="12700" cap="flat" cmpd="sng" algn="ctr">
          <a:solidFill>
            <a:schemeClr val="accent2">
              <a:hueOff val="0"/>
              <a:satOff val="0"/>
              <a:lumOff val="0"/>
              <a:alphaOff val="0"/>
            </a:schemeClr>
          </a:solidFill>
          <a:prstDash val="solid"/>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1">
          <a:scrgbClr r="0" g="0" b="0"/>
        </a:lnRef>
        <a:fillRef idx="3">
          <a:scrgbClr r="0" g="0" b="0"/>
        </a:fillRef>
        <a:effectRef idx="3">
          <a:scrgbClr r="0" g="0" b="0"/>
        </a:effectRef>
        <a:fontRef idx="minor">
          <a:schemeClr val="lt1"/>
        </a:fontRef>
      </dsp:style>
    </dsp:sp>
    <dsp:sp modelId="{E1C81FF3-198E-4E05-A530-6DDF374CB169}">
      <dsp:nvSpPr>
        <dsp:cNvPr id="0" name=""/>
        <dsp:cNvSpPr/>
      </dsp:nvSpPr>
      <dsp:spPr>
        <a:xfrm>
          <a:off x="0" y="0"/>
          <a:ext cx="10058399" cy="94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Urban and rural upkeep</a:t>
          </a:r>
        </a:p>
      </dsp:txBody>
      <dsp:txXfrm>
        <a:off x="0" y="0"/>
        <a:ext cx="10058399" cy="940222"/>
      </dsp:txXfrm>
    </dsp:sp>
    <dsp:sp modelId="{F130113B-8EE3-4D4F-A420-0CE4DB45B079}">
      <dsp:nvSpPr>
        <dsp:cNvPr id="0" name=""/>
        <dsp:cNvSpPr/>
      </dsp:nvSpPr>
      <dsp:spPr>
        <a:xfrm>
          <a:off x="0" y="940222"/>
          <a:ext cx="10058399" cy="0"/>
        </a:xfrm>
        <a:prstGeom prst="line">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w="12700" cap="flat" cmpd="sng" algn="ctr">
          <a:solidFill>
            <a:schemeClr val="accent2">
              <a:hueOff val="0"/>
              <a:satOff val="0"/>
              <a:lumOff val="0"/>
              <a:alphaOff val="0"/>
            </a:schemeClr>
          </a:solidFill>
          <a:prstDash val="solid"/>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1">
          <a:scrgbClr r="0" g="0" b="0"/>
        </a:lnRef>
        <a:fillRef idx="3">
          <a:scrgbClr r="0" g="0" b="0"/>
        </a:fillRef>
        <a:effectRef idx="3">
          <a:scrgbClr r="0" g="0" b="0"/>
        </a:effectRef>
        <a:fontRef idx="minor">
          <a:schemeClr val="lt1"/>
        </a:fontRef>
      </dsp:style>
    </dsp:sp>
    <dsp:sp modelId="{87DA76BE-83D0-422D-9CF2-019DF77B4500}">
      <dsp:nvSpPr>
        <dsp:cNvPr id="0" name=""/>
        <dsp:cNvSpPr/>
      </dsp:nvSpPr>
      <dsp:spPr>
        <a:xfrm>
          <a:off x="0" y="940222"/>
          <a:ext cx="10058399" cy="94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Preventing bin overflows</a:t>
          </a:r>
        </a:p>
      </dsp:txBody>
      <dsp:txXfrm>
        <a:off x="0" y="940222"/>
        <a:ext cx="10058399" cy="940222"/>
      </dsp:txXfrm>
    </dsp:sp>
    <dsp:sp modelId="{63323098-B57C-45E6-8A6E-1D76051E402E}">
      <dsp:nvSpPr>
        <dsp:cNvPr id="0" name=""/>
        <dsp:cNvSpPr/>
      </dsp:nvSpPr>
      <dsp:spPr>
        <a:xfrm>
          <a:off x="0" y="1880445"/>
          <a:ext cx="10058399" cy="0"/>
        </a:xfrm>
        <a:prstGeom prst="line">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w="12700" cap="flat" cmpd="sng" algn="ctr">
          <a:solidFill>
            <a:schemeClr val="accent2">
              <a:hueOff val="0"/>
              <a:satOff val="0"/>
              <a:lumOff val="0"/>
              <a:alphaOff val="0"/>
            </a:schemeClr>
          </a:solidFill>
          <a:prstDash val="solid"/>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1">
          <a:scrgbClr r="0" g="0" b="0"/>
        </a:lnRef>
        <a:fillRef idx="3">
          <a:scrgbClr r="0" g="0" b="0"/>
        </a:fillRef>
        <a:effectRef idx="3">
          <a:scrgbClr r="0" g="0" b="0"/>
        </a:effectRef>
        <a:fontRef idx="minor">
          <a:schemeClr val="lt1"/>
        </a:fontRef>
      </dsp:style>
    </dsp:sp>
    <dsp:sp modelId="{AD6F1D53-C60B-44E8-954A-54C1614438A3}">
      <dsp:nvSpPr>
        <dsp:cNvPr id="0" name=""/>
        <dsp:cNvSpPr/>
      </dsp:nvSpPr>
      <dsp:spPr>
        <a:xfrm>
          <a:off x="0" y="1880445"/>
          <a:ext cx="10058399" cy="94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Enhanced schedule of waste collectors</a:t>
          </a:r>
        </a:p>
      </dsp:txBody>
      <dsp:txXfrm>
        <a:off x="0" y="1880445"/>
        <a:ext cx="10058399" cy="940222"/>
      </dsp:txXfrm>
    </dsp:sp>
    <dsp:sp modelId="{302DB063-911E-40E1-A76C-11C987C53543}">
      <dsp:nvSpPr>
        <dsp:cNvPr id="0" name=""/>
        <dsp:cNvSpPr/>
      </dsp:nvSpPr>
      <dsp:spPr>
        <a:xfrm>
          <a:off x="0" y="2820668"/>
          <a:ext cx="10058399" cy="0"/>
        </a:xfrm>
        <a:prstGeom prst="line">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w="12700" cap="flat" cmpd="sng" algn="ctr">
          <a:solidFill>
            <a:schemeClr val="accent2">
              <a:hueOff val="0"/>
              <a:satOff val="0"/>
              <a:lumOff val="0"/>
              <a:alphaOff val="0"/>
            </a:schemeClr>
          </a:solidFill>
          <a:prstDash val="solid"/>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1">
          <a:scrgbClr r="0" g="0" b="0"/>
        </a:lnRef>
        <a:fillRef idx="3">
          <a:scrgbClr r="0" g="0" b="0"/>
        </a:fillRef>
        <a:effectRef idx="3">
          <a:scrgbClr r="0" g="0" b="0"/>
        </a:effectRef>
        <a:fontRef idx="minor">
          <a:schemeClr val="lt1"/>
        </a:fontRef>
      </dsp:style>
    </dsp:sp>
    <dsp:sp modelId="{DA1A3CBB-CAC1-4A63-AFF9-BF8DCC47DBFE}">
      <dsp:nvSpPr>
        <dsp:cNvPr id="0" name=""/>
        <dsp:cNvSpPr/>
      </dsp:nvSpPr>
      <dsp:spPr>
        <a:xfrm>
          <a:off x="0" y="2820668"/>
          <a:ext cx="10058399" cy="94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Enhance maintenance interventions </a:t>
          </a:r>
        </a:p>
      </dsp:txBody>
      <dsp:txXfrm>
        <a:off x="0" y="2820668"/>
        <a:ext cx="10058399" cy="9402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D2451-5A72-46CA-A1AA-BBAE11089B9B}">
      <dsp:nvSpPr>
        <dsp:cNvPr id="0" name=""/>
        <dsp:cNvSpPr/>
      </dsp:nvSpPr>
      <dsp:spPr>
        <a:xfrm>
          <a:off x="489253" y="998804"/>
          <a:ext cx="793388" cy="7933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558FFD-CBB1-4BEE-ACF5-C46415C4EE1E}">
      <dsp:nvSpPr>
        <dsp:cNvPr id="0" name=""/>
        <dsp:cNvSpPr/>
      </dsp:nvSpPr>
      <dsp:spPr>
        <a:xfrm>
          <a:off x="4405" y="2056851"/>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it-IT" sz="1500" kern="1200"/>
            <a:t>It exploits ThingsBoard CE </a:t>
          </a:r>
        </a:p>
      </dsp:txBody>
      <dsp:txXfrm>
        <a:off x="4405" y="2056851"/>
        <a:ext cx="1763085" cy="705234"/>
      </dsp:txXfrm>
    </dsp:sp>
    <dsp:sp modelId="{160D6A0E-4C03-4609-B5D6-8D2DFBC520CE}">
      <dsp:nvSpPr>
        <dsp:cNvPr id="0" name=""/>
        <dsp:cNvSpPr/>
      </dsp:nvSpPr>
      <dsp:spPr>
        <a:xfrm>
          <a:off x="2560879" y="998804"/>
          <a:ext cx="793388" cy="7933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7C5268-D1A5-4382-89FF-2E3FFAA306C1}">
      <dsp:nvSpPr>
        <dsp:cNvPr id="0" name=""/>
        <dsp:cNvSpPr/>
      </dsp:nvSpPr>
      <dsp:spPr>
        <a:xfrm>
          <a:off x="2076031" y="2056851"/>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it-IT" sz="1500" kern="1200"/>
            <a:t>It shows map on where the bins are located</a:t>
          </a:r>
          <a:endParaRPr lang="en-US" sz="1500" kern="1200"/>
        </a:p>
      </dsp:txBody>
      <dsp:txXfrm>
        <a:off x="2076031" y="2056851"/>
        <a:ext cx="1763085" cy="705234"/>
      </dsp:txXfrm>
    </dsp:sp>
    <dsp:sp modelId="{2C3C1848-B83B-458A-88B5-9B75493FF29F}">
      <dsp:nvSpPr>
        <dsp:cNvPr id="0" name=""/>
        <dsp:cNvSpPr/>
      </dsp:nvSpPr>
      <dsp:spPr>
        <a:xfrm>
          <a:off x="4632505" y="998804"/>
          <a:ext cx="793388" cy="793388"/>
        </a:xfrm>
        <a:prstGeom prst="rect">
          <a:avLst/>
        </a:prstGeom>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EFF673-EE3C-4976-9AED-DB63D1D35E96}">
      <dsp:nvSpPr>
        <dsp:cNvPr id="0" name=""/>
        <dsp:cNvSpPr/>
      </dsp:nvSpPr>
      <dsp:spPr>
        <a:xfrm>
          <a:off x="4147657" y="2056851"/>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it-IT" sz="1500" kern="1200"/>
            <a:t>It shows fill level of each bin</a:t>
          </a:r>
          <a:endParaRPr lang="en-US" sz="1500" kern="1200"/>
        </a:p>
      </dsp:txBody>
      <dsp:txXfrm>
        <a:off x="4147657" y="2056851"/>
        <a:ext cx="1763085" cy="705234"/>
      </dsp:txXfrm>
    </dsp:sp>
    <dsp:sp modelId="{9BCFDAD0-BBE3-4F4B-9B96-4D21C602AC1E}">
      <dsp:nvSpPr>
        <dsp:cNvPr id="0" name=""/>
        <dsp:cNvSpPr/>
      </dsp:nvSpPr>
      <dsp:spPr>
        <a:xfrm>
          <a:off x="6704131" y="998804"/>
          <a:ext cx="793388" cy="7933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E36004-6665-4FF1-944C-2BF4699A21D8}">
      <dsp:nvSpPr>
        <dsp:cNvPr id="0" name=""/>
        <dsp:cNvSpPr/>
      </dsp:nvSpPr>
      <dsp:spPr>
        <a:xfrm>
          <a:off x="6219283" y="2056851"/>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it-IT" sz="1500" kern="1200"/>
            <a:t>It shows a chart displaying the fill level of each bin over time</a:t>
          </a:r>
          <a:endParaRPr lang="en-US" sz="1500" kern="1200"/>
        </a:p>
      </dsp:txBody>
      <dsp:txXfrm>
        <a:off x="6219283" y="2056851"/>
        <a:ext cx="1763085" cy="705234"/>
      </dsp:txXfrm>
    </dsp:sp>
    <dsp:sp modelId="{AA4CDB5E-3C73-4070-8B03-72E69BA0A226}">
      <dsp:nvSpPr>
        <dsp:cNvPr id="0" name=""/>
        <dsp:cNvSpPr/>
      </dsp:nvSpPr>
      <dsp:spPr>
        <a:xfrm>
          <a:off x="8775757" y="998804"/>
          <a:ext cx="793388" cy="79338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772AC4-FD8F-4C53-8492-3BDD0F4BB3E8}">
      <dsp:nvSpPr>
        <dsp:cNvPr id="0" name=""/>
        <dsp:cNvSpPr/>
      </dsp:nvSpPr>
      <dsp:spPr>
        <a:xfrm>
          <a:off x="8290908" y="2056851"/>
          <a:ext cx="1763085" cy="70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it-IT" sz="1500" kern="1200"/>
            <a:t>You can ask to a ML Model the fill level of a bin in the future</a:t>
          </a:r>
          <a:endParaRPr lang="en-US" sz="1500" kern="1200"/>
        </a:p>
      </dsp:txBody>
      <dsp:txXfrm>
        <a:off x="8290908" y="2056851"/>
        <a:ext cx="1763085" cy="7052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D180C0-0B88-4442-A11C-CD83C4F97962}">
      <dsp:nvSpPr>
        <dsp:cNvPr id="0" name=""/>
        <dsp:cNvSpPr/>
      </dsp:nvSpPr>
      <dsp:spPr>
        <a:xfrm>
          <a:off x="1020686" y="513143"/>
          <a:ext cx="1470171" cy="1470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45046C-AD49-4A1D-8F92-CF694972746D}">
      <dsp:nvSpPr>
        <dsp:cNvPr id="0" name=""/>
        <dsp:cNvSpPr/>
      </dsp:nvSpPr>
      <dsp:spPr>
        <a:xfrm>
          <a:off x="122248" y="2453401"/>
          <a:ext cx="3267048"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LoRa (Long Range) is a radio modulation technique used to create long-range (5-10 km) communication links.</a:t>
          </a:r>
        </a:p>
        <a:p>
          <a:pPr marL="0" lvl="0" indent="0" algn="ctr" defTabSz="711200">
            <a:lnSpc>
              <a:spcPct val="100000"/>
            </a:lnSpc>
            <a:spcBef>
              <a:spcPct val="0"/>
            </a:spcBef>
            <a:spcAft>
              <a:spcPct val="35000"/>
            </a:spcAft>
            <a:buNone/>
          </a:pPr>
          <a:r>
            <a:rPr lang="en-US" sz="1600" kern="1200"/>
            <a:t>The communication is Broadcast (433 </a:t>
          </a:r>
          <a:r>
            <a:rPr lang="en-US" sz="1600" kern="1200" err="1"/>
            <a:t>Mhz</a:t>
          </a:r>
          <a:r>
            <a:rPr lang="en-US" sz="1600" kern="1200"/>
            <a:t>)</a:t>
          </a:r>
        </a:p>
      </dsp:txBody>
      <dsp:txXfrm>
        <a:off x="122248" y="2453401"/>
        <a:ext cx="3267048" cy="1192500"/>
      </dsp:txXfrm>
    </dsp:sp>
    <dsp:sp modelId="{55ABB07A-C9BC-4855-9812-C420DEA65D74}">
      <dsp:nvSpPr>
        <dsp:cNvPr id="0" name=""/>
        <dsp:cNvSpPr/>
      </dsp:nvSpPr>
      <dsp:spPr>
        <a:xfrm>
          <a:off x="4859468" y="513143"/>
          <a:ext cx="1470171" cy="1470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27B830-2BF6-484C-91F5-F6A5CB34A4C2}">
      <dsp:nvSpPr>
        <dsp:cNvPr id="0" name=""/>
        <dsp:cNvSpPr/>
      </dsp:nvSpPr>
      <dsp:spPr>
        <a:xfrm>
          <a:off x="3961030" y="2453401"/>
          <a:ext cx="3267048"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It’s designed for low power usage and low bandwidth (sending small data packets)</a:t>
          </a:r>
        </a:p>
      </dsp:txBody>
      <dsp:txXfrm>
        <a:off x="3961030" y="2453401"/>
        <a:ext cx="3267048" cy="1192500"/>
      </dsp:txXfrm>
    </dsp:sp>
    <dsp:sp modelId="{E0B40231-CDD0-4904-BD01-F09C50E58601}">
      <dsp:nvSpPr>
        <dsp:cNvPr id="0" name=""/>
        <dsp:cNvSpPr/>
      </dsp:nvSpPr>
      <dsp:spPr>
        <a:xfrm>
          <a:off x="8698250" y="513143"/>
          <a:ext cx="1470171" cy="14701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8F9315-EEA2-45CE-ACB1-00C8DE3D1C9B}">
      <dsp:nvSpPr>
        <dsp:cNvPr id="0" name=""/>
        <dsp:cNvSpPr/>
      </dsp:nvSpPr>
      <dsp:spPr>
        <a:xfrm>
          <a:off x="7799812" y="2453401"/>
          <a:ext cx="3267048"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For the project, LoRa is used to connect more digital bins with a central receiver. Each digital bin sends data of its sensors to the receiver, and the receiver sends the information of what to do (created by Central Controller) to each digital bin.</a:t>
          </a:r>
        </a:p>
      </dsp:txBody>
      <dsp:txXfrm>
        <a:off x="7799812" y="2453401"/>
        <a:ext cx="3267048" cy="1192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88262-23E4-4AFC-8C72-42FA1CAE0F94}">
      <dsp:nvSpPr>
        <dsp:cNvPr id="0" name=""/>
        <dsp:cNvSpPr/>
      </dsp:nvSpPr>
      <dsp:spPr>
        <a:xfrm>
          <a:off x="0" y="1414"/>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203446-E1F2-4127-AA97-F3941A40D399}">
      <dsp:nvSpPr>
        <dsp:cNvPr id="0" name=""/>
        <dsp:cNvSpPr/>
      </dsp:nvSpPr>
      <dsp:spPr>
        <a:xfrm>
          <a:off x="0" y="1414"/>
          <a:ext cx="10058399" cy="964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it-IT" sz="2400" kern="1200">
              <a:solidFill>
                <a:schemeClr val="tx1"/>
              </a:solidFill>
            </a:rPr>
            <a:t>The goal of this component is to connect the Digital Bins with the Bridge.</a:t>
          </a:r>
          <a:endParaRPr lang="en-US" sz="2400" kern="1200">
            <a:solidFill>
              <a:schemeClr val="tx1"/>
            </a:solidFill>
          </a:endParaRPr>
        </a:p>
      </dsp:txBody>
      <dsp:txXfrm>
        <a:off x="0" y="1414"/>
        <a:ext cx="10058399" cy="964529"/>
      </dsp:txXfrm>
    </dsp:sp>
    <dsp:sp modelId="{177A2039-0BEC-4893-83DE-2A52D1866191}">
      <dsp:nvSpPr>
        <dsp:cNvPr id="0" name=""/>
        <dsp:cNvSpPr/>
      </dsp:nvSpPr>
      <dsp:spPr>
        <a:xfrm>
          <a:off x="0" y="965944"/>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94A96C-C20A-4319-AD47-8D937510FECA}">
      <dsp:nvSpPr>
        <dsp:cNvPr id="0" name=""/>
        <dsp:cNvSpPr/>
      </dsp:nvSpPr>
      <dsp:spPr>
        <a:xfrm>
          <a:off x="0" y="965944"/>
          <a:ext cx="10058399" cy="964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it-IT" sz="2400" kern="1200">
              <a:solidFill>
                <a:schemeClr val="tx1"/>
              </a:solidFill>
            </a:rPr>
            <a:t>Bin </a:t>
          </a:r>
          <a:r>
            <a:rPr lang="en-GB" sz="2400" kern="1200">
              <a:solidFill>
                <a:schemeClr val="tx1"/>
              </a:solidFill>
            </a:rPr>
            <a:t>→ Bridge: it listens via LoRa. When it receives the packet, it forwards that on the Bridge</a:t>
          </a:r>
          <a:endParaRPr lang="en-US" sz="2400" kern="1200">
            <a:solidFill>
              <a:schemeClr val="tx1"/>
            </a:solidFill>
          </a:endParaRPr>
        </a:p>
      </dsp:txBody>
      <dsp:txXfrm>
        <a:off x="0" y="965944"/>
        <a:ext cx="10058399" cy="964529"/>
      </dsp:txXfrm>
    </dsp:sp>
    <dsp:sp modelId="{8F4EEE5D-527E-4A5F-9B82-F91CAF2F6691}">
      <dsp:nvSpPr>
        <dsp:cNvPr id="0" name=""/>
        <dsp:cNvSpPr/>
      </dsp:nvSpPr>
      <dsp:spPr>
        <a:xfrm>
          <a:off x="0" y="1930473"/>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B399D4-8E03-4745-B55E-ABBE96065DFA}">
      <dsp:nvSpPr>
        <dsp:cNvPr id="0" name=""/>
        <dsp:cNvSpPr/>
      </dsp:nvSpPr>
      <dsp:spPr>
        <a:xfrm>
          <a:off x="0" y="1930473"/>
          <a:ext cx="10058399" cy="964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solidFill>
                <a:schemeClr val="tx1"/>
              </a:solidFill>
            </a:rPr>
            <a:t>Bridge → Bin: it listens via Serial. When it receives the packet (0xFE … 0xFF), it packs that, inserting the start_seq and the address of destination digital_bin</a:t>
          </a:r>
          <a:endParaRPr lang="en-US" sz="2400" kern="1200">
            <a:solidFill>
              <a:schemeClr val="tx1"/>
            </a:solidFill>
          </a:endParaRPr>
        </a:p>
      </dsp:txBody>
      <dsp:txXfrm>
        <a:off x="0" y="1930473"/>
        <a:ext cx="10058399" cy="9645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9365C-FB89-46D1-9AD4-67600EA803EB}">
      <dsp:nvSpPr>
        <dsp:cNvPr id="0" name=""/>
        <dsp:cNvSpPr/>
      </dsp:nvSpPr>
      <dsp:spPr>
        <a:xfrm>
          <a:off x="0" y="2831021"/>
          <a:ext cx="10058399" cy="92920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it-IT" sz="1800" kern="1200">
              <a:solidFill>
                <a:schemeClr val="tx1"/>
              </a:solidFill>
            </a:rPr>
            <a:t>The Bridge </a:t>
          </a:r>
          <a:r>
            <a:rPr lang="it-IT" sz="1800" kern="1200" err="1">
              <a:solidFill>
                <a:schemeClr val="tx1"/>
              </a:solidFill>
            </a:rPr>
            <a:t>is</a:t>
          </a:r>
          <a:r>
            <a:rPr lang="it-IT" sz="1800" kern="1200">
              <a:solidFill>
                <a:schemeClr val="tx1"/>
              </a:solidFill>
            </a:rPr>
            <a:t> </a:t>
          </a:r>
          <a:r>
            <a:rPr lang="it-IT" sz="1800" kern="1200" err="1">
              <a:solidFill>
                <a:schemeClr val="tx1"/>
              </a:solidFill>
            </a:rPr>
            <a:t>Subscriber</a:t>
          </a:r>
          <a:r>
            <a:rPr lang="it-IT" sz="1800" kern="1200">
              <a:solidFill>
                <a:schemeClr val="tx1"/>
              </a:solidFill>
            </a:rPr>
            <a:t> for</a:t>
          </a:r>
          <a:endParaRPr lang="en-US" sz="1800" kern="1200">
            <a:solidFill>
              <a:schemeClr val="tx1"/>
            </a:solidFill>
          </a:endParaRPr>
        </a:p>
      </dsp:txBody>
      <dsp:txXfrm>
        <a:off x="0" y="2831021"/>
        <a:ext cx="10058399" cy="501770"/>
      </dsp:txXfrm>
    </dsp:sp>
    <dsp:sp modelId="{49B85B4B-72B0-4755-BA06-6CC3B0ECDD93}">
      <dsp:nvSpPr>
        <dsp:cNvPr id="0" name=""/>
        <dsp:cNvSpPr/>
      </dsp:nvSpPr>
      <dsp:spPr>
        <a:xfrm>
          <a:off x="0" y="3314208"/>
          <a:ext cx="5029200" cy="4274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it-IT" sz="2600" kern="1200"/>
            <a:t>/Bins/Bin_id/lock</a:t>
          </a:r>
          <a:endParaRPr lang="en-US" sz="2600" kern="1200"/>
        </a:p>
      </dsp:txBody>
      <dsp:txXfrm>
        <a:off x="0" y="3314208"/>
        <a:ext cx="5029200" cy="427434"/>
      </dsp:txXfrm>
    </dsp:sp>
    <dsp:sp modelId="{7FB91A72-7F8D-41E0-8B75-2D79948F5F9B}">
      <dsp:nvSpPr>
        <dsp:cNvPr id="0" name=""/>
        <dsp:cNvSpPr/>
      </dsp:nvSpPr>
      <dsp:spPr>
        <a:xfrm>
          <a:off x="5029199" y="3314208"/>
          <a:ext cx="5029200" cy="4274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it-IT" sz="2600" kern="1200"/>
            <a:t>/Bins/Bin_id/lcd</a:t>
          </a:r>
          <a:endParaRPr lang="en-US" sz="2600" kern="1200"/>
        </a:p>
      </dsp:txBody>
      <dsp:txXfrm>
        <a:off x="5029199" y="3314208"/>
        <a:ext cx="5029200" cy="427434"/>
      </dsp:txXfrm>
    </dsp:sp>
    <dsp:sp modelId="{3DC4B963-1F6F-4F02-8D2A-3A87D55F1659}">
      <dsp:nvSpPr>
        <dsp:cNvPr id="0" name=""/>
        <dsp:cNvSpPr/>
      </dsp:nvSpPr>
      <dsp:spPr>
        <a:xfrm rot="10800000">
          <a:off x="0" y="1415843"/>
          <a:ext cx="10058399" cy="1429116"/>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it-IT" sz="1800" kern="1200">
              <a:solidFill>
                <a:schemeClr val="tx1"/>
              </a:solidFill>
            </a:rPr>
            <a:t>The Bridge </a:t>
          </a:r>
          <a:r>
            <a:rPr lang="it-IT" sz="1800" kern="1200" err="1">
              <a:solidFill>
                <a:schemeClr val="tx1"/>
              </a:solidFill>
            </a:rPr>
            <a:t>is</a:t>
          </a:r>
          <a:r>
            <a:rPr lang="it-IT" sz="1800" kern="1200">
              <a:solidFill>
                <a:schemeClr val="tx1"/>
              </a:solidFill>
            </a:rPr>
            <a:t> Publisher for </a:t>
          </a:r>
          <a:endParaRPr lang="en-US" sz="1800" kern="1200">
            <a:solidFill>
              <a:schemeClr val="tx1"/>
            </a:solidFill>
          </a:endParaRPr>
        </a:p>
      </dsp:txBody>
      <dsp:txXfrm rot="-10800000">
        <a:off x="0" y="1415843"/>
        <a:ext cx="10058399" cy="501619"/>
      </dsp:txXfrm>
    </dsp:sp>
    <dsp:sp modelId="{28EEB3C6-286E-4FAD-9FE3-EFFFBB17E632}">
      <dsp:nvSpPr>
        <dsp:cNvPr id="0" name=""/>
        <dsp:cNvSpPr/>
      </dsp:nvSpPr>
      <dsp:spPr>
        <a:xfrm>
          <a:off x="4911" y="1917463"/>
          <a:ext cx="3349525" cy="427305"/>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it-IT" sz="2600" kern="1200"/>
            <a:t>/Bins/Bin_id/fill</a:t>
          </a:r>
          <a:endParaRPr lang="en-US" sz="2600" kern="1200"/>
        </a:p>
      </dsp:txBody>
      <dsp:txXfrm>
        <a:off x="4911" y="1917463"/>
        <a:ext cx="3349525" cy="427305"/>
      </dsp:txXfrm>
    </dsp:sp>
    <dsp:sp modelId="{7DFC9092-689E-47BE-9755-63F7E5DB3EFC}">
      <dsp:nvSpPr>
        <dsp:cNvPr id="0" name=""/>
        <dsp:cNvSpPr/>
      </dsp:nvSpPr>
      <dsp:spPr>
        <a:xfrm>
          <a:off x="3354437" y="1917463"/>
          <a:ext cx="3349525" cy="427305"/>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it-IT" sz="2600" kern="1200"/>
            <a:t>/Bins/Bin_id/overturn</a:t>
          </a:r>
          <a:endParaRPr lang="en-US" sz="2600" kern="1200"/>
        </a:p>
      </dsp:txBody>
      <dsp:txXfrm>
        <a:off x="3354437" y="1917463"/>
        <a:ext cx="3349525" cy="427305"/>
      </dsp:txXfrm>
    </dsp:sp>
    <dsp:sp modelId="{83A61C45-1272-4D3E-80A5-FE04E4C48DB0}">
      <dsp:nvSpPr>
        <dsp:cNvPr id="0" name=""/>
        <dsp:cNvSpPr/>
      </dsp:nvSpPr>
      <dsp:spPr>
        <a:xfrm>
          <a:off x="6703962" y="1917463"/>
          <a:ext cx="3349525" cy="427305"/>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it-IT" sz="2600" kern="1200"/>
            <a:t>/Bins/Bin_id/position</a:t>
          </a:r>
          <a:endParaRPr lang="en-US" sz="2600" kern="1200"/>
        </a:p>
      </dsp:txBody>
      <dsp:txXfrm>
        <a:off x="6703962" y="1917463"/>
        <a:ext cx="3349525" cy="427305"/>
      </dsp:txXfrm>
    </dsp:sp>
    <dsp:sp modelId="{E52530D2-75FE-4F2B-92AA-E118CFDD46D0}">
      <dsp:nvSpPr>
        <dsp:cNvPr id="0" name=""/>
        <dsp:cNvSpPr/>
      </dsp:nvSpPr>
      <dsp:spPr>
        <a:xfrm rot="10800000">
          <a:off x="0" y="664"/>
          <a:ext cx="10058399" cy="1429116"/>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it-IT" sz="1800" kern="1200">
              <a:solidFill>
                <a:schemeClr val="tx1"/>
              </a:solidFill>
            </a:rPr>
            <a:t>The Bridge </a:t>
          </a:r>
          <a:r>
            <a:rPr lang="it-IT" sz="1800" kern="1200" err="1">
              <a:solidFill>
                <a:schemeClr val="tx1"/>
              </a:solidFill>
            </a:rPr>
            <a:t>has</a:t>
          </a:r>
          <a:r>
            <a:rPr lang="it-IT" sz="1800" kern="1200">
              <a:solidFill>
                <a:schemeClr val="tx1"/>
              </a:solidFill>
            </a:rPr>
            <a:t> the </a:t>
          </a:r>
          <a:r>
            <a:rPr lang="it-IT" sz="1800" kern="1200" err="1">
              <a:solidFill>
                <a:schemeClr val="tx1"/>
              </a:solidFill>
            </a:rPr>
            <a:t>role</a:t>
          </a:r>
          <a:r>
            <a:rPr lang="it-IT" sz="1800" kern="1200">
              <a:solidFill>
                <a:schemeClr val="tx1"/>
              </a:solidFill>
            </a:rPr>
            <a:t> to </a:t>
          </a:r>
          <a:r>
            <a:rPr lang="it-IT" sz="1800" kern="1200" err="1">
              <a:solidFill>
                <a:schemeClr val="tx1"/>
              </a:solidFill>
            </a:rPr>
            <a:t>connect</a:t>
          </a:r>
          <a:r>
            <a:rPr lang="it-IT" sz="1800" kern="1200">
              <a:solidFill>
                <a:schemeClr val="tx1"/>
              </a:solidFill>
            </a:rPr>
            <a:t> the Digital </a:t>
          </a:r>
          <a:r>
            <a:rPr lang="it-IT" sz="1800" kern="1200" err="1">
              <a:solidFill>
                <a:schemeClr val="tx1"/>
              </a:solidFill>
            </a:rPr>
            <a:t>Bins</a:t>
          </a:r>
          <a:r>
            <a:rPr lang="it-IT" sz="1800" kern="1200">
              <a:solidFill>
                <a:schemeClr val="tx1"/>
              </a:solidFill>
            </a:rPr>
            <a:t> to the </a:t>
          </a:r>
          <a:r>
            <a:rPr lang="it-IT" sz="1800" kern="1200" err="1">
              <a:solidFill>
                <a:schemeClr val="tx1"/>
              </a:solidFill>
            </a:rPr>
            <a:t>digital</a:t>
          </a:r>
          <a:r>
            <a:rPr lang="it-IT" sz="1800" kern="1200">
              <a:solidFill>
                <a:schemeClr val="tx1"/>
              </a:solidFill>
            </a:rPr>
            <a:t> </a:t>
          </a:r>
          <a:r>
            <a:rPr lang="it-IT" sz="1800" kern="1200" err="1">
              <a:solidFill>
                <a:schemeClr val="tx1"/>
              </a:solidFill>
            </a:rPr>
            <a:t>real</a:t>
          </a:r>
          <a:r>
            <a:rPr lang="it-IT" sz="1800" kern="1200">
              <a:solidFill>
                <a:schemeClr val="tx1"/>
              </a:solidFill>
            </a:rPr>
            <a:t> world. In </a:t>
          </a:r>
          <a:r>
            <a:rPr lang="it-IT" sz="1800" kern="1200" err="1">
              <a:solidFill>
                <a:schemeClr val="tx1"/>
              </a:solidFill>
            </a:rPr>
            <a:t>particular</a:t>
          </a:r>
          <a:r>
            <a:rPr lang="it-IT" sz="1800" kern="1200">
              <a:solidFill>
                <a:schemeClr val="tx1"/>
              </a:solidFill>
            </a:rPr>
            <a:t> </a:t>
          </a:r>
          <a:r>
            <a:rPr lang="it-IT" sz="1800" kern="1200" err="1">
              <a:solidFill>
                <a:schemeClr val="tx1"/>
              </a:solidFill>
            </a:rPr>
            <a:t>it</a:t>
          </a:r>
          <a:r>
            <a:rPr lang="it-IT" sz="1800" kern="1200">
              <a:solidFill>
                <a:schemeClr val="tx1"/>
              </a:solidFill>
            </a:rPr>
            <a:t> </a:t>
          </a:r>
          <a:r>
            <a:rPr lang="it-IT" sz="1800" kern="1200" err="1">
              <a:solidFill>
                <a:schemeClr val="tx1"/>
              </a:solidFill>
            </a:rPr>
            <a:t>converts</a:t>
          </a:r>
          <a:r>
            <a:rPr lang="it-IT" sz="1800" kern="1200">
              <a:solidFill>
                <a:schemeClr val="tx1"/>
              </a:solidFill>
            </a:rPr>
            <a:t> the data from Serial (</a:t>
          </a:r>
          <a:r>
            <a:rPr lang="it-IT" sz="1800" kern="1200" err="1">
              <a:solidFill>
                <a:schemeClr val="tx1"/>
              </a:solidFill>
            </a:rPr>
            <a:t>used</a:t>
          </a:r>
          <a:r>
            <a:rPr lang="it-IT" sz="1800" kern="1200">
              <a:solidFill>
                <a:schemeClr val="tx1"/>
              </a:solidFill>
            </a:rPr>
            <a:t> to </a:t>
          </a:r>
          <a:r>
            <a:rPr lang="it-IT" sz="1800" kern="1200" err="1">
              <a:solidFill>
                <a:schemeClr val="tx1"/>
              </a:solidFill>
            </a:rPr>
            <a:t>communicate</a:t>
          </a:r>
          <a:r>
            <a:rPr lang="it-IT" sz="1800" kern="1200">
              <a:solidFill>
                <a:schemeClr val="tx1"/>
              </a:solidFill>
            </a:rPr>
            <a:t> with </a:t>
          </a:r>
          <a:r>
            <a:rPr lang="it-IT" sz="1800" kern="1200" err="1">
              <a:solidFill>
                <a:schemeClr val="tx1"/>
              </a:solidFill>
            </a:rPr>
            <a:t>Receiver</a:t>
          </a:r>
          <a:r>
            <a:rPr lang="it-IT" sz="1800" kern="1200">
              <a:solidFill>
                <a:schemeClr val="tx1"/>
              </a:solidFill>
            </a:rPr>
            <a:t> </a:t>
          </a:r>
          <a:r>
            <a:rPr lang="it-IT" sz="1800" kern="1200" err="1">
              <a:solidFill>
                <a:schemeClr val="tx1"/>
              </a:solidFill>
            </a:rPr>
            <a:t>LoRa</a:t>
          </a:r>
          <a:r>
            <a:rPr lang="it-IT" sz="1800" kern="1200">
              <a:solidFill>
                <a:schemeClr val="tx1"/>
              </a:solidFill>
            </a:rPr>
            <a:t>) to MQTT (TCP/IP) (</a:t>
          </a:r>
          <a:r>
            <a:rPr lang="it-IT" sz="1800" kern="1200" err="1">
              <a:solidFill>
                <a:schemeClr val="tx1"/>
              </a:solidFill>
            </a:rPr>
            <a:t>used</a:t>
          </a:r>
          <a:r>
            <a:rPr lang="it-IT" sz="1800" kern="1200">
              <a:solidFill>
                <a:schemeClr val="tx1"/>
              </a:solidFill>
            </a:rPr>
            <a:t> to </a:t>
          </a:r>
          <a:r>
            <a:rPr lang="it-IT" sz="1800" kern="1200" err="1">
              <a:solidFill>
                <a:schemeClr val="tx1"/>
              </a:solidFill>
            </a:rPr>
            <a:t>communicate</a:t>
          </a:r>
          <a:r>
            <a:rPr lang="it-IT" sz="1800" kern="1200">
              <a:solidFill>
                <a:schemeClr val="tx1"/>
              </a:solidFill>
            </a:rPr>
            <a:t> with </a:t>
          </a:r>
          <a:r>
            <a:rPr lang="it-IT" sz="1800" kern="1200" err="1">
              <a:solidFill>
                <a:schemeClr val="tx1"/>
              </a:solidFill>
            </a:rPr>
            <a:t>HiveMQ</a:t>
          </a:r>
          <a:r>
            <a:rPr lang="it-IT" sz="1800" kern="1200">
              <a:solidFill>
                <a:schemeClr val="tx1"/>
              </a:solidFill>
            </a:rPr>
            <a:t>) and viceversa</a:t>
          </a:r>
          <a:endParaRPr lang="en-US" sz="1800" kern="1200">
            <a:solidFill>
              <a:schemeClr val="tx1"/>
            </a:solidFill>
          </a:endParaRPr>
        </a:p>
      </dsp:txBody>
      <dsp:txXfrm rot="10800000">
        <a:off x="0" y="664"/>
        <a:ext cx="10058399" cy="9285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73104-7EF4-4880-9634-3A426A6EA03A}">
      <dsp:nvSpPr>
        <dsp:cNvPr id="0" name=""/>
        <dsp:cNvSpPr/>
      </dsp:nvSpPr>
      <dsp:spPr>
        <a:xfrm>
          <a:off x="1519199" y="154516"/>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318D57-BF4E-441D-B564-429E22F8DB79}">
      <dsp:nvSpPr>
        <dsp:cNvPr id="0" name=""/>
        <dsp:cNvSpPr/>
      </dsp:nvSpPr>
      <dsp:spPr>
        <a:xfrm>
          <a:off x="331199" y="2616374"/>
          <a:ext cx="4320000" cy="9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rtl="0">
            <a:lnSpc>
              <a:spcPct val="100000"/>
            </a:lnSpc>
            <a:spcBef>
              <a:spcPct val="0"/>
            </a:spcBef>
            <a:spcAft>
              <a:spcPct val="35000"/>
            </a:spcAft>
            <a:buNone/>
          </a:pPr>
          <a:r>
            <a:rPr lang="en-US" sz="1400" kern="1200"/>
            <a:t>HiveMQ is a fully managed MQTT Cloud Platform that aim to create reliable, scalable and secure MQTT cloud-broker clusters that are built for production. </a:t>
          </a:r>
          <a:br>
            <a:rPr lang="en-US" sz="1400" kern="1200"/>
          </a:br>
          <a:r>
            <a:rPr lang="en-US" sz="1400" kern="1200"/>
            <a:t>The free tier allows to connect up to 100 devices and gives 10Gb of MQTT traffic</a:t>
          </a:r>
          <a:r>
            <a:rPr lang="en-US" sz="1400" kern="1200">
              <a:latin typeface="Tw Cen MT" panose="020F0302020204030204"/>
            </a:rPr>
            <a:t> each month.</a:t>
          </a:r>
          <a:endParaRPr lang="en-US" sz="1400" kern="1200"/>
        </a:p>
      </dsp:txBody>
      <dsp:txXfrm>
        <a:off x="331199" y="2616374"/>
        <a:ext cx="4320000" cy="990000"/>
      </dsp:txXfrm>
    </dsp:sp>
    <dsp:sp modelId="{0EF4228F-DBEC-4B31-A51B-0F11BEF91DA8}">
      <dsp:nvSpPr>
        <dsp:cNvPr id="0" name=""/>
        <dsp:cNvSpPr/>
      </dsp:nvSpPr>
      <dsp:spPr>
        <a:xfrm>
          <a:off x="6595199" y="154516"/>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E8A5AA-E420-4F3E-8F11-AB7A9B1C5F12}">
      <dsp:nvSpPr>
        <dsp:cNvPr id="0" name=""/>
        <dsp:cNvSpPr/>
      </dsp:nvSpPr>
      <dsp:spPr>
        <a:xfrm>
          <a:off x="5407199" y="2616374"/>
          <a:ext cx="4320000" cy="9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In our architecture we use it to transfer data from periferal bin to the central controller.</a:t>
          </a:r>
        </a:p>
      </dsp:txBody>
      <dsp:txXfrm>
        <a:off x="5407199" y="2616374"/>
        <a:ext cx="4320000" cy="99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A2CA5-2974-4132-9142-B5BBF594C288}" type="datetimeFigureOut">
              <a:rPr lang="en-GB" smtClean="0"/>
              <a:t>10/02/2026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A3975-9001-4A18-854C-DE57AD09E799}" type="slidenum">
              <a:rPr lang="en-GB" smtClean="0"/>
              <a:t>‹#›</a:t>
            </a:fld>
            <a:endParaRPr lang="en-GB"/>
          </a:p>
        </p:txBody>
      </p:sp>
    </p:spTree>
    <p:extLst>
      <p:ext uri="{BB962C8B-B14F-4D97-AF65-F5344CB8AC3E}">
        <p14:creationId xmlns:p14="http://schemas.microsoft.com/office/powerpoint/2010/main" val="1600679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a:t>
            </a:fld>
            <a:endParaRPr lang="en-GB"/>
          </a:p>
        </p:txBody>
      </p:sp>
    </p:spTree>
    <p:extLst>
      <p:ext uri="{BB962C8B-B14F-4D97-AF65-F5344CB8AC3E}">
        <p14:creationId xmlns:p14="http://schemas.microsoft.com/office/powerpoint/2010/main" val="430367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a:t>
            </a:fld>
            <a:endParaRPr lang="en-GB"/>
          </a:p>
        </p:txBody>
      </p:sp>
    </p:spTree>
    <p:extLst>
      <p:ext uri="{BB962C8B-B14F-4D97-AF65-F5344CB8AC3E}">
        <p14:creationId xmlns:p14="http://schemas.microsoft.com/office/powerpoint/2010/main" val="79408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3</a:t>
            </a:fld>
            <a:endParaRPr lang="en-GB"/>
          </a:p>
        </p:txBody>
      </p:sp>
    </p:spTree>
    <p:extLst>
      <p:ext uri="{BB962C8B-B14F-4D97-AF65-F5344CB8AC3E}">
        <p14:creationId xmlns:p14="http://schemas.microsoft.com/office/powerpoint/2010/main" val="2685429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4</a:t>
            </a:fld>
            <a:endParaRPr lang="en-GB"/>
          </a:p>
        </p:txBody>
      </p:sp>
    </p:spTree>
    <p:extLst>
      <p:ext uri="{BB962C8B-B14F-4D97-AF65-F5344CB8AC3E}">
        <p14:creationId xmlns:p14="http://schemas.microsoft.com/office/powerpoint/2010/main" val="3542702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5</a:t>
            </a:fld>
            <a:endParaRPr lang="en-GB"/>
          </a:p>
        </p:txBody>
      </p:sp>
    </p:spTree>
    <p:extLst>
      <p:ext uri="{BB962C8B-B14F-4D97-AF65-F5344CB8AC3E}">
        <p14:creationId xmlns:p14="http://schemas.microsoft.com/office/powerpoint/2010/main" val="3798697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6</a:t>
            </a:fld>
            <a:endParaRPr lang="en-GB"/>
          </a:p>
        </p:txBody>
      </p:sp>
    </p:spTree>
    <p:extLst>
      <p:ext uri="{BB962C8B-B14F-4D97-AF65-F5344CB8AC3E}">
        <p14:creationId xmlns:p14="http://schemas.microsoft.com/office/powerpoint/2010/main" val="2256516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7</a:t>
            </a:fld>
            <a:endParaRPr lang="en-GB"/>
          </a:p>
        </p:txBody>
      </p:sp>
    </p:spTree>
    <p:extLst>
      <p:ext uri="{BB962C8B-B14F-4D97-AF65-F5344CB8AC3E}">
        <p14:creationId xmlns:p14="http://schemas.microsoft.com/office/powerpoint/2010/main" val="855581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8</a:t>
            </a:fld>
            <a:endParaRPr lang="en-GB"/>
          </a:p>
        </p:txBody>
      </p:sp>
    </p:spTree>
    <p:extLst>
      <p:ext uri="{BB962C8B-B14F-4D97-AF65-F5344CB8AC3E}">
        <p14:creationId xmlns:p14="http://schemas.microsoft.com/office/powerpoint/2010/main" val="3677222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9</a:t>
            </a:fld>
            <a:endParaRPr lang="en-GB"/>
          </a:p>
        </p:txBody>
      </p:sp>
    </p:spTree>
    <p:extLst>
      <p:ext uri="{BB962C8B-B14F-4D97-AF65-F5344CB8AC3E}">
        <p14:creationId xmlns:p14="http://schemas.microsoft.com/office/powerpoint/2010/main" val="1919108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Francesco</a:t>
            </a:r>
          </a:p>
        </p:txBody>
      </p:sp>
      <p:sp>
        <p:nvSpPr>
          <p:cNvPr id="4" name="Slide Number Placeholder 3"/>
          <p:cNvSpPr>
            <a:spLocks noGrp="1"/>
          </p:cNvSpPr>
          <p:nvPr>
            <p:ph type="sldNum" sz="quarter" idx="5"/>
          </p:nvPr>
        </p:nvSpPr>
        <p:spPr/>
        <p:txBody>
          <a:bodyPr/>
          <a:lstStyle/>
          <a:p>
            <a:fld id="{949A3975-9001-4A18-854C-DE57AD09E799}" type="slidenum">
              <a:rPr lang="en-GB" smtClean="0"/>
              <a:t>10</a:t>
            </a:fld>
            <a:endParaRPr lang="en-GB"/>
          </a:p>
        </p:txBody>
      </p:sp>
    </p:spTree>
    <p:extLst>
      <p:ext uri="{BB962C8B-B14F-4D97-AF65-F5344CB8AC3E}">
        <p14:creationId xmlns:p14="http://schemas.microsoft.com/office/powerpoint/2010/main" val="470103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11</a:t>
            </a:fld>
            <a:endParaRPr lang="en-GB"/>
          </a:p>
        </p:txBody>
      </p:sp>
    </p:spTree>
    <p:extLst>
      <p:ext uri="{BB962C8B-B14F-4D97-AF65-F5344CB8AC3E}">
        <p14:creationId xmlns:p14="http://schemas.microsoft.com/office/powerpoint/2010/main" val="2824923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12</a:t>
            </a:fld>
            <a:endParaRPr lang="en-GB"/>
          </a:p>
        </p:txBody>
      </p:sp>
    </p:spTree>
    <p:extLst>
      <p:ext uri="{BB962C8B-B14F-4D97-AF65-F5344CB8AC3E}">
        <p14:creationId xmlns:p14="http://schemas.microsoft.com/office/powerpoint/2010/main" val="3984710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13</a:t>
            </a:fld>
            <a:endParaRPr lang="en-GB"/>
          </a:p>
        </p:txBody>
      </p:sp>
    </p:spTree>
    <p:extLst>
      <p:ext uri="{BB962C8B-B14F-4D97-AF65-F5344CB8AC3E}">
        <p14:creationId xmlns:p14="http://schemas.microsoft.com/office/powerpoint/2010/main" val="779785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14</a:t>
            </a:fld>
            <a:endParaRPr lang="en-GB"/>
          </a:p>
        </p:txBody>
      </p:sp>
    </p:spTree>
    <p:extLst>
      <p:ext uri="{BB962C8B-B14F-4D97-AF65-F5344CB8AC3E}">
        <p14:creationId xmlns:p14="http://schemas.microsoft.com/office/powerpoint/2010/main" val="4124255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15</a:t>
            </a:fld>
            <a:endParaRPr lang="en-GB"/>
          </a:p>
        </p:txBody>
      </p:sp>
    </p:spTree>
    <p:extLst>
      <p:ext uri="{BB962C8B-B14F-4D97-AF65-F5344CB8AC3E}">
        <p14:creationId xmlns:p14="http://schemas.microsoft.com/office/powerpoint/2010/main" val="2810507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16</a:t>
            </a:fld>
            <a:endParaRPr lang="en-GB"/>
          </a:p>
        </p:txBody>
      </p:sp>
    </p:spTree>
    <p:extLst>
      <p:ext uri="{BB962C8B-B14F-4D97-AF65-F5344CB8AC3E}">
        <p14:creationId xmlns:p14="http://schemas.microsoft.com/office/powerpoint/2010/main" val="126697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17</a:t>
            </a:fld>
            <a:endParaRPr lang="en-GB"/>
          </a:p>
        </p:txBody>
      </p:sp>
    </p:spTree>
    <p:extLst>
      <p:ext uri="{BB962C8B-B14F-4D97-AF65-F5344CB8AC3E}">
        <p14:creationId xmlns:p14="http://schemas.microsoft.com/office/powerpoint/2010/main" val="4023602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18</a:t>
            </a:fld>
            <a:endParaRPr lang="en-GB"/>
          </a:p>
        </p:txBody>
      </p:sp>
    </p:spTree>
    <p:extLst>
      <p:ext uri="{BB962C8B-B14F-4D97-AF65-F5344CB8AC3E}">
        <p14:creationId xmlns:p14="http://schemas.microsoft.com/office/powerpoint/2010/main" val="738166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19</a:t>
            </a:fld>
            <a:endParaRPr lang="en-GB"/>
          </a:p>
        </p:txBody>
      </p:sp>
    </p:spTree>
    <p:extLst>
      <p:ext uri="{BB962C8B-B14F-4D97-AF65-F5344CB8AC3E}">
        <p14:creationId xmlns:p14="http://schemas.microsoft.com/office/powerpoint/2010/main" val="1390027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20</a:t>
            </a:fld>
            <a:endParaRPr lang="en-GB"/>
          </a:p>
        </p:txBody>
      </p:sp>
    </p:spTree>
    <p:extLst>
      <p:ext uri="{BB962C8B-B14F-4D97-AF65-F5344CB8AC3E}">
        <p14:creationId xmlns:p14="http://schemas.microsoft.com/office/powerpoint/2010/main" val="654177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21</a:t>
            </a:fld>
            <a:endParaRPr lang="en-GB"/>
          </a:p>
        </p:txBody>
      </p:sp>
    </p:spTree>
    <p:extLst>
      <p:ext uri="{BB962C8B-B14F-4D97-AF65-F5344CB8AC3E}">
        <p14:creationId xmlns:p14="http://schemas.microsoft.com/office/powerpoint/2010/main" val="12665806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22</a:t>
            </a:fld>
            <a:endParaRPr lang="en-GB"/>
          </a:p>
        </p:txBody>
      </p:sp>
    </p:spTree>
    <p:extLst>
      <p:ext uri="{BB962C8B-B14F-4D97-AF65-F5344CB8AC3E}">
        <p14:creationId xmlns:p14="http://schemas.microsoft.com/office/powerpoint/2010/main" val="4128603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23</a:t>
            </a:fld>
            <a:endParaRPr lang="en-GB"/>
          </a:p>
        </p:txBody>
      </p:sp>
    </p:spTree>
    <p:extLst>
      <p:ext uri="{BB962C8B-B14F-4D97-AF65-F5344CB8AC3E}">
        <p14:creationId xmlns:p14="http://schemas.microsoft.com/office/powerpoint/2010/main" val="1581613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24</a:t>
            </a:fld>
            <a:endParaRPr lang="en-GB"/>
          </a:p>
        </p:txBody>
      </p:sp>
    </p:spTree>
    <p:extLst>
      <p:ext uri="{BB962C8B-B14F-4D97-AF65-F5344CB8AC3E}">
        <p14:creationId xmlns:p14="http://schemas.microsoft.com/office/powerpoint/2010/main" val="2616295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25</a:t>
            </a:fld>
            <a:endParaRPr lang="en-GB"/>
          </a:p>
        </p:txBody>
      </p:sp>
    </p:spTree>
    <p:extLst>
      <p:ext uri="{BB962C8B-B14F-4D97-AF65-F5344CB8AC3E}">
        <p14:creationId xmlns:p14="http://schemas.microsoft.com/office/powerpoint/2010/main" val="3422444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26</a:t>
            </a:fld>
            <a:endParaRPr lang="en-GB"/>
          </a:p>
        </p:txBody>
      </p:sp>
    </p:spTree>
    <p:extLst>
      <p:ext uri="{BB962C8B-B14F-4D97-AF65-F5344CB8AC3E}">
        <p14:creationId xmlns:p14="http://schemas.microsoft.com/office/powerpoint/2010/main" val="292674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Francesco</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27</a:t>
            </a:fld>
            <a:endParaRPr lang="en-GB"/>
          </a:p>
        </p:txBody>
      </p:sp>
    </p:spTree>
    <p:extLst>
      <p:ext uri="{BB962C8B-B14F-4D97-AF65-F5344CB8AC3E}">
        <p14:creationId xmlns:p14="http://schemas.microsoft.com/office/powerpoint/2010/main" val="147993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28</a:t>
            </a:fld>
            <a:endParaRPr lang="en-GB"/>
          </a:p>
        </p:txBody>
      </p:sp>
    </p:spTree>
    <p:extLst>
      <p:ext uri="{BB962C8B-B14F-4D97-AF65-F5344CB8AC3E}">
        <p14:creationId xmlns:p14="http://schemas.microsoft.com/office/powerpoint/2010/main" val="7012280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29</a:t>
            </a:fld>
            <a:endParaRPr lang="en-GB"/>
          </a:p>
        </p:txBody>
      </p:sp>
    </p:spTree>
    <p:extLst>
      <p:ext uri="{BB962C8B-B14F-4D97-AF65-F5344CB8AC3E}">
        <p14:creationId xmlns:p14="http://schemas.microsoft.com/office/powerpoint/2010/main" val="3480633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Simone</a:t>
            </a:r>
            <a:endParaRPr lang="en-GB"/>
          </a:p>
        </p:txBody>
      </p:sp>
      <p:sp>
        <p:nvSpPr>
          <p:cNvPr id="4" name="Slide Number Placeholder 3"/>
          <p:cNvSpPr>
            <a:spLocks noGrp="1"/>
          </p:cNvSpPr>
          <p:nvPr>
            <p:ph type="sldNum" sz="quarter" idx="5"/>
          </p:nvPr>
        </p:nvSpPr>
        <p:spPr/>
        <p:txBody>
          <a:bodyPr/>
          <a:lstStyle/>
          <a:p>
            <a:fld id="{949A3975-9001-4A18-854C-DE57AD09E799}" type="slidenum">
              <a:rPr lang="en-GB" smtClean="0"/>
              <a:t>30</a:t>
            </a:fld>
            <a:endParaRPr lang="en-GB"/>
          </a:p>
        </p:txBody>
      </p:sp>
    </p:spTree>
    <p:extLst>
      <p:ext uri="{BB962C8B-B14F-4D97-AF65-F5344CB8AC3E}">
        <p14:creationId xmlns:p14="http://schemas.microsoft.com/office/powerpoint/2010/main" val="138358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2/10/2026</a:t>
            </a:fld>
            <a:endParaRPr lang="en-US"/>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56614973"/>
      </p:ext>
    </p:extLst>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2/10/2026</a:t>
            </a:fld>
            <a:endParaRPr lang="en-US"/>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559785509"/>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2/10/2026</a:t>
            </a:fld>
            <a:endParaRPr lang="en-US"/>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16015630"/>
      </p:ext>
    </p:extLst>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2/10/2026</a:t>
            </a:fld>
            <a:endParaRPr lang="en-US"/>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94395575"/>
      </p:ext>
    </p:extLst>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2/10/2026</a:t>
            </a:fld>
            <a:endParaRPr lang="en-US"/>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726472748"/>
      </p:ext>
    </p:extLst>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2/10/2026</a:t>
            </a:fld>
            <a:endParaRPr lang="en-US"/>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42015638"/>
      </p:ext>
    </p:extLst>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2/10/2026</a:t>
            </a:fld>
            <a:endParaRPr lang="en-US"/>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799432615"/>
      </p:ext>
    </p:extLst>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2/10/2026</a:t>
            </a:fld>
            <a:endParaRPr lang="en-US"/>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804322432"/>
      </p:ext>
    </p:extLst>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2/10/2026</a:t>
            </a:fld>
            <a:endParaRPr lang="en-US"/>
          </a:p>
        </p:txBody>
      </p:sp>
      <p:sp>
        <p:nvSpPr>
          <p:cNvPr id="6" name="Footer Placeholder 5"/>
          <p:cNvSpPr>
            <a:spLocks noGrp="1"/>
          </p:cNvSpPr>
          <p:nvPr>
            <p:ph type="ftr" sz="quarter" idx="11"/>
          </p:nvPr>
        </p:nvSpPr>
        <p:spPr>
          <a:xfrm>
            <a:off x="1097279" y="6446838"/>
            <a:ext cx="6818262" cy="365125"/>
          </a:xfr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395385876"/>
      </p:ext>
    </p:extLst>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2/10/2026</a:t>
            </a:fld>
            <a:endParaRPr lang="en-US"/>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489186922"/>
      </p:ext>
    </p:extLst>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2/10/2026</a:t>
            </a:fld>
            <a:endParaRPr lang="en-US"/>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34164463"/>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2/10/2026</a:t>
            </a:fld>
            <a:endParaRPr lang="en-US"/>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0272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ransition>
    <p:wipe/>
  </p:transition>
  <p:hf sldNum="0" hdr="0" ftr="0" dt="0"/>
  <p:txStyles>
    <p:title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9.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9.svg"/></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1.png"/><Relationship Id="rId7" Type="http://schemas.openxmlformats.org/officeDocument/2006/relationships/image" Target="../media/image11.svg"/><Relationship Id="rId12" Type="http://schemas.openxmlformats.org/officeDocument/2006/relationships/image" Target="../media/image13.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svg"/><Relationship Id="rId10" Type="http://schemas.openxmlformats.org/officeDocument/2006/relationships/image" Target="../media/image54.svg"/><Relationship Id="rId4" Type="http://schemas.openxmlformats.org/officeDocument/2006/relationships/image" Target="../media/image8.png"/><Relationship Id="rId9" Type="http://schemas.openxmlformats.org/officeDocument/2006/relationships/image" Target="../media/image53.png"/></Relationships>
</file>

<file path=ppt/slides/_rels/slide20.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4.png"/><Relationship Id="rId7"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svg"/><Relationship Id="rId9" Type="http://schemas.openxmlformats.org/officeDocument/2006/relationships/image" Target="../media/image59.png"/></Relationships>
</file>

<file path=ppt/slides/_rels/slide21.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10.png"/><Relationship Id="rId7" Type="http://schemas.openxmlformats.org/officeDocument/2006/relationships/image" Target="../media/image62.png"/><Relationship Id="rId12" Type="http://schemas.openxmlformats.org/officeDocument/2006/relationships/image" Target="../media/image67.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1.sv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11.svg"/><Relationship Id="rId9" Type="http://schemas.openxmlformats.org/officeDocument/2006/relationships/image" Target="../media/image64.png"/></Relationships>
</file>

<file path=ppt/slides/_rels/slide2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13.svg"/><Relationship Id="rId9" Type="http://schemas.openxmlformats.org/officeDocument/2006/relationships/image" Target="../media/image70.png"/></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2.svg"/></Relationships>
</file>

<file path=ppt/slides/_rels/slide24.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jpeg"/><Relationship Id="rId10" Type="http://schemas.openxmlformats.org/officeDocument/2006/relationships/image" Target="../media/image80.jpeg"/><Relationship Id="rId4" Type="http://schemas.openxmlformats.org/officeDocument/2006/relationships/image" Target="../media/image74.svg"/><Relationship Id="rId9" Type="http://schemas.openxmlformats.org/officeDocument/2006/relationships/image" Target="../media/image79.svg"/></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11.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89296-0F90-4F75-E08A-8757DEE485CA}"/>
              </a:ext>
            </a:extLst>
          </p:cNvPr>
          <p:cNvSpPr>
            <a:spLocks noGrp="1"/>
          </p:cNvSpPr>
          <p:nvPr>
            <p:ph type="ctrTitle"/>
          </p:nvPr>
        </p:nvSpPr>
        <p:spPr>
          <a:xfrm>
            <a:off x="5289754" y="639097"/>
            <a:ext cx="6253317" cy="3686015"/>
          </a:xfrm>
        </p:spPr>
        <p:txBody>
          <a:bodyPr>
            <a:normAutofit/>
          </a:bodyPr>
          <a:lstStyle/>
          <a:p>
            <a:r>
              <a:rPr lang="en-GB"/>
              <a:t>DigitalBin</a:t>
            </a:r>
          </a:p>
        </p:txBody>
      </p:sp>
      <p:sp>
        <p:nvSpPr>
          <p:cNvPr id="3" name="Subtitle 2">
            <a:extLst>
              <a:ext uri="{FF2B5EF4-FFF2-40B4-BE49-F238E27FC236}">
                <a16:creationId xmlns:a16="http://schemas.microsoft.com/office/drawing/2014/main" id="{2B949D43-52D6-7BCB-2FD9-6751377D3374}"/>
              </a:ext>
            </a:extLst>
          </p:cNvPr>
          <p:cNvSpPr>
            <a:spLocks noGrp="1"/>
          </p:cNvSpPr>
          <p:nvPr>
            <p:ph type="subTitle" idx="1"/>
          </p:nvPr>
        </p:nvSpPr>
        <p:spPr>
          <a:xfrm>
            <a:off x="5289753" y="4672739"/>
            <a:ext cx="6269347" cy="1021498"/>
          </a:xfrm>
        </p:spPr>
        <p:txBody>
          <a:bodyPr vert="horz" lIns="91440" tIns="45720" rIns="91440" bIns="45720" rtlCol="0">
            <a:normAutofit lnSpcReduction="10000"/>
          </a:bodyPr>
          <a:lstStyle/>
          <a:p>
            <a:r>
              <a:rPr lang="en-GB">
                <a:solidFill>
                  <a:schemeClr val="tx1">
                    <a:lumMod val="85000"/>
                    <a:lumOff val="15000"/>
                  </a:schemeClr>
                </a:solidFill>
              </a:rPr>
              <a:t>Simone </a:t>
            </a:r>
            <a:r>
              <a:rPr lang="en-GB" err="1">
                <a:solidFill>
                  <a:schemeClr val="tx1">
                    <a:lumMod val="85000"/>
                    <a:lumOff val="15000"/>
                  </a:schemeClr>
                </a:solidFill>
              </a:rPr>
              <a:t>aresta</a:t>
            </a:r>
            <a:r>
              <a:rPr lang="en-GB">
                <a:solidFill>
                  <a:schemeClr val="tx1">
                    <a:lumMod val="85000"/>
                    <a:lumOff val="15000"/>
                  </a:schemeClr>
                </a:solidFill>
              </a:rPr>
              <a:t> </a:t>
            </a:r>
          </a:p>
          <a:p>
            <a:r>
              <a:rPr lang="en-GB">
                <a:solidFill>
                  <a:schemeClr val="tx1">
                    <a:lumMod val="85000"/>
                    <a:lumOff val="15000"/>
                  </a:schemeClr>
                </a:solidFill>
              </a:rPr>
              <a:t>francesco </a:t>
            </a:r>
            <a:r>
              <a:rPr lang="en-GB" err="1">
                <a:solidFill>
                  <a:schemeClr val="tx1">
                    <a:lumMod val="85000"/>
                    <a:lumOff val="15000"/>
                  </a:schemeClr>
                </a:solidFill>
              </a:rPr>
              <a:t>pietri</a:t>
            </a:r>
            <a:endParaRPr lang="en-GB">
              <a:solidFill>
                <a:schemeClr val="tx1">
                  <a:lumMod val="85000"/>
                  <a:lumOff val="15000"/>
                </a:schemeClr>
              </a:solidFill>
            </a:endParaRPr>
          </a:p>
        </p:txBody>
      </p:sp>
      <p:pic>
        <p:nvPicPr>
          <p:cNvPr id="6" name="Picture 5">
            <a:extLst>
              <a:ext uri="{FF2B5EF4-FFF2-40B4-BE49-F238E27FC236}">
                <a16:creationId xmlns:a16="http://schemas.microsoft.com/office/drawing/2014/main" id="{3C5992E2-DFB5-4910-0DA2-A60E600463D8}"/>
              </a:ext>
            </a:extLst>
          </p:cNvPr>
          <p:cNvPicPr>
            <a:picLocks noChangeAspect="1"/>
          </p:cNvPicPr>
          <p:nvPr/>
        </p:nvPicPr>
        <p:blipFill>
          <a:blip r:embed="rId3">
            <a:extLst>
              <a:ext uri="{28A0092B-C50C-407E-A947-70E740481C1C}">
                <a14:useLocalDpi xmlns:a14="http://schemas.microsoft.com/office/drawing/2010/main" val="0"/>
              </a:ext>
            </a:extLst>
          </a:blip>
          <a:srcRect t="1916" b="1916"/>
          <a:stretch/>
        </p:blipFill>
        <p:spPr>
          <a:xfrm>
            <a:off x="-1" y="1"/>
            <a:ext cx="4635315" cy="6857999"/>
          </a:xfrm>
          <a:prstGeom prst="rect">
            <a:avLst/>
          </a:prstGeom>
        </p:spPr>
      </p:pic>
      <p:cxnSp>
        <p:nvCxnSpPr>
          <p:cNvPr id="39" name="Straight Connector 3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04015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descr="A trash can on the side of a street&#10;&#10;AI-generated content may be incorrect.">
            <a:extLst>
              <a:ext uri="{FF2B5EF4-FFF2-40B4-BE49-F238E27FC236}">
                <a16:creationId xmlns:a16="http://schemas.microsoft.com/office/drawing/2014/main" id="{B4139280-548C-8B71-A886-81B3B9FC00F5}"/>
              </a:ext>
            </a:extLst>
          </p:cNvPr>
          <p:cNvPicPr>
            <a:picLocks noChangeAspect="1"/>
          </p:cNvPicPr>
          <p:nvPr/>
        </p:nvPicPr>
        <p:blipFill>
          <a:blip r:embed="rId3">
            <a:alphaModFix amt="35000"/>
          </a:blip>
          <a:srcRect r="11067"/>
          <a:stretch>
            <a:fillRect/>
          </a:stretch>
        </p:blipFill>
        <p:spPr>
          <a:xfrm>
            <a:off x="-2" y="10"/>
            <a:ext cx="6099048" cy="6857990"/>
          </a:xfrm>
          <a:prstGeom prst="rect">
            <a:avLst/>
          </a:prstGeom>
        </p:spPr>
      </p:pic>
      <p:pic>
        <p:nvPicPr>
          <p:cNvPr id="50" name="Picture 49" descr="A person sweeping leaves with a broom&#10;&#10;AI-generated content may be incorrect.">
            <a:extLst>
              <a:ext uri="{FF2B5EF4-FFF2-40B4-BE49-F238E27FC236}">
                <a16:creationId xmlns:a16="http://schemas.microsoft.com/office/drawing/2014/main" id="{5F2B09C7-7245-9AF2-B5A7-6F058385D51A}"/>
              </a:ext>
            </a:extLst>
          </p:cNvPr>
          <p:cNvPicPr>
            <a:picLocks noChangeAspect="1"/>
          </p:cNvPicPr>
          <p:nvPr/>
        </p:nvPicPr>
        <p:blipFill>
          <a:blip r:embed="rId4">
            <a:alphaModFix amt="35000"/>
          </a:blip>
          <a:srcRect l="38793" r="10318" b="1"/>
          <a:stretch>
            <a:fillRect/>
          </a:stretch>
        </p:blipFill>
        <p:spPr>
          <a:xfrm>
            <a:off x="6096001" y="10"/>
            <a:ext cx="6096001" cy="6857990"/>
          </a:xfrm>
          <a:prstGeom prst="rect">
            <a:avLst/>
          </a:prstGeom>
        </p:spPr>
      </p:pic>
      <p:sp>
        <p:nvSpPr>
          <p:cNvPr id="2" name="Title 1">
            <a:extLst>
              <a:ext uri="{FF2B5EF4-FFF2-40B4-BE49-F238E27FC236}">
                <a16:creationId xmlns:a16="http://schemas.microsoft.com/office/drawing/2014/main" id="{02A03359-F513-4CC1-5267-80BC37FF8AD5}"/>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a:t>Main Goals</a:t>
            </a:r>
          </a:p>
        </p:txBody>
      </p:sp>
      <p:cxnSp>
        <p:nvCxnSpPr>
          <p:cNvPr id="59" name="Straight Connector 58">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aphicFrame>
        <p:nvGraphicFramePr>
          <p:cNvPr id="23" name="TextBox 3">
            <a:extLst>
              <a:ext uri="{FF2B5EF4-FFF2-40B4-BE49-F238E27FC236}">
                <a16:creationId xmlns:a16="http://schemas.microsoft.com/office/drawing/2014/main" id="{112B80BD-64C6-E658-AA6E-2C9B4C3560D9}"/>
              </a:ext>
            </a:extLst>
          </p:cNvPr>
          <p:cNvGraphicFramePr/>
          <p:nvPr>
            <p:extLst>
              <p:ext uri="{D42A27DB-BD31-4B8C-83A1-F6EECF244321}">
                <p14:modId xmlns:p14="http://schemas.microsoft.com/office/powerpoint/2010/main" val="2152560545"/>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006675194"/>
      </p:ext>
    </p:extLst>
  </p:cSld>
  <p:clrMapOvr>
    <a:overrideClrMapping bg1="dk1" tx1="lt1" bg2="dk2" tx2="lt2" accent1="accent1" accent2="accent2" accent3="accent3" accent4="accent4" accent5="accent5" accent6="accent6" hlink="hlink" folHlink="folHlink"/>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9DFD-96E8-60AF-E7FE-4F702A6FC411}"/>
              </a:ext>
            </a:extLst>
          </p:cNvPr>
          <p:cNvSpPr>
            <a:spLocks noGrp="1"/>
          </p:cNvSpPr>
          <p:nvPr>
            <p:ph type="title"/>
          </p:nvPr>
        </p:nvSpPr>
        <p:spPr>
          <a:xfrm>
            <a:off x="1122965" y="681391"/>
            <a:ext cx="10058400" cy="588468"/>
          </a:xfrm>
        </p:spPr>
        <p:txBody>
          <a:bodyPr>
            <a:normAutofit fontScale="90000"/>
          </a:bodyPr>
          <a:lstStyle/>
          <a:p>
            <a:pPr algn="ctr"/>
            <a:r>
              <a:rPr lang="it-IT" err="1">
                <a:ea typeface="+mj-lt"/>
                <a:cs typeface="+mj-lt"/>
              </a:rPr>
              <a:t>Infrastructure</a:t>
            </a:r>
            <a:r>
              <a:rPr lang="it-IT">
                <a:ea typeface="+mj-lt"/>
                <a:cs typeface="+mj-lt"/>
              </a:rPr>
              <a:t> </a:t>
            </a:r>
            <a:r>
              <a:rPr lang="it-IT" err="1"/>
              <a:t>Overview</a:t>
            </a:r>
            <a:endParaRPr lang="en-GB" err="1"/>
          </a:p>
        </p:txBody>
      </p:sp>
      <p:pic>
        <p:nvPicPr>
          <p:cNvPr id="13" name="Graphic 12" descr="Garbage outline">
            <a:extLst>
              <a:ext uri="{FF2B5EF4-FFF2-40B4-BE49-F238E27FC236}">
                <a16:creationId xmlns:a16="http://schemas.microsoft.com/office/drawing/2014/main" id="{8106CD62-C370-5709-249F-0C8892CDD6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68305" y="2858711"/>
            <a:ext cx="685800" cy="685800"/>
          </a:xfrm>
          <a:prstGeom prst="rect">
            <a:avLst/>
          </a:prstGeom>
        </p:spPr>
      </p:pic>
      <p:pic>
        <p:nvPicPr>
          <p:cNvPr id="14" name="Graphic 13" descr="Garbage outline">
            <a:extLst>
              <a:ext uri="{FF2B5EF4-FFF2-40B4-BE49-F238E27FC236}">
                <a16:creationId xmlns:a16="http://schemas.microsoft.com/office/drawing/2014/main" id="{35C67E44-A945-FD97-8564-E189317770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9665" y="4859159"/>
            <a:ext cx="685800" cy="685800"/>
          </a:xfrm>
          <a:prstGeom prst="rect">
            <a:avLst/>
          </a:prstGeom>
        </p:spPr>
      </p:pic>
      <p:pic>
        <p:nvPicPr>
          <p:cNvPr id="15" name="Graphic 14" descr="Garbage outline">
            <a:extLst>
              <a:ext uri="{FF2B5EF4-FFF2-40B4-BE49-F238E27FC236}">
                <a16:creationId xmlns:a16="http://schemas.microsoft.com/office/drawing/2014/main" id="{041DF2E0-8D19-AC7B-D0FF-90C662F178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6851" y="2828465"/>
            <a:ext cx="685800" cy="685800"/>
          </a:xfrm>
          <a:prstGeom prst="rect">
            <a:avLst/>
          </a:prstGeom>
        </p:spPr>
      </p:pic>
      <p:pic>
        <p:nvPicPr>
          <p:cNvPr id="16" name="Graphic 15" descr="Garbage outline">
            <a:extLst>
              <a:ext uri="{FF2B5EF4-FFF2-40B4-BE49-F238E27FC236}">
                <a16:creationId xmlns:a16="http://schemas.microsoft.com/office/drawing/2014/main" id="{DAD4FEA2-4299-BD5C-16CE-631124F29A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3717" y="4800229"/>
            <a:ext cx="685800" cy="685800"/>
          </a:xfrm>
          <a:prstGeom prst="rect">
            <a:avLst/>
          </a:prstGeom>
        </p:spPr>
      </p:pic>
      <p:pic>
        <p:nvPicPr>
          <p:cNvPr id="17" name="Graphic 16" descr="Building outline">
            <a:extLst>
              <a:ext uri="{FF2B5EF4-FFF2-40B4-BE49-F238E27FC236}">
                <a16:creationId xmlns:a16="http://schemas.microsoft.com/office/drawing/2014/main" id="{6E3DD094-DB31-81C9-E3A3-88754799059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45494" y="3825484"/>
            <a:ext cx="707572" cy="783772"/>
          </a:xfrm>
          <a:prstGeom prst="rect">
            <a:avLst/>
          </a:prstGeom>
        </p:spPr>
      </p:pic>
      <p:sp>
        <p:nvSpPr>
          <p:cNvPr id="19" name="Rectangle 18">
            <a:extLst>
              <a:ext uri="{FF2B5EF4-FFF2-40B4-BE49-F238E27FC236}">
                <a16:creationId xmlns:a16="http://schemas.microsoft.com/office/drawing/2014/main" id="{4226B709-F189-378D-C423-9C6225CFA01F}"/>
              </a:ext>
            </a:extLst>
          </p:cNvPr>
          <p:cNvSpPr/>
          <p:nvPr/>
        </p:nvSpPr>
        <p:spPr>
          <a:xfrm>
            <a:off x="1457848" y="2551444"/>
            <a:ext cx="3679372" cy="34181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Garbage outline">
            <a:extLst>
              <a:ext uri="{FF2B5EF4-FFF2-40B4-BE49-F238E27FC236}">
                <a16:creationId xmlns:a16="http://schemas.microsoft.com/office/drawing/2014/main" id="{C6B45E9B-74B6-74E2-83FC-DAC8E24F75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4604" y="5196615"/>
            <a:ext cx="685800" cy="685800"/>
          </a:xfrm>
          <a:prstGeom prst="rect">
            <a:avLst/>
          </a:prstGeom>
        </p:spPr>
      </p:pic>
      <p:pic>
        <p:nvPicPr>
          <p:cNvPr id="21" name="Graphic 20" descr="Garbage outline">
            <a:extLst>
              <a:ext uri="{FF2B5EF4-FFF2-40B4-BE49-F238E27FC236}">
                <a16:creationId xmlns:a16="http://schemas.microsoft.com/office/drawing/2014/main" id="{830B06D8-0217-B658-B75F-08AD25E084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99907" y="2512979"/>
            <a:ext cx="685800" cy="685800"/>
          </a:xfrm>
          <a:prstGeom prst="rect">
            <a:avLst/>
          </a:prstGeom>
        </p:spPr>
      </p:pic>
      <p:pic>
        <p:nvPicPr>
          <p:cNvPr id="22" name="Graphic 21" descr="Garbage outline">
            <a:extLst>
              <a:ext uri="{FF2B5EF4-FFF2-40B4-BE49-F238E27FC236}">
                <a16:creationId xmlns:a16="http://schemas.microsoft.com/office/drawing/2014/main" id="{A58DFB79-1340-8331-3977-ECD8263687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1875" y="3822346"/>
            <a:ext cx="685800" cy="685800"/>
          </a:xfrm>
          <a:prstGeom prst="rect">
            <a:avLst/>
          </a:prstGeom>
        </p:spPr>
      </p:pic>
      <p:pic>
        <p:nvPicPr>
          <p:cNvPr id="23" name="Graphic 22" descr="Garbage outline">
            <a:extLst>
              <a:ext uri="{FF2B5EF4-FFF2-40B4-BE49-F238E27FC236}">
                <a16:creationId xmlns:a16="http://schemas.microsoft.com/office/drawing/2014/main" id="{782EEE25-F005-9201-CB89-2034A036FA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03547" y="3779214"/>
            <a:ext cx="685800" cy="685800"/>
          </a:xfrm>
          <a:prstGeom prst="rect">
            <a:avLst/>
          </a:prstGeom>
        </p:spPr>
      </p:pic>
      <p:sp>
        <p:nvSpPr>
          <p:cNvPr id="25" name="TextBox 24">
            <a:extLst>
              <a:ext uri="{FF2B5EF4-FFF2-40B4-BE49-F238E27FC236}">
                <a16:creationId xmlns:a16="http://schemas.microsoft.com/office/drawing/2014/main" id="{445EA6FA-6CF8-5097-3C4E-8897BC2FC1F6}"/>
              </a:ext>
            </a:extLst>
          </p:cNvPr>
          <p:cNvSpPr txBox="1"/>
          <p:nvPr/>
        </p:nvSpPr>
        <p:spPr>
          <a:xfrm>
            <a:off x="2960075" y="2181331"/>
            <a:ext cx="7075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10km</a:t>
            </a:r>
          </a:p>
        </p:txBody>
      </p:sp>
      <p:cxnSp>
        <p:nvCxnSpPr>
          <p:cNvPr id="26" name="Straight Arrow Connector 25">
            <a:extLst>
              <a:ext uri="{FF2B5EF4-FFF2-40B4-BE49-F238E27FC236}">
                <a16:creationId xmlns:a16="http://schemas.microsoft.com/office/drawing/2014/main" id="{3BAE06B9-02E6-BA2C-D1E6-0F81385BD93D}"/>
              </a:ext>
            </a:extLst>
          </p:cNvPr>
          <p:cNvCxnSpPr/>
          <p:nvPr/>
        </p:nvCxnSpPr>
        <p:spPr>
          <a:xfrm flipV="1">
            <a:off x="3638479" y="2376849"/>
            <a:ext cx="1491342" cy="39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C194248-CDDB-0A29-4925-80C5CBFF1407}"/>
              </a:ext>
            </a:extLst>
          </p:cNvPr>
          <p:cNvCxnSpPr>
            <a:cxnSpLocks/>
          </p:cNvCxnSpPr>
          <p:nvPr/>
        </p:nvCxnSpPr>
        <p:spPr>
          <a:xfrm flipH="1">
            <a:off x="1460384" y="2373362"/>
            <a:ext cx="1504871" cy="108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CF7F6C10-F638-2B2F-C305-A7F02D7F01B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72699" y="1968012"/>
            <a:ext cx="5907175" cy="1397976"/>
          </a:xfrm>
          <a:prstGeom prst="rect">
            <a:avLst/>
          </a:prstGeom>
        </p:spPr>
      </p:pic>
      <p:sp>
        <p:nvSpPr>
          <p:cNvPr id="32" name="TextBox 31">
            <a:extLst>
              <a:ext uri="{FF2B5EF4-FFF2-40B4-BE49-F238E27FC236}">
                <a16:creationId xmlns:a16="http://schemas.microsoft.com/office/drawing/2014/main" id="{20FD4950-6BC1-AC24-4FA2-599D7B94FF48}"/>
              </a:ext>
            </a:extLst>
          </p:cNvPr>
          <p:cNvSpPr txBox="1"/>
          <p:nvPr/>
        </p:nvSpPr>
        <p:spPr>
          <a:xfrm>
            <a:off x="6154616" y="3290835"/>
            <a:ext cx="11136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err="1"/>
              <a:t>HiveMQ</a:t>
            </a:r>
            <a:r>
              <a:rPr lang="en-US" sz="1200"/>
              <a:t> public </a:t>
            </a:r>
            <a:endParaRPr lang="en-US"/>
          </a:p>
          <a:p>
            <a:r>
              <a:rPr lang="en-US" sz="1200"/>
              <a:t>MQTT Broker</a:t>
            </a:r>
            <a:endParaRPr lang="en-US"/>
          </a:p>
        </p:txBody>
      </p:sp>
      <p:pic>
        <p:nvPicPr>
          <p:cNvPr id="33" name="Graphic 32" descr="Computer outline">
            <a:extLst>
              <a:ext uri="{FF2B5EF4-FFF2-40B4-BE49-F238E27FC236}">
                <a16:creationId xmlns:a16="http://schemas.microsoft.com/office/drawing/2014/main" id="{E1AC6DA3-B78C-71C3-1E00-98755B0C918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9130" y="4654899"/>
            <a:ext cx="1240972" cy="1249345"/>
          </a:xfrm>
          <a:prstGeom prst="rect">
            <a:avLst/>
          </a:prstGeom>
        </p:spPr>
      </p:pic>
      <p:sp>
        <p:nvSpPr>
          <p:cNvPr id="36" name="TextBox 35">
            <a:extLst>
              <a:ext uri="{FF2B5EF4-FFF2-40B4-BE49-F238E27FC236}">
                <a16:creationId xmlns:a16="http://schemas.microsoft.com/office/drawing/2014/main" id="{DADDCC3E-498E-A69D-2438-E3B6D99A4AB0}"/>
              </a:ext>
            </a:extLst>
          </p:cNvPr>
          <p:cNvSpPr txBox="1"/>
          <p:nvPr/>
        </p:nvSpPr>
        <p:spPr>
          <a:xfrm>
            <a:off x="7134329" y="5719187"/>
            <a:ext cx="18589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Central Controller</a:t>
            </a:r>
          </a:p>
        </p:txBody>
      </p:sp>
      <p:pic>
        <p:nvPicPr>
          <p:cNvPr id="37" name="Graphic 36">
            <a:extLst>
              <a:ext uri="{FF2B5EF4-FFF2-40B4-BE49-F238E27FC236}">
                <a16:creationId xmlns:a16="http://schemas.microsoft.com/office/drawing/2014/main" id="{43C00C66-655E-1E0B-B3BA-40212DAC5D2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30682" y="2035002"/>
            <a:ext cx="1121647" cy="1155142"/>
          </a:xfrm>
          <a:prstGeom prst="rect">
            <a:avLst/>
          </a:prstGeom>
        </p:spPr>
      </p:pic>
      <p:sp>
        <p:nvSpPr>
          <p:cNvPr id="38" name="TextBox 37">
            <a:extLst>
              <a:ext uri="{FF2B5EF4-FFF2-40B4-BE49-F238E27FC236}">
                <a16:creationId xmlns:a16="http://schemas.microsoft.com/office/drawing/2014/main" id="{9135A497-FC48-E109-E520-C1F3C2DECC16}"/>
              </a:ext>
            </a:extLst>
          </p:cNvPr>
          <p:cNvSpPr txBox="1"/>
          <p:nvPr/>
        </p:nvSpPr>
        <p:spPr>
          <a:xfrm>
            <a:off x="8423868" y="3366197"/>
            <a:ext cx="21352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Public </a:t>
            </a:r>
            <a:r>
              <a:rPr lang="en-US" sz="1200" err="1"/>
              <a:t>Thingsboard</a:t>
            </a:r>
            <a:r>
              <a:rPr lang="en-US" sz="1200"/>
              <a:t> CE instance</a:t>
            </a:r>
          </a:p>
        </p:txBody>
      </p:sp>
      <p:sp>
        <p:nvSpPr>
          <p:cNvPr id="4" name="Arrow: Right 3">
            <a:extLst>
              <a:ext uri="{FF2B5EF4-FFF2-40B4-BE49-F238E27FC236}">
                <a16:creationId xmlns:a16="http://schemas.microsoft.com/office/drawing/2014/main" id="{C6592C3F-D668-F044-BC22-FD0551EADB08}"/>
              </a:ext>
            </a:extLst>
          </p:cNvPr>
          <p:cNvSpPr/>
          <p:nvPr/>
        </p:nvSpPr>
        <p:spPr>
          <a:xfrm>
            <a:off x="5208947" y="2519682"/>
            <a:ext cx="766931" cy="187457"/>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Arrow: Right 4">
            <a:extLst>
              <a:ext uri="{FF2B5EF4-FFF2-40B4-BE49-F238E27FC236}">
                <a16:creationId xmlns:a16="http://schemas.microsoft.com/office/drawing/2014/main" id="{9FF1D0C3-3D3D-89E6-0AE2-4E7E6F85157C}"/>
              </a:ext>
            </a:extLst>
          </p:cNvPr>
          <p:cNvSpPr/>
          <p:nvPr/>
        </p:nvSpPr>
        <p:spPr>
          <a:xfrm rot="3960000">
            <a:off x="6627581" y="4296328"/>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Arrow: Right 6">
            <a:extLst>
              <a:ext uri="{FF2B5EF4-FFF2-40B4-BE49-F238E27FC236}">
                <a16:creationId xmlns:a16="http://schemas.microsoft.com/office/drawing/2014/main" id="{569B4593-7080-FE96-E90F-AADE97D39007}"/>
              </a:ext>
            </a:extLst>
          </p:cNvPr>
          <p:cNvSpPr/>
          <p:nvPr/>
        </p:nvSpPr>
        <p:spPr>
          <a:xfrm rot="14700000">
            <a:off x="6884341" y="4213501"/>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Arrow: Right 7">
            <a:extLst>
              <a:ext uri="{FF2B5EF4-FFF2-40B4-BE49-F238E27FC236}">
                <a16:creationId xmlns:a16="http://schemas.microsoft.com/office/drawing/2014/main" id="{BF41B645-A0CD-0725-9597-84FA07BFCA1E}"/>
              </a:ext>
            </a:extLst>
          </p:cNvPr>
          <p:cNvSpPr/>
          <p:nvPr/>
        </p:nvSpPr>
        <p:spPr>
          <a:xfrm rot="-3900000">
            <a:off x="8159864" y="4213502"/>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Arrow: Right 8">
            <a:extLst>
              <a:ext uri="{FF2B5EF4-FFF2-40B4-BE49-F238E27FC236}">
                <a16:creationId xmlns:a16="http://schemas.microsoft.com/office/drawing/2014/main" id="{98677FC9-3B1C-5CDF-42F9-AB73930C14BD}"/>
              </a:ext>
            </a:extLst>
          </p:cNvPr>
          <p:cNvSpPr/>
          <p:nvPr/>
        </p:nvSpPr>
        <p:spPr>
          <a:xfrm rot="6900000">
            <a:off x="8366929" y="4329458"/>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Arrow: Right 2">
            <a:extLst>
              <a:ext uri="{FF2B5EF4-FFF2-40B4-BE49-F238E27FC236}">
                <a16:creationId xmlns:a16="http://schemas.microsoft.com/office/drawing/2014/main" id="{5F3283E7-24E8-83D9-B56E-FB56036557A0}"/>
              </a:ext>
            </a:extLst>
          </p:cNvPr>
          <p:cNvSpPr/>
          <p:nvPr/>
        </p:nvSpPr>
        <p:spPr>
          <a:xfrm rot="2340000" flipV="1">
            <a:off x="3564852" y="4751661"/>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Right 9">
            <a:extLst>
              <a:ext uri="{FF2B5EF4-FFF2-40B4-BE49-F238E27FC236}">
                <a16:creationId xmlns:a16="http://schemas.microsoft.com/office/drawing/2014/main" id="{98294450-183C-1B5E-EA1D-C8C1F95B64BD}"/>
              </a:ext>
            </a:extLst>
          </p:cNvPr>
          <p:cNvSpPr/>
          <p:nvPr/>
        </p:nvSpPr>
        <p:spPr>
          <a:xfrm rot="-8400000" flipV="1">
            <a:off x="3564851" y="4607887"/>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Arrow: Right 23">
            <a:extLst>
              <a:ext uri="{FF2B5EF4-FFF2-40B4-BE49-F238E27FC236}">
                <a16:creationId xmlns:a16="http://schemas.microsoft.com/office/drawing/2014/main" id="{F42871E8-BE70-ED28-1765-6A327CE630CB}"/>
              </a:ext>
            </a:extLst>
          </p:cNvPr>
          <p:cNvSpPr/>
          <p:nvPr/>
        </p:nvSpPr>
        <p:spPr>
          <a:xfrm rot="10800000" flipV="1">
            <a:off x="3708625" y="4032791"/>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Arrow: Right 26">
            <a:extLst>
              <a:ext uri="{FF2B5EF4-FFF2-40B4-BE49-F238E27FC236}">
                <a16:creationId xmlns:a16="http://schemas.microsoft.com/office/drawing/2014/main" id="{1EDA9EDC-D76E-7FC1-B707-91B1AB2DFF14}"/>
              </a:ext>
            </a:extLst>
          </p:cNvPr>
          <p:cNvSpPr/>
          <p:nvPr/>
        </p:nvSpPr>
        <p:spPr>
          <a:xfrm flipV="1">
            <a:off x="3809266" y="4133432"/>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Arrow: Right 28">
            <a:extLst>
              <a:ext uri="{FF2B5EF4-FFF2-40B4-BE49-F238E27FC236}">
                <a16:creationId xmlns:a16="http://schemas.microsoft.com/office/drawing/2014/main" id="{F9C301AB-4DA5-DCD5-0B71-444194EA7069}"/>
              </a:ext>
            </a:extLst>
          </p:cNvPr>
          <p:cNvSpPr/>
          <p:nvPr/>
        </p:nvSpPr>
        <p:spPr>
          <a:xfrm rot="8280000" flipV="1">
            <a:off x="3485776" y="3579904"/>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Arrow: Right 30">
            <a:extLst>
              <a:ext uri="{FF2B5EF4-FFF2-40B4-BE49-F238E27FC236}">
                <a16:creationId xmlns:a16="http://schemas.microsoft.com/office/drawing/2014/main" id="{2D46DFA9-73B1-FBBC-B83E-16699214BE51}"/>
              </a:ext>
            </a:extLst>
          </p:cNvPr>
          <p:cNvSpPr/>
          <p:nvPr/>
        </p:nvSpPr>
        <p:spPr>
          <a:xfrm rot="19200000" flipV="1">
            <a:off x="3636738" y="3594281"/>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Arrow: Right 33">
            <a:extLst>
              <a:ext uri="{FF2B5EF4-FFF2-40B4-BE49-F238E27FC236}">
                <a16:creationId xmlns:a16="http://schemas.microsoft.com/office/drawing/2014/main" id="{6C5E5C1A-0603-2752-03A2-2000CE165F23}"/>
              </a:ext>
            </a:extLst>
          </p:cNvPr>
          <p:cNvSpPr/>
          <p:nvPr/>
        </p:nvSpPr>
        <p:spPr>
          <a:xfrm rot="5400000" flipV="1">
            <a:off x="2953814" y="3479262"/>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Arrow: Right 34">
            <a:extLst>
              <a:ext uri="{FF2B5EF4-FFF2-40B4-BE49-F238E27FC236}">
                <a16:creationId xmlns:a16="http://schemas.microsoft.com/office/drawing/2014/main" id="{36DE420B-1C05-B1F1-EB9C-2D765089DF77}"/>
              </a:ext>
            </a:extLst>
          </p:cNvPr>
          <p:cNvSpPr/>
          <p:nvPr/>
        </p:nvSpPr>
        <p:spPr>
          <a:xfrm rot="16200000" flipV="1">
            <a:off x="3054454" y="3392998"/>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Arrow: Right 38">
            <a:extLst>
              <a:ext uri="{FF2B5EF4-FFF2-40B4-BE49-F238E27FC236}">
                <a16:creationId xmlns:a16="http://schemas.microsoft.com/office/drawing/2014/main" id="{63E6C6AC-BE22-CD66-99FA-3ECF3AF888F7}"/>
              </a:ext>
            </a:extLst>
          </p:cNvPr>
          <p:cNvSpPr/>
          <p:nvPr/>
        </p:nvSpPr>
        <p:spPr>
          <a:xfrm rot="2760000" flipV="1">
            <a:off x="2508116" y="3680545"/>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Arrow: Right 39">
            <a:extLst>
              <a:ext uri="{FF2B5EF4-FFF2-40B4-BE49-F238E27FC236}">
                <a16:creationId xmlns:a16="http://schemas.microsoft.com/office/drawing/2014/main" id="{AB82B25C-FEA1-8894-DE68-2A89E1ED3EC8}"/>
              </a:ext>
            </a:extLst>
          </p:cNvPr>
          <p:cNvSpPr/>
          <p:nvPr/>
        </p:nvSpPr>
        <p:spPr>
          <a:xfrm rot="13500000" flipV="1">
            <a:off x="2357153" y="3702112"/>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Arrow: Right 40">
            <a:extLst>
              <a:ext uri="{FF2B5EF4-FFF2-40B4-BE49-F238E27FC236}">
                <a16:creationId xmlns:a16="http://schemas.microsoft.com/office/drawing/2014/main" id="{EADAF9C3-F3A7-7A74-FA55-DE2C06195F34}"/>
              </a:ext>
            </a:extLst>
          </p:cNvPr>
          <p:cNvSpPr/>
          <p:nvPr/>
        </p:nvSpPr>
        <p:spPr>
          <a:xfrm flipV="1">
            <a:off x="2393096" y="4183753"/>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Arrow: Right 41">
            <a:extLst>
              <a:ext uri="{FF2B5EF4-FFF2-40B4-BE49-F238E27FC236}">
                <a16:creationId xmlns:a16="http://schemas.microsoft.com/office/drawing/2014/main" id="{D0D5CE1E-048D-F504-FCCC-CEB31224B0B7}"/>
              </a:ext>
            </a:extLst>
          </p:cNvPr>
          <p:cNvSpPr/>
          <p:nvPr/>
        </p:nvSpPr>
        <p:spPr>
          <a:xfrm rot="10800000" flipV="1">
            <a:off x="2299644" y="4291583"/>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Arrow: Right 42">
            <a:extLst>
              <a:ext uri="{FF2B5EF4-FFF2-40B4-BE49-F238E27FC236}">
                <a16:creationId xmlns:a16="http://schemas.microsoft.com/office/drawing/2014/main" id="{192D738D-7FD4-E8D1-8F22-72BC7CB6195F}"/>
              </a:ext>
            </a:extLst>
          </p:cNvPr>
          <p:cNvSpPr/>
          <p:nvPr/>
        </p:nvSpPr>
        <p:spPr>
          <a:xfrm rot="18900000" flipV="1">
            <a:off x="2565625" y="4622262"/>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Arrow: Right 43">
            <a:extLst>
              <a:ext uri="{FF2B5EF4-FFF2-40B4-BE49-F238E27FC236}">
                <a16:creationId xmlns:a16="http://schemas.microsoft.com/office/drawing/2014/main" id="{B1F3218E-A473-F220-5865-7C087BDFF8AA}"/>
              </a:ext>
            </a:extLst>
          </p:cNvPr>
          <p:cNvSpPr/>
          <p:nvPr/>
        </p:nvSpPr>
        <p:spPr>
          <a:xfrm rot="8100000" flipV="1">
            <a:off x="2587190" y="4773225"/>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Arrow: Right 44">
            <a:extLst>
              <a:ext uri="{FF2B5EF4-FFF2-40B4-BE49-F238E27FC236}">
                <a16:creationId xmlns:a16="http://schemas.microsoft.com/office/drawing/2014/main" id="{41C6E065-B572-7F43-D4FB-C594C4F35016}"/>
              </a:ext>
            </a:extLst>
          </p:cNvPr>
          <p:cNvSpPr/>
          <p:nvPr/>
        </p:nvSpPr>
        <p:spPr>
          <a:xfrm rot="16200000" flipV="1">
            <a:off x="3004135" y="4837922"/>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Arrow: Right 45">
            <a:extLst>
              <a:ext uri="{FF2B5EF4-FFF2-40B4-BE49-F238E27FC236}">
                <a16:creationId xmlns:a16="http://schemas.microsoft.com/office/drawing/2014/main" id="{DA43263C-942B-0A44-762B-658D2E5FA1AA}"/>
              </a:ext>
            </a:extLst>
          </p:cNvPr>
          <p:cNvSpPr/>
          <p:nvPr/>
        </p:nvSpPr>
        <p:spPr>
          <a:xfrm rot="5400000" flipV="1">
            <a:off x="3119153" y="4895432"/>
            <a:ext cx="496575" cy="1010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Arrow: Right 47">
            <a:extLst>
              <a:ext uri="{FF2B5EF4-FFF2-40B4-BE49-F238E27FC236}">
                <a16:creationId xmlns:a16="http://schemas.microsoft.com/office/drawing/2014/main" id="{2357DE7C-AF71-E907-8A25-F1E4E8860EA1}"/>
              </a:ext>
            </a:extLst>
          </p:cNvPr>
          <p:cNvSpPr/>
          <p:nvPr/>
        </p:nvSpPr>
        <p:spPr>
          <a:xfrm rot="10800000">
            <a:off x="5208947" y="2764098"/>
            <a:ext cx="766931" cy="187457"/>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84070518"/>
      </p:ext>
    </p:extLst>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E391E2-A13A-6127-488B-0C599B676066}"/>
              </a:ext>
            </a:extLst>
          </p:cNvPr>
          <p:cNvSpPr>
            <a:spLocks noGrp="1"/>
          </p:cNvSpPr>
          <p:nvPr>
            <p:ph type="title"/>
          </p:nvPr>
        </p:nvSpPr>
        <p:spPr>
          <a:xfrm>
            <a:off x="1036320" y="286603"/>
            <a:ext cx="10058400" cy="1450757"/>
          </a:xfrm>
        </p:spPr>
        <p:txBody>
          <a:bodyPr>
            <a:normAutofit/>
          </a:bodyPr>
          <a:lstStyle/>
          <a:p>
            <a:r>
              <a:rPr lang="it-IT"/>
              <a:t>1. Digital Bin</a:t>
            </a:r>
            <a:endParaRPr lang="en-GB"/>
          </a:p>
        </p:txBody>
      </p:sp>
      <p:cxnSp>
        <p:nvCxnSpPr>
          <p:cNvPr id="12" name="Straight Connector 1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Stream">
            <a:extLst>
              <a:ext uri="{FF2B5EF4-FFF2-40B4-BE49-F238E27FC236}">
                <a16:creationId xmlns:a16="http://schemas.microsoft.com/office/drawing/2014/main" id="{5DEE7A34-D02B-BE20-8E60-4E7EAC33BF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58F6F65D-AD66-3EE4-D1E5-8D10012BEA06}"/>
              </a:ext>
            </a:extLst>
          </p:cNvPr>
          <p:cNvSpPr>
            <a:spLocks noGrp="1"/>
          </p:cNvSpPr>
          <p:nvPr>
            <p:ph idx="1"/>
          </p:nvPr>
        </p:nvSpPr>
        <p:spPr>
          <a:xfrm>
            <a:off x="4706460" y="2108201"/>
            <a:ext cx="6388260" cy="3760891"/>
          </a:xfrm>
        </p:spPr>
        <p:txBody>
          <a:bodyPr>
            <a:normAutofit/>
          </a:bodyPr>
          <a:lstStyle/>
          <a:p>
            <a:r>
              <a:rPr lang="it-IT"/>
              <a:t>The Digital Bin </a:t>
            </a:r>
            <a:r>
              <a:rPr lang="it-IT" err="1"/>
              <a:t>sends</a:t>
            </a:r>
            <a:endParaRPr lang="it-IT"/>
          </a:p>
          <a:p>
            <a:pPr>
              <a:buFont typeface="Arial" panose="020B0604020202020204" pitchFamily="34" charset="0"/>
              <a:buChar char="•"/>
            </a:pPr>
            <a:r>
              <a:rPr lang="it-IT"/>
              <a:t> Once, </a:t>
            </a:r>
            <a:r>
              <a:rPr lang="it-IT" err="1"/>
              <a:t>its</a:t>
            </a:r>
            <a:r>
              <a:rPr lang="it-IT"/>
              <a:t> </a:t>
            </a:r>
            <a:r>
              <a:rPr lang="it-IT" err="1"/>
              <a:t>geographical</a:t>
            </a:r>
            <a:r>
              <a:rPr lang="it-IT"/>
              <a:t> </a:t>
            </a:r>
            <a:r>
              <a:rPr lang="it-IT" err="1"/>
              <a:t>coordinates</a:t>
            </a:r>
            <a:r>
              <a:rPr lang="it-IT"/>
              <a:t> (</a:t>
            </a:r>
            <a:r>
              <a:rPr lang="it-IT" err="1"/>
              <a:t>lat</a:t>
            </a:r>
            <a:r>
              <a:rPr lang="it-IT"/>
              <a:t> and </a:t>
            </a:r>
            <a:r>
              <a:rPr lang="it-IT" err="1"/>
              <a:t>lon</a:t>
            </a:r>
            <a:r>
              <a:rPr lang="it-IT"/>
              <a:t>)</a:t>
            </a:r>
          </a:p>
          <a:p>
            <a:pPr>
              <a:buFont typeface="Arial" panose="020B0604020202020204" pitchFamily="34" charset="0"/>
              <a:buChar char="•"/>
            </a:pPr>
            <a:r>
              <a:rPr lang="it-IT"/>
              <a:t> </a:t>
            </a:r>
            <a:r>
              <a:rPr lang="it-IT" err="1"/>
              <a:t>It</a:t>
            </a:r>
            <a:r>
              <a:rPr lang="it-IT"/>
              <a:t> </a:t>
            </a:r>
            <a:r>
              <a:rPr lang="it-IT" err="1"/>
              <a:t>periodically</a:t>
            </a:r>
            <a:r>
              <a:rPr lang="it-IT"/>
              <a:t> </a:t>
            </a:r>
            <a:r>
              <a:rPr lang="it-IT" err="1"/>
              <a:t>sends</a:t>
            </a:r>
            <a:r>
              <a:rPr lang="it-IT"/>
              <a:t> the </a:t>
            </a:r>
            <a:r>
              <a:rPr lang="it-IT" err="1"/>
              <a:t>fill</a:t>
            </a:r>
            <a:r>
              <a:rPr lang="it-IT"/>
              <a:t> </a:t>
            </a:r>
            <a:r>
              <a:rPr lang="it-IT" err="1"/>
              <a:t>level</a:t>
            </a:r>
            <a:r>
              <a:rPr lang="it-IT"/>
              <a:t> and </a:t>
            </a:r>
            <a:r>
              <a:rPr lang="it-IT" err="1"/>
              <a:t>overturn</a:t>
            </a:r>
            <a:r>
              <a:rPr lang="it-IT"/>
              <a:t> status (yes/no)</a:t>
            </a:r>
          </a:p>
          <a:p>
            <a:pPr marL="0" indent="0">
              <a:buNone/>
            </a:pPr>
            <a:endParaRPr lang="en-GB"/>
          </a:p>
        </p:txBody>
      </p:sp>
      <p:sp>
        <p:nvSpPr>
          <p:cNvPr id="14" name="Rectangle 13">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204662298"/>
      </p:ext>
    </p:extLst>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C1BE27-F4A3-64F4-2344-E492A5F5C9D4}"/>
              </a:ext>
            </a:extLst>
          </p:cNvPr>
          <p:cNvSpPr>
            <a:spLocks noGrp="1"/>
          </p:cNvSpPr>
          <p:nvPr>
            <p:ph type="title"/>
          </p:nvPr>
        </p:nvSpPr>
        <p:spPr>
          <a:xfrm>
            <a:off x="1036320" y="286603"/>
            <a:ext cx="10058400" cy="1450757"/>
          </a:xfrm>
        </p:spPr>
        <p:txBody>
          <a:bodyPr>
            <a:normAutofit/>
          </a:bodyPr>
          <a:lstStyle/>
          <a:p>
            <a:r>
              <a:rPr lang="it-IT"/>
              <a:t>2. </a:t>
            </a:r>
            <a:r>
              <a:rPr lang="it-IT" err="1"/>
              <a:t>Receiver</a:t>
            </a:r>
            <a:r>
              <a:rPr lang="it-IT"/>
              <a:t> </a:t>
            </a:r>
            <a:r>
              <a:rPr lang="it-IT" err="1"/>
              <a:t>LoRa</a:t>
            </a:r>
            <a:r>
              <a:rPr lang="it-IT"/>
              <a:t> + Bridge</a:t>
            </a:r>
            <a:endParaRPr lang="en-GB"/>
          </a:p>
        </p:txBody>
      </p:sp>
      <p:cxnSp>
        <p:nvCxnSpPr>
          <p:cNvPr id="12" name="Straight Connector 1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Wireless router">
            <a:extLst>
              <a:ext uri="{FF2B5EF4-FFF2-40B4-BE49-F238E27FC236}">
                <a16:creationId xmlns:a16="http://schemas.microsoft.com/office/drawing/2014/main" id="{2F5D7D59-6E54-F8B6-EAFB-F9278AE0CA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9677B20F-561D-F6B1-B8FD-6A1E60F7C048}"/>
              </a:ext>
            </a:extLst>
          </p:cNvPr>
          <p:cNvSpPr>
            <a:spLocks noGrp="1"/>
          </p:cNvSpPr>
          <p:nvPr>
            <p:ph idx="1"/>
          </p:nvPr>
        </p:nvSpPr>
        <p:spPr>
          <a:xfrm>
            <a:off x="4706460" y="2108202"/>
            <a:ext cx="6388260" cy="1016836"/>
          </a:xfrm>
        </p:spPr>
        <p:txBody>
          <a:bodyPr>
            <a:normAutofit/>
          </a:bodyPr>
          <a:lstStyle/>
          <a:p>
            <a:r>
              <a:rPr lang="it-IT" err="1"/>
              <a:t>Receiver</a:t>
            </a:r>
            <a:r>
              <a:rPr lang="it-IT"/>
              <a:t> </a:t>
            </a:r>
            <a:r>
              <a:rPr lang="it-IT" err="1"/>
              <a:t>LoRa</a:t>
            </a:r>
            <a:r>
              <a:rPr lang="it-IT"/>
              <a:t> </a:t>
            </a:r>
            <a:r>
              <a:rPr lang="it-IT" err="1"/>
              <a:t>receives</a:t>
            </a:r>
            <a:r>
              <a:rPr lang="it-IT"/>
              <a:t> data from the Digital </a:t>
            </a:r>
            <a:r>
              <a:rPr lang="it-IT" err="1"/>
              <a:t>Bins</a:t>
            </a:r>
            <a:r>
              <a:rPr lang="it-IT"/>
              <a:t> in the area and </a:t>
            </a:r>
            <a:r>
              <a:rPr lang="it-IT" err="1"/>
              <a:t>send</a:t>
            </a:r>
            <a:r>
              <a:rPr lang="it-IT"/>
              <a:t> </a:t>
            </a:r>
            <a:r>
              <a:rPr lang="it-IT" err="1"/>
              <a:t>them</a:t>
            </a:r>
            <a:r>
              <a:rPr lang="it-IT"/>
              <a:t> to the Bridge</a:t>
            </a:r>
            <a:endParaRPr lang="en-GB"/>
          </a:p>
        </p:txBody>
      </p:sp>
      <p:sp>
        <p:nvSpPr>
          <p:cNvPr id="14" name="Rectangle 13">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Content Placeholder 2">
            <a:extLst>
              <a:ext uri="{FF2B5EF4-FFF2-40B4-BE49-F238E27FC236}">
                <a16:creationId xmlns:a16="http://schemas.microsoft.com/office/drawing/2014/main" id="{FBD967CD-2FFD-DAC6-D695-B74582EB43A3}"/>
              </a:ext>
            </a:extLst>
          </p:cNvPr>
          <p:cNvSpPr txBox="1">
            <a:spLocks/>
          </p:cNvSpPr>
          <p:nvPr/>
        </p:nvSpPr>
        <p:spPr>
          <a:xfrm>
            <a:off x="4706460" y="3237665"/>
            <a:ext cx="6388260" cy="1016836"/>
          </a:xfrm>
          <a:prstGeom prst="rect">
            <a:avLst/>
          </a:prstGeom>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it-IT"/>
              <a:t>Bridge </a:t>
            </a:r>
            <a:r>
              <a:rPr lang="it-IT" err="1"/>
              <a:t>forwards</a:t>
            </a:r>
            <a:r>
              <a:rPr lang="it-IT"/>
              <a:t> the data on a MQTT Server and takes the data from </a:t>
            </a:r>
            <a:r>
              <a:rPr lang="it-IT" err="1"/>
              <a:t>it</a:t>
            </a:r>
            <a:endParaRPr lang="en-GB"/>
          </a:p>
        </p:txBody>
      </p:sp>
    </p:spTree>
    <p:extLst>
      <p:ext uri="{BB962C8B-B14F-4D97-AF65-F5344CB8AC3E}">
        <p14:creationId xmlns:p14="http://schemas.microsoft.com/office/powerpoint/2010/main" val="449610691"/>
      </p:ext>
    </p:extLst>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D0D95-D21C-A966-F558-CD34463E16E8}"/>
              </a:ext>
            </a:extLst>
          </p:cNvPr>
          <p:cNvSpPr>
            <a:spLocks noGrp="1"/>
          </p:cNvSpPr>
          <p:nvPr>
            <p:ph type="title"/>
          </p:nvPr>
        </p:nvSpPr>
        <p:spPr>
          <a:xfrm>
            <a:off x="1036320" y="286603"/>
            <a:ext cx="10058400" cy="1450757"/>
          </a:xfrm>
        </p:spPr>
        <p:txBody>
          <a:bodyPr>
            <a:normAutofit/>
          </a:bodyPr>
          <a:lstStyle/>
          <a:p>
            <a:r>
              <a:rPr lang="it-IT"/>
              <a:t>3. Central Controller</a:t>
            </a:r>
            <a:endParaRPr lang="en-GB"/>
          </a:p>
        </p:txBody>
      </p:sp>
      <p:cxnSp>
        <p:nvCxnSpPr>
          <p:cNvPr id="21" name="Straight Connector 20">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Brain in head">
            <a:extLst>
              <a:ext uri="{FF2B5EF4-FFF2-40B4-BE49-F238E27FC236}">
                <a16:creationId xmlns:a16="http://schemas.microsoft.com/office/drawing/2014/main" id="{1C210031-17A3-CF99-6E81-A52BD58B4E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2841FCD4-18F9-7473-31AD-19C4C5B68C89}"/>
              </a:ext>
            </a:extLst>
          </p:cNvPr>
          <p:cNvSpPr>
            <a:spLocks noGrp="1"/>
          </p:cNvSpPr>
          <p:nvPr>
            <p:ph idx="1"/>
          </p:nvPr>
        </p:nvSpPr>
        <p:spPr>
          <a:xfrm>
            <a:off x="4706460" y="2108201"/>
            <a:ext cx="6388260" cy="3760891"/>
          </a:xfrm>
        </p:spPr>
        <p:txBody>
          <a:bodyPr>
            <a:normAutofit/>
          </a:bodyPr>
          <a:lstStyle/>
          <a:p>
            <a:r>
              <a:rPr lang="it-IT" err="1"/>
              <a:t>It</a:t>
            </a:r>
            <a:r>
              <a:rPr lang="it-IT"/>
              <a:t> </a:t>
            </a:r>
            <a:r>
              <a:rPr lang="it-IT" err="1"/>
              <a:t>is</a:t>
            </a:r>
            <a:r>
              <a:rPr lang="it-IT"/>
              <a:t> the brain of the project. </a:t>
            </a:r>
            <a:r>
              <a:rPr lang="it-IT" err="1"/>
              <a:t>It</a:t>
            </a:r>
            <a:r>
              <a:rPr lang="it-IT"/>
              <a:t> </a:t>
            </a:r>
            <a:r>
              <a:rPr lang="it-IT" err="1"/>
              <a:t>is</a:t>
            </a:r>
            <a:r>
              <a:rPr lang="it-IT"/>
              <a:t> </a:t>
            </a:r>
            <a:r>
              <a:rPr lang="it-IT" err="1"/>
              <a:t>responsible</a:t>
            </a:r>
            <a:r>
              <a:rPr lang="it-IT"/>
              <a:t> for processing the data.</a:t>
            </a:r>
          </a:p>
          <a:p>
            <a:pPr>
              <a:buFont typeface="Arial" panose="020B0604020202020204" pitchFamily="34" charset="0"/>
              <a:buChar char="•"/>
            </a:pPr>
            <a:r>
              <a:rPr lang="it-IT"/>
              <a:t> </a:t>
            </a:r>
            <a:r>
              <a:rPr lang="it-IT" err="1"/>
              <a:t>It</a:t>
            </a:r>
            <a:r>
              <a:rPr lang="it-IT"/>
              <a:t> </a:t>
            </a:r>
            <a:r>
              <a:rPr lang="it-IT" err="1"/>
              <a:t>communicates</a:t>
            </a:r>
            <a:r>
              <a:rPr lang="it-IT"/>
              <a:t> </a:t>
            </a:r>
            <a:r>
              <a:rPr lang="it-IT" err="1"/>
              <a:t>when</a:t>
            </a:r>
            <a:r>
              <a:rPr lang="it-IT"/>
              <a:t> to close the </a:t>
            </a:r>
            <a:r>
              <a:rPr lang="it-IT" err="1"/>
              <a:t>bins</a:t>
            </a:r>
            <a:endParaRPr lang="it-IT"/>
          </a:p>
          <a:p>
            <a:pPr>
              <a:buFont typeface="Arial" panose="020B0604020202020204" pitchFamily="34" charset="0"/>
              <a:buChar char="•"/>
            </a:pPr>
            <a:r>
              <a:rPr lang="it-IT"/>
              <a:t> </a:t>
            </a:r>
            <a:r>
              <a:rPr lang="it-IT" err="1"/>
              <a:t>It</a:t>
            </a:r>
            <a:r>
              <a:rPr lang="it-IT"/>
              <a:t> </a:t>
            </a:r>
            <a:r>
              <a:rPr lang="it-IT" err="1"/>
              <a:t>notifies</a:t>
            </a:r>
            <a:r>
              <a:rPr lang="it-IT"/>
              <a:t> </a:t>
            </a:r>
            <a:r>
              <a:rPr lang="it-IT" err="1"/>
              <a:t>when</a:t>
            </a:r>
            <a:r>
              <a:rPr lang="it-IT"/>
              <a:t> the </a:t>
            </a:r>
            <a:r>
              <a:rPr lang="it-IT" err="1"/>
              <a:t>bins</a:t>
            </a:r>
            <a:r>
              <a:rPr lang="it-IT"/>
              <a:t> are </a:t>
            </a:r>
            <a:r>
              <a:rPr lang="it-IT" err="1"/>
              <a:t>overturned</a:t>
            </a:r>
            <a:endParaRPr lang="it-IT"/>
          </a:p>
          <a:p>
            <a:pPr>
              <a:buFont typeface="Arial" panose="020B0604020202020204" pitchFamily="34" charset="0"/>
              <a:buChar char="•"/>
            </a:pPr>
            <a:r>
              <a:rPr lang="it-IT"/>
              <a:t> </a:t>
            </a:r>
            <a:r>
              <a:rPr lang="en-GB"/>
              <a:t>If a bin is closed, it calculates the distance to the nearest free bin.</a:t>
            </a:r>
          </a:p>
          <a:p>
            <a:pPr>
              <a:buFont typeface="Arial" panose="020B0604020202020204" pitchFamily="34" charset="0"/>
              <a:buChar char="•"/>
            </a:pPr>
            <a:r>
              <a:rPr lang="en-GB"/>
              <a:t> It sends the updates to the web dashboard</a:t>
            </a:r>
          </a:p>
        </p:txBody>
      </p:sp>
      <p:sp>
        <p:nvSpPr>
          <p:cNvPr id="23" name="Rectangle 22">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993181464"/>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CE1E-F036-19BC-ECD5-199CF2DBBBB4}"/>
              </a:ext>
            </a:extLst>
          </p:cNvPr>
          <p:cNvSpPr>
            <a:spLocks noGrp="1"/>
          </p:cNvSpPr>
          <p:nvPr>
            <p:ph type="title"/>
          </p:nvPr>
        </p:nvSpPr>
        <p:spPr>
          <a:xfrm>
            <a:off x="1097280" y="286603"/>
            <a:ext cx="10058400" cy="775281"/>
          </a:xfrm>
        </p:spPr>
        <p:txBody>
          <a:bodyPr/>
          <a:lstStyle/>
          <a:p>
            <a:r>
              <a:rPr lang="it-IT"/>
              <a:t>4. Web Dashboard</a:t>
            </a:r>
            <a:endParaRPr lang="en-GB"/>
          </a:p>
        </p:txBody>
      </p:sp>
      <p:graphicFrame>
        <p:nvGraphicFramePr>
          <p:cNvPr id="5" name="Content Placeholder 2">
            <a:extLst>
              <a:ext uri="{FF2B5EF4-FFF2-40B4-BE49-F238E27FC236}">
                <a16:creationId xmlns:a16="http://schemas.microsoft.com/office/drawing/2014/main" id="{8CA0B4E5-E6B9-38F5-90BC-E7E77C916CF0}"/>
              </a:ext>
            </a:extLst>
          </p:cNvPr>
          <p:cNvGraphicFramePr>
            <a:graphicFrameLocks noGrp="1"/>
          </p:cNvGraphicFramePr>
          <p:nvPr>
            <p:ph idx="1"/>
            <p:extLst>
              <p:ext uri="{D42A27DB-BD31-4B8C-83A1-F6EECF244321}">
                <p14:modId xmlns:p14="http://schemas.microsoft.com/office/powerpoint/2010/main" val="4222746280"/>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2239351"/>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24" name="Straight Connector 23">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B4D0E555-16F6-44D0-BF56-AF5FF5BDE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117041D-1A7B-4ECA-AB68-3CFDB6726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4"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3A40D88-B152-0A77-D359-A8BD574CE6AD}"/>
              </a:ext>
            </a:extLst>
          </p:cNvPr>
          <p:cNvSpPr>
            <a:spLocks noGrp="1"/>
          </p:cNvSpPr>
          <p:nvPr>
            <p:ph type="title"/>
          </p:nvPr>
        </p:nvSpPr>
        <p:spPr>
          <a:xfrm>
            <a:off x="435869" y="640080"/>
            <a:ext cx="3659246" cy="2862699"/>
          </a:xfrm>
        </p:spPr>
        <p:txBody>
          <a:bodyPr vert="horz" lIns="91440" tIns="45720" rIns="91440" bIns="45720" rtlCol="0" anchor="b">
            <a:normAutofit/>
          </a:bodyPr>
          <a:lstStyle/>
          <a:p>
            <a:pPr>
              <a:lnSpc>
                <a:spcPct val="90000"/>
              </a:lnSpc>
            </a:pPr>
            <a:r>
              <a:rPr lang="en-US" sz="4400">
                <a:solidFill>
                  <a:srgbClr val="FFFFFF"/>
                </a:solidFill>
              </a:rPr>
              <a:t>Digital Bin </a:t>
            </a:r>
            <a:br>
              <a:rPr lang="en-US" sz="4400">
                <a:solidFill>
                  <a:srgbClr val="FFFFFF"/>
                </a:solidFill>
              </a:rPr>
            </a:br>
            <a:r>
              <a:rPr lang="en-US" sz="4400">
                <a:solidFill>
                  <a:srgbClr val="FFFFFF"/>
                </a:solidFill>
              </a:rPr>
              <a:t>In Depth</a:t>
            </a:r>
          </a:p>
        </p:txBody>
      </p:sp>
      <p:cxnSp>
        <p:nvCxnSpPr>
          <p:cNvPr id="30" name="Straight Connector 29">
            <a:extLst>
              <a:ext uri="{FF2B5EF4-FFF2-40B4-BE49-F238E27FC236}">
                <a16:creationId xmlns:a16="http://schemas.microsoft.com/office/drawing/2014/main" id="{ABCD2462-4C1E-401A-AC2D-F799A138B2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852" y="3663649"/>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Graphic 5" descr="Magnifying glass">
            <a:extLst>
              <a:ext uri="{FF2B5EF4-FFF2-40B4-BE49-F238E27FC236}">
                <a16:creationId xmlns:a16="http://schemas.microsoft.com/office/drawing/2014/main" id="{A9CF3150-77C0-F0A1-1680-31DFF5F55A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1248" y="640080"/>
            <a:ext cx="5577840" cy="5577840"/>
          </a:xfrm>
          <a:prstGeom prst="rect">
            <a:avLst/>
          </a:prstGeom>
        </p:spPr>
      </p:pic>
    </p:spTree>
    <p:extLst>
      <p:ext uri="{BB962C8B-B14F-4D97-AF65-F5344CB8AC3E}">
        <p14:creationId xmlns:p14="http://schemas.microsoft.com/office/powerpoint/2010/main" val="3871194674"/>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id="{F8829E18-2A86-3D40-67B2-A9A4C01775F8}"/>
              </a:ext>
            </a:extLst>
          </p:cNvPr>
          <p:cNvSpPr/>
          <p:nvPr/>
        </p:nvSpPr>
        <p:spPr>
          <a:xfrm rot="10800000">
            <a:off x="2120661" y="1969697"/>
            <a:ext cx="9539376" cy="4104735"/>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70F0D-8DC0-D629-560F-8BCB21366FC6}"/>
              </a:ext>
            </a:extLst>
          </p:cNvPr>
          <p:cNvSpPr>
            <a:spLocks noGrp="1"/>
          </p:cNvSpPr>
          <p:nvPr>
            <p:ph type="title"/>
          </p:nvPr>
        </p:nvSpPr>
        <p:spPr/>
        <p:txBody>
          <a:bodyPr/>
          <a:lstStyle/>
          <a:p>
            <a:r>
              <a:rPr lang="en-US" err="1"/>
              <a:t>DigitalBin</a:t>
            </a:r>
            <a:r>
              <a:rPr lang="en-US"/>
              <a:t> – Onboard Hardware</a:t>
            </a:r>
          </a:p>
        </p:txBody>
      </p:sp>
      <p:pic>
        <p:nvPicPr>
          <p:cNvPr id="4" name="Picture 3" descr="A close-up of a blue circuit board&#10;&#10;AI-generated content may be incorrect.">
            <a:extLst>
              <a:ext uri="{FF2B5EF4-FFF2-40B4-BE49-F238E27FC236}">
                <a16:creationId xmlns:a16="http://schemas.microsoft.com/office/drawing/2014/main" id="{3916505D-F4F7-B596-288D-B9B5E126DE51}"/>
              </a:ext>
            </a:extLst>
          </p:cNvPr>
          <p:cNvPicPr>
            <a:picLocks noChangeAspect="1"/>
          </p:cNvPicPr>
          <p:nvPr/>
        </p:nvPicPr>
        <p:blipFill>
          <a:blip r:embed="rId3"/>
          <a:stretch>
            <a:fillRect/>
          </a:stretch>
        </p:blipFill>
        <p:spPr>
          <a:xfrm rot="16200000">
            <a:off x="-321136" y="3377894"/>
            <a:ext cx="2994025" cy="1731645"/>
          </a:xfrm>
          <a:prstGeom prst="rect">
            <a:avLst/>
          </a:prstGeom>
        </p:spPr>
      </p:pic>
      <p:sp>
        <p:nvSpPr>
          <p:cNvPr id="5" name="TextBox 4">
            <a:extLst>
              <a:ext uri="{FF2B5EF4-FFF2-40B4-BE49-F238E27FC236}">
                <a16:creationId xmlns:a16="http://schemas.microsoft.com/office/drawing/2014/main" id="{66704D96-F5E0-6D62-E4E4-E0A7EDFACC39}"/>
              </a:ext>
            </a:extLst>
          </p:cNvPr>
          <p:cNvSpPr txBox="1"/>
          <p:nvPr/>
        </p:nvSpPr>
        <p:spPr>
          <a:xfrm>
            <a:off x="228756" y="2427516"/>
            <a:ext cx="188976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t>Microcontroller </a:t>
            </a:r>
          </a:p>
        </p:txBody>
      </p:sp>
      <p:pic>
        <p:nvPicPr>
          <p:cNvPr id="8" name="Picture 7">
            <a:extLst>
              <a:ext uri="{FF2B5EF4-FFF2-40B4-BE49-F238E27FC236}">
                <a16:creationId xmlns:a16="http://schemas.microsoft.com/office/drawing/2014/main" id="{FDD318B8-84E0-1FA8-017B-DFF4990F91AA}"/>
              </a:ext>
            </a:extLst>
          </p:cNvPr>
          <p:cNvPicPr>
            <a:picLocks noChangeAspect="1"/>
          </p:cNvPicPr>
          <p:nvPr/>
        </p:nvPicPr>
        <p:blipFill>
          <a:blip r:embed="rId4"/>
          <a:stretch>
            <a:fillRect/>
          </a:stretch>
        </p:blipFill>
        <p:spPr>
          <a:xfrm>
            <a:off x="5922804" y="2208135"/>
            <a:ext cx="846515" cy="593354"/>
          </a:xfrm>
          <a:prstGeom prst="rect">
            <a:avLst/>
          </a:prstGeom>
        </p:spPr>
      </p:pic>
      <p:sp>
        <p:nvSpPr>
          <p:cNvPr id="28" name="TextBox 27">
            <a:extLst>
              <a:ext uri="{FF2B5EF4-FFF2-40B4-BE49-F238E27FC236}">
                <a16:creationId xmlns:a16="http://schemas.microsoft.com/office/drawing/2014/main" id="{3257575C-0A26-F6D4-A038-065C7EB9E50B}"/>
              </a:ext>
            </a:extLst>
          </p:cNvPr>
          <p:cNvSpPr txBox="1"/>
          <p:nvPr/>
        </p:nvSpPr>
        <p:spPr>
          <a:xfrm>
            <a:off x="3236359" y="2662719"/>
            <a:ext cx="1840786" cy="5907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9" name="TextBox 28">
            <a:extLst>
              <a:ext uri="{FF2B5EF4-FFF2-40B4-BE49-F238E27FC236}">
                <a16:creationId xmlns:a16="http://schemas.microsoft.com/office/drawing/2014/main" id="{154C082B-3648-B3C0-103A-ACA9760978E2}"/>
              </a:ext>
            </a:extLst>
          </p:cNvPr>
          <p:cNvSpPr txBox="1"/>
          <p:nvPr/>
        </p:nvSpPr>
        <p:spPr>
          <a:xfrm>
            <a:off x="4593471" y="2207945"/>
            <a:ext cx="1264938" cy="7458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Magnetometer</a:t>
            </a:r>
            <a:r>
              <a:rPr lang="en-US" sz="1400"/>
              <a:t>, Accelerometer, </a:t>
            </a:r>
            <a:endParaRPr lang="en-US"/>
          </a:p>
          <a:p>
            <a:r>
              <a:rPr lang="en-US" sz="1400"/>
              <a:t>Gyroscope</a:t>
            </a:r>
            <a:endParaRPr lang="en-US"/>
          </a:p>
        </p:txBody>
      </p:sp>
      <p:pic>
        <p:nvPicPr>
          <p:cNvPr id="30" name="Picture 29" descr="A close-up of a small blue and black display&#10;&#10;AI-generated content may be incorrect.">
            <a:extLst>
              <a:ext uri="{FF2B5EF4-FFF2-40B4-BE49-F238E27FC236}">
                <a16:creationId xmlns:a16="http://schemas.microsoft.com/office/drawing/2014/main" id="{2FEFAB66-8BF6-32B6-E258-7C576BB4E0EB}"/>
              </a:ext>
            </a:extLst>
          </p:cNvPr>
          <p:cNvPicPr>
            <a:picLocks noChangeAspect="1"/>
          </p:cNvPicPr>
          <p:nvPr/>
        </p:nvPicPr>
        <p:blipFill>
          <a:blip r:embed="rId5"/>
          <a:stretch>
            <a:fillRect/>
          </a:stretch>
        </p:blipFill>
        <p:spPr>
          <a:xfrm>
            <a:off x="5919616" y="3513855"/>
            <a:ext cx="832849" cy="850923"/>
          </a:xfrm>
          <a:prstGeom prst="rect">
            <a:avLst/>
          </a:prstGeom>
        </p:spPr>
      </p:pic>
      <p:sp>
        <p:nvSpPr>
          <p:cNvPr id="31" name="TextBox 30">
            <a:extLst>
              <a:ext uri="{FF2B5EF4-FFF2-40B4-BE49-F238E27FC236}">
                <a16:creationId xmlns:a16="http://schemas.microsoft.com/office/drawing/2014/main" id="{12F1F218-DD14-01D7-7D7E-05854EF25AE4}"/>
              </a:ext>
            </a:extLst>
          </p:cNvPr>
          <p:cNvSpPr txBox="1"/>
          <p:nvPr/>
        </p:nvSpPr>
        <p:spPr>
          <a:xfrm>
            <a:off x="4593783" y="3782733"/>
            <a:ext cx="129869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Display </a:t>
            </a:r>
          </a:p>
        </p:txBody>
      </p:sp>
      <p:pic>
        <p:nvPicPr>
          <p:cNvPr id="32" name="Picture 31" descr="A close-up of a blue circuit board&#10;&#10;AI-generated content may be incorrect.">
            <a:extLst>
              <a:ext uri="{FF2B5EF4-FFF2-40B4-BE49-F238E27FC236}">
                <a16:creationId xmlns:a16="http://schemas.microsoft.com/office/drawing/2014/main" id="{E37CBC23-9DE7-BBC9-55E1-DFFCC6302932}"/>
              </a:ext>
            </a:extLst>
          </p:cNvPr>
          <p:cNvPicPr>
            <a:picLocks noChangeAspect="1"/>
          </p:cNvPicPr>
          <p:nvPr/>
        </p:nvPicPr>
        <p:blipFill>
          <a:blip r:embed="rId6"/>
          <a:stretch>
            <a:fillRect/>
          </a:stretch>
        </p:blipFill>
        <p:spPr>
          <a:xfrm>
            <a:off x="9292051" y="2164963"/>
            <a:ext cx="715157" cy="908432"/>
          </a:xfrm>
          <a:prstGeom prst="rect">
            <a:avLst/>
          </a:prstGeom>
        </p:spPr>
      </p:pic>
      <p:sp>
        <p:nvSpPr>
          <p:cNvPr id="33" name="TextBox 32">
            <a:extLst>
              <a:ext uri="{FF2B5EF4-FFF2-40B4-BE49-F238E27FC236}">
                <a16:creationId xmlns:a16="http://schemas.microsoft.com/office/drawing/2014/main" id="{79EE13FC-4DF2-80F5-3247-F118B0465B13}"/>
              </a:ext>
            </a:extLst>
          </p:cNvPr>
          <p:cNvSpPr txBox="1"/>
          <p:nvPr/>
        </p:nvSpPr>
        <p:spPr>
          <a:xfrm>
            <a:off x="8197654" y="2321556"/>
            <a:ext cx="99661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LoRa radio</a:t>
            </a:r>
          </a:p>
          <a:p>
            <a:r>
              <a:rPr lang="en-US" sz="1400">
                <a:ea typeface="+mn-lt"/>
                <a:cs typeface="+mn-lt"/>
              </a:rPr>
              <a:t>transmitter</a:t>
            </a:r>
            <a:endParaRPr lang="en-US">
              <a:ea typeface="+mn-lt"/>
              <a:cs typeface="+mn-lt"/>
            </a:endParaRPr>
          </a:p>
        </p:txBody>
      </p:sp>
      <p:pic>
        <p:nvPicPr>
          <p:cNvPr id="34" name="Picture 33" descr="A blue circuit board with a radio wave&#10;&#10;AI-generated content may be incorrect.">
            <a:extLst>
              <a:ext uri="{FF2B5EF4-FFF2-40B4-BE49-F238E27FC236}">
                <a16:creationId xmlns:a16="http://schemas.microsoft.com/office/drawing/2014/main" id="{1E682F6C-7702-B685-45E7-FBB2C63573F0}"/>
              </a:ext>
            </a:extLst>
          </p:cNvPr>
          <p:cNvPicPr>
            <a:picLocks noChangeAspect="1"/>
          </p:cNvPicPr>
          <p:nvPr/>
        </p:nvPicPr>
        <p:blipFill>
          <a:blip r:embed="rId7"/>
          <a:stretch>
            <a:fillRect/>
          </a:stretch>
        </p:blipFill>
        <p:spPr>
          <a:xfrm>
            <a:off x="9271934" y="3514104"/>
            <a:ext cx="1181866" cy="786356"/>
          </a:xfrm>
          <a:prstGeom prst="rect">
            <a:avLst/>
          </a:prstGeom>
        </p:spPr>
      </p:pic>
      <p:sp>
        <p:nvSpPr>
          <p:cNvPr id="36" name="TextBox 35">
            <a:extLst>
              <a:ext uri="{FF2B5EF4-FFF2-40B4-BE49-F238E27FC236}">
                <a16:creationId xmlns:a16="http://schemas.microsoft.com/office/drawing/2014/main" id="{A2F784BD-E83D-F0B9-CFF1-D1C7DA7D3709}"/>
              </a:ext>
            </a:extLst>
          </p:cNvPr>
          <p:cNvSpPr txBox="1"/>
          <p:nvPr/>
        </p:nvSpPr>
        <p:spPr>
          <a:xfrm>
            <a:off x="8276729" y="3557070"/>
            <a:ext cx="70906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NFC card reader</a:t>
            </a:r>
          </a:p>
        </p:txBody>
      </p:sp>
      <p:pic>
        <p:nvPicPr>
          <p:cNvPr id="37" name="Picture 36" descr="A close-up of a blue circuit board&#10;&#10;AI-generated content may be incorrect.">
            <a:extLst>
              <a:ext uri="{FF2B5EF4-FFF2-40B4-BE49-F238E27FC236}">
                <a16:creationId xmlns:a16="http://schemas.microsoft.com/office/drawing/2014/main" id="{B87A7969-8996-5F78-5CAA-96D3CA58EBE2}"/>
              </a:ext>
            </a:extLst>
          </p:cNvPr>
          <p:cNvPicPr>
            <a:picLocks noChangeAspect="1"/>
          </p:cNvPicPr>
          <p:nvPr/>
        </p:nvPicPr>
        <p:blipFill>
          <a:blip r:embed="rId8"/>
          <a:stretch>
            <a:fillRect/>
          </a:stretch>
        </p:blipFill>
        <p:spPr>
          <a:xfrm>
            <a:off x="5920163" y="4948754"/>
            <a:ext cx="1156651" cy="717517"/>
          </a:xfrm>
          <a:prstGeom prst="rect">
            <a:avLst/>
          </a:prstGeom>
        </p:spPr>
      </p:pic>
      <p:sp>
        <p:nvSpPr>
          <p:cNvPr id="38" name="TextBox 37">
            <a:extLst>
              <a:ext uri="{FF2B5EF4-FFF2-40B4-BE49-F238E27FC236}">
                <a16:creationId xmlns:a16="http://schemas.microsoft.com/office/drawing/2014/main" id="{FC5311A9-5662-C223-3533-8B294A8E164A}"/>
              </a:ext>
            </a:extLst>
          </p:cNvPr>
          <p:cNvSpPr txBox="1"/>
          <p:nvPr/>
        </p:nvSpPr>
        <p:spPr>
          <a:xfrm>
            <a:off x="4595666" y="5045562"/>
            <a:ext cx="126141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Ultrasonic </a:t>
            </a:r>
            <a:endParaRPr lang="en-US"/>
          </a:p>
          <a:p>
            <a:r>
              <a:rPr lang="en-US" sz="1400"/>
              <a:t>sensor</a:t>
            </a:r>
            <a:endParaRPr lang="en-US"/>
          </a:p>
        </p:txBody>
      </p:sp>
      <p:pic>
        <p:nvPicPr>
          <p:cNvPr id="39" name="Picture 38" descr="A small black electronic device with red wires&#10;&#10;AI-generated content may be incorrect.">
            <a:extLst>
              <a:ext uri="{FF2B5EF4-FFF2-40B4-BE49-F238E27FC236}">
                <a16:creationId xmlns:a16="http://schemas.microsoft.com/office/drawing/2014/main" id="{BFB32B90-0465-BAAC-6855-1186C2B514C9}"/>
              </a:ext>
            </a:extLst>
          </p:cNvPr>
          <p:cNvPicPr>
            <a:picLocks noChangeAspect="1"/>
          </p:cNvPicPr>
          <p:nvPr/>
        </p:nvPicPr>
        <p:blipFill>
          <a:blip r:embed="rId9"/>
          <a:stretch>
            <a:fillRect/>
          </a:stretch>
        </p:blipFill>
        <p:spPr>
          <a:xfrm>
            <a:off x="9269243" y="4781549"/>
            <a:ext cx="848914" cy="881271"/>
          </a:xfrm>
          <a:prstGeom prst="rect">
            <a:avLst/>
          </a:prstGeom>
        </p:spPr>
      </p:pic>
      <p:sp>
        <p:nvSpPr>
          <p:cNvPr id="40" name="TextBox 39">
            <a:extLst>
              <a:ext uri="{FF2B5EF4-FFF2-40B4-BE49-F238E27FC236}">
                <a16:creationId xmlns:a16="http://schemas.microsoft.com/office/drawing/2014/main" id="{6EDFE546-D90E-576C-80DF-192C611B4A8F}"/>
              </a:ext>
            </a:extLst>
          </p:cNvPr>
          <p:cNvSpPr txBox="1"/>
          <p:nvPr/>
        </p:nvSpPr>
        <p:spPr>
          <a:xfrm>
            <a:off x="8328301" y="4829936"/>
            <a:ext cx="74375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STD Servo motor</a:t>
            </a:r>
          </a:p>
        </p:txBody>
      </p:sp>
      <p:sp>
        <p:nvSpPr>
          <p:cNvPr id="6" name="TextBox 5">
            <a:extLst>
              <a:ext uri="{FF2B5EF4-FFF2-40B4-BE49-F238E27FC236}">
                <a16:creationId xmlns:a16="http://schemas.microsoft.com/office/drawing/2014/main" id="{14F8F12E-1465-0393-261B-712757F682C9}"/>
              </a:ext>
            </a:extLst>
          </p:cNvPr>
          <p:cNvSpPr txBox="1"/>
          <p:nvPr/>
        </p:nvSpPr>
        <p:spPr>
          <a:xfrm>
            <a:off x="5830018" y="2839528"/>
            <a:ext cx="120769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BMO055</a:t>
            </a:r>
          </a:p>
        </p:txBody>
      </p:sp>
      <p:sp>
        <p:nvSpPr>
          <p:cNvPr id="7" name="TextBox 6">
            <a:extLst>
              <a:ext uri="{FF2B5EF4-FFF2-40B4-BE49-F238E27FC236}">
                <a16:creationId xmlns:a16="http://schemas.microsoft.com/office/drawing/2014/main" id="{B855F61E-9315-054F-77EC-6E5EE1376662}"/>
              </a:ext>
            </a:extLst>
          </p:cNvPr>
          <p:cNvSpPr txBox="1"/>
          <p:nvPr/>
        </p:nvSpPr>
        <p:spPr>
          <a:xfrm>
            <a:off x="5894715" y="4370717"/>
            <a:ext cx="120769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ea typeface="+mn-lt"/>
                <a:cs typeface="+mn-lt"/>
              </a:rPr>
              <a:t>SSD1306</a:t>
            </a:r>
            <a:endParaRPr lang="en-US"/>
          </a:p>
        </p:txBody>
      </p:sp>
      <p:sp>
        <p:nvSpPr>
          <p:cNvPr id="9" name="TextBox 8">
            <a:extLst>
              <a:ext uri="{FF2B5EF4-FFF2-40B4-BE49-F238E27FC236}">
                <a16:creationId xmlns:a16="http://schemas.microsoft.com/office/drawing/2014/main" id="{FF375874-0DF6-632D-F76D-30D938D9CE12}"/>
              </a:ext>
            </a:extLst>
          </p:cNvPr>
          <p:cNvSpPr txBox="1"/>
          <p:nvPr/>
        </p:nvSpPr>
        <p:spPr>
          <a:xfrm>
            <a:off x="5916280" y="5750942"/>
            <a:ext cx="120769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ea typeface="+mn-lt"/>
                <a:cs typeface="+mn-lt"/>
              </a:rPr>
              <a:t>HC-SR04</a:t>
            </a:r>
            <a:endParaRPr lang="en-US"/>
          </a:p>
        </p:txBody>
      </p:sp>
      <p:sp>
        <p:nvSpPr>
          <p:cNvPr id="10" name="TextBox 9">
            <a:extLst>
              <a:ext uri="{FF2B5EF4-FFF2-40B4-BE49-F238E27FC236}">
                <a16:creationId xmlns:a16="http://schemas.microsoft.com/office/drawing/2014/main" id="{161CA235-2CE3-086D-6D98-A76882230869}"/>
              </a:ext>
            </a:extLst>
          </p:cNvPr>
          <p:cNvSpPr txBox="1"/>
          <p:nvPr/>
        </p:nvSpPr>
        <p:spPr>
          <a:xfrm>
            <a:off x="9259018" y="3076754"/>
            <a:ext cx="120769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SX1278</a:t>
            </a:r>
            <a:endParaRPr lang="en-US"/>
          </a:p>
        </p:txBody>
      </p:sp>
      <p:sp>
        <p:nvSpPr>
          <p:cNvPr id="11" name="TextBox 10">
            <a:extLst>
              <a:ext uri="{FF2B5EF4-FFF2-40B4-BE49-F238E27FC236}">
                <a16:creationId xmlns:a16="http://schemas.microsoft.com/office/drawing/2014/main" id="{5E262322-B8A6-5D5E-BE68-EDDC6822E350}"/>
              </a:ext>
            </a:extLst>
          </p:cNvPr>
          <p:cNvSpPr txBox="1"/>
          <p:nvPr/>
        </p:nvSpPr>
        <p:spPr>
          <a:xfrm>
            <a:off x="9244639" y="4370717"/>
            <a:ext cx="120769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RFID - RC522</a:t>
            </a:r>
            <a:endParaRPr lang="en-US"/>
          </a:p>
        </p:txBody>
      </p:sp>
      <p:sp>
        <p:nvSpPr>
          <p:cNvPr id="14" name="TextBox 13">
            <a:extLst>
              <a:ext uri="{FF2B5EF4-FFF2-40B4-BE49-F238E27FC236}">
                <a16:creationId xmlns:a16="http://schemas.microsoft.com/office/drawing/2014/main" id="{6315120E-FD2B-8ABB-EE5E-5116AEBDAEF3}"/>
              </a:ext>
            </a:extLst>
          </p:cNvPr>
          <p:cNvSpPr txBox="1"/>
          <p:nvPr/>
        </p:nvSpPr>
        <p:spPr>
          <a:xfrm>
            <a:off x="309112" y="5750945"/>
            <a:ext cx="17324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000" b="0" i="0" u="none" strike="noStrike" baseline="0">
                <a:solidFill>
                  <a:srgbClr val="000000"/>
                </a:solidFill>
                <a:latin typeface="Tw Cen MT"/>
              </a:rPr>
              <a:t>Arduino Mega 2560</a:t>
            </a:r>
            <a:r>
              <a:rPr lang="en-US" sz="1000" b="0" i="0">
                <a:latin typeface="Tw Cen MT"/>
              </a:rPr>
              <a:t>​</a:t>
            </a:r>
          </a:p>
          <a:p>
            <a:pPr algn="ctr"/>
            <a:endParaRPr lang="en-US" sz="1000"/>
          </a:p>
        </p:txBody>
      </p:sp>
    </p:spTree>
    <p:extLst>
      <p:ext uri="{BB962C8B-B14F-4D97-AF65-F5344CB8AC3E}">
        <p14:creationId xmlns:p14="http://schemas.microsoft.com/office/powerpoint/2010/main" val="1592815917"/>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E0D9-2648-8E43-E25B-AF559E78F36C}"/>
              </a:ext>
            </a:extLst>
          </p:cNvPr>
          <p:cNvSpPr>
            <a:spLocks noGrp="1"/>
          </p:cNvSpPr>
          <p:nvPr>
            <p:ph type="title"/>
          </p:nvPr>
        </p:nvSpPr>
        <p:spPr/>
        <p:txBody>
          <a:bodyPr/>
          <a:lstStyle/>
          <a:p>
            <a:r>
              <a:rPr lang="en-US" dirty="0" err="1"/>
              <a:t>DigitalBin</a:t>
            </a:r>
            <a:r>
              <a:rPr lang="en-US" dirty="0"/>
              <a:t> – Receiver Hardware</a:t>
            </a:r>
          </a:p>
        </p:txBody>
      </p:sp>
      <p:sp>
        <p:nvSpPr>
          <p:cNvPr id="7" name="TextBox 6">
            <a:extLst>
              <a:ext uri="{FF2B5EF4-FFF2-40B4-BE49-F238E27FC236}">
                <a16:creationId xmlns:a16="http://schemas.microsoft.com/office/drawing/2014/main" id="{CDF28B1F-56D7-4CB5-C049-A24826B6DEE2}"/>
              </a:ext>
            </a:extLst>
          </p:cNvPr>
          <p:cNvSpPr txBox="1"/>
          <p:nvPr/>
        </p:nvSpPr>
        <p:spPr>
          <a:xfrm>
            <a:off x="5275823" y="2370682"/>
            <a:ext cx="188976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t>Microcontroller </a:t>
            </a:r>
          </a:p>
        </p:txBody>
      </p:sp>
      <p:sp>
        <p:nvSpPr>
          <p:cNvPr id="9" name="TextBox 8">
            <a:extLst>
              <a:ext uri="{FF2B5EF4-FFF2-40B4-BE49-F238E27FC236}">
                <a16:creationId xmlns:a16="http://schemas.microsoft.com/office/drawing/2014/main" id="{1B08AA48-41FC-1ACB-D98E-807EB71311BC}"/>
              </a:ext>
            </a:extLst>
          </p:cNvPr>
          <p:cNvSpPr txBox="1"/>
          <p:nvPr/>
        </p:nvSpPr>
        <p:spPr>
          <a:xfrm>
            <a:off x="5356179" y="5277413"/>
            <a:ext cx="17324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solidFill>
                  <a:srgbClr val="000000"/>
                </a:solidFill>
                <a:latin typeface="Tw Cen MT"/>
              </a:rPr>
              <a:t>Arduino Uno</a:t>
            </a:r>
            <a:endParaRPr lang="en-US"/>
          </a:p>
          <a:p>
            <a:pPr algn="ctr"/>
            <a:endParaRPr lang="en-US" sz="1000"/>
          </a:p>
        </p:txBody>
      </p:sp>
      <p:pic>
        <p:nvPicPr>
          <p:cNvPr id="11" name="Graphic 10" descr="Computer outline">
            <a:extLst>
              <a:ext uri="{FF2B5EF4-FFF2-40B4-BE49-F238E27FC236}">
                <a16:creationId xmlns:a16="http://schemas.microsoft.com/office/drawing/2014/main" id="{43304E64-4451-9906-9FF8-EF2BE32B50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1804" y="2858717"/>
            <a:ext cx="1883107" cy="1994221"/>
          </a:xfrm>
          <a:prstGeom prst="rect">
            <a:avLst/>
          </a:prstGeom>
        </p:spPr>
      </p:pic>
      <p:pic>
        <p:nvPicPr>
          <p:cNvPr id="12" name="Picture 11" descr="A blue circuit board with black and blue components&#10;&#10;AI-generated content may be incorrect.">
            <a:extLst>
              <a:ext uri="{FF2B5EF4-FFF2-40B4-BE49-F238E27FC236}">
                <a16:creationId xmlns:a16="http://schemas.microsoft.com/office/drawing/2014/main" id="{058DFE9F-4086-BF62-19A2-3EEC6029260F}"/>
              </a:ext>
            </a:extLst>
          </p:cNvPr>
          <p:cNvPicPr>
            <a:picLocks noChangeAspect="1"/>
          </p:cNvPicPr>
          <p:nvPr/>
        </p:nvPicPr>
        <p:blipFill>
          <a:blip r:embed="rId5"/>
          <a:stretch>
            <a:fillRect/>
          </a:stretch>
        </p:blipFill>
        <p:spPr>
          <a:xfrm rot="16200000">
            <a:off x="4957909" y="3142129"/>
            <a:ext cx="2529013" cy="1883435"/>
          </a:xfrm>
          <a:prstGeom prst="rect">
            <a:avLst/>
          </a:prstGeom>
        </p:spPr>
      </p:pic>
      <p:sp>
        <p:nvSpPr>
          <p:cNvPr id="13" name="TextBox 12">
            <a:extLst>
              <a:ext uri="{FF2B5EF4-FFF2-40B4-BE49-F238E27FC236}">
                <a16:creationId xmlns:a16="http://schemas.microsoft.com/office/drawing/2014/main" id="{1CCE4FFF-2A1D-8511-FBC8-BCCE9636246D}"/>
              </a:ext>
            </a:extLst>
          </p:cNvPr>
          <p:cNvSpPr txBox="1"/>
          <p:nvPr/>
        </p:nvSpPr>
        <p:spPr>
          <a:xfrm>
            <a:off x="1520689" y="4682978"/>
            <a:ext cx="188976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t>Bridge Computer</a:t>
            </a:r>
          </a:p>
        </p:txBody>
      </p:sp>
      <p:pic>
        <p:nvPicPr>
          <p:cNvPr id="15" name="Picture 14" descr="A close-up of a blue circuit board&#10;&#10;AI-generated content may be incorrect.">
            <a:extLst>
              <a:ext uri="{FF2B5EF4-FFF2-40B4-BE49-F238E27FC236}">
                <a16:creationId xmlns:a16="http://schemas.microsoft.com/office/drawing/2014/main" id="{8013EFFF-8C39-F543-6929-7F32CA04491E}"/>
              </a:ext>
            </a:extLst>
          </p:cNvPr>
          <p:cNvPicPr>
            <a:picLocks noChangeAspect="1"/>
          </p:cNvPicPr>
          <p:nvPr/>
        </p:nvPicPr>
        <p:blipFill>
          <a:blip r:embed="rId6"/>
          <a:stretch>
            <a:fillRect/>
          </a:stretch>
        </p:blipFill>
        <p:spPr>
          <a:xfrm>
            <a:off x="9116204" y="3160872"/>
            <a:ext cx="1138490" cy="1448997"/>
          </a:xfrm>
          <a:prstGeom prst="rect">
            <a:avLst/>
          </a:prstGeom>
        </p:spPr>
      </p:pic>
      <p:sp>
        <p:nvSpPr>
          <p:cNvPr id="17" name="TextBox 16">
            <a:extLst>
              <a:ext uri="{FF2B5EF4-FFF2-40B4-BE49-F238E27FC236}">
                <a16:creationId xmlns:a16="http://schemas.microsoft.com/office/drawing/2014/main" id="{CF2122CF-1CEE-A504-8009-30581286BF35}"/>
              </a:ext>
            </a:extLst>
          </p:cNvPr>
          <p:cNvSpPr txBox="1"/>
          <p:nvPr/>
        </p:nvSpPr>
        <p:spPr>
          <a:xfrm>
            <a:off x="9018269" y="2522901"/>
            <a:ext cx="134179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t>LoRa radio</a:t>
            </a:r>
          </a:p>
          <a:p>
            <a:pPr algn="ctr"/>
            <a:r>
              <a:rPr lang="en-US" sz="1600">
                <a:ea typeface="+mn-lt"/>
                <a:cs typeface="+mn-lt"/>
              </a:rPr>
              <a:t>transmitter</a:t>
            </a:r>
          </a:p>
        </p:txBody>
      </p:sp>
      <p:sp>
        <p:nvSpPr>
          <p:cNvPr id="19" name="TextBox 18">
            <a:extLst>
              <a:ext uri="{FF2B5EF4-FFF2-40B4-BE49-F238E27FC236}">
                <a16:creationId xmlns:a16="http://schemas.microsoft.com/office/drawing/2014/main" id="{71EC8A0E-2073-EFAC-2BC6-88522AD0235C}"/>
              </a:ext>
            </a:extLst>
          </p:cNvPr>
          <p:cNvSpPr txBox="1"/>
          <p:nvPr/>
        </p:nvSpPr>
        <p:spPr>
          <a:xfrm>
            <a:off x="9193889" y="4613227"/>
            <a:ext cx="64108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t>SX1278</a:t>
            </a:r>
            <a:endParaRPr lang="en-US"/>
          </a:p>
        </p:txBody>
      </p:sp>
      <p:sp>
        <p:nvSpPr>
          <p:cNvPr id="4" name="Arrow: Right 3">
            <a:extLst>
              <a:ext uri="{FF2B5EF4-FFF2-40B4-BE49-F238E27FC236}">
                <a16:creationId xmlns:a16="http://schemas.microsoft.com/office/drawing/2014/main" id="{AB1C2D60-5014-7E48-9819-AD9407CBE56A}"/>
              </a:ext>
            </a:extLst>
          </p:cNvPr>
          <p:cNvSpPr/>
          <p:nvPr/>
        </p:nvSpPr>
        <p:spPr>
          <a:xfrm>
            <a:off x="3898709" y="3853456"/>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Arrow: Right 5">
            <a:extLst>
              <a:ext uri="{FF2B5EF4-FFF2-40B4-BE49-F238E27FC236}">
                <a16:creationId xmlns:a16="http://schemas.microsoft.com/office/drawing/2014/main" id="{93B1CAC0-D8E6-BEEF-D4A2-C8DB60EB6429}"/>
              </a:ext>
            </a:extLst>
          </p:cNvPr>
          <p:cNvSpPr/>
          <p:nvPr/>
        </p:nvSpPr>
        <p:spPr>
          <a:xfrm rot="10800000">
            <a:off x="3836341" y="3581758"/>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Right 9">
            <a:extLst>
              <a:ext uri="{FF2B5EF4-FFF2-40B4-BE49-F238E27FC236}">
                <a16:creationId xmlns:a16="http://schemas.microsoft.com/office/drawing/2014/main" id="{BACE48C2-6C72-320B-A583-47CEFD961BC8}"/>
              </a:ext>
            </a:extLst>
          </p:cNvPr>
          <p:cNvSpPr/>
          <p:nvPr/>
        </p:nvSpPr>
        <p:spPr>
          <a:xfrm>
            <a:off x="7597992" y="3853457"/>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Arrow: Right 15">
            <a:extLst>
              <a:ext uri="{FF2B5EF4-FFF2-40B4-BE49-F238E27FC236}">
                <a16:creationId xmlns:a16="http://schemas.microsoft.com/office/drawing/2014/main" id="{ED281865-F25F-3383-C8E4-D278EEB84ACE}"/>
              </a:ext>
            </a:extLst>
          </p:cNvPr>
          <p:cNvSpPr/>
          <p:nvPr/>
        </p:nvSpPr>
        <p:spPr>
          <a:xfrm rot="10800000">
            <a:off x="7600751" y="3581758"/>
            <a:ext cx="1114800" cy="15057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22039109"/>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55F9-2926-5E13-0882-A5EA7E66101C}"/>
              </a:ext>
            </a:extLst>
          </p:cNvPr>
          <p:cNvSpPr>
            <a:spLocks noGrp="1"/>
          </p:cNvSpPr>
          <p:nvPr>
            <p:ph type="title"/>
          </p:nvPr>
        </p:nvSpPr>
        <p:spPr>
          <a:xfrm>
            <a:off x="1097280" y="286604"/>
            <a:ext cx="10058400" cy="952262"/>
          </a:xfrm>
        </p:spPr>
        <p:txBody>
          <a:bodyPr/>
          <a:lstStyle/>
          <a:p>
            <a:r>
              <a:rPr lang="en-US" err="1"/>
              <a:t>DigitalBin</a:t>
            </a:r>
            <a:r>
              <a:rPr lang="en-US"/>
              <a:t> - LoRa Technology</a:t>
            </a:r>
          </a:p>
        </p:txBody>
      </p:sp>
      <p:graphicFrame>
        <p:nvGraphicFramePr>
          <p:cNvPr id="5" name="Content Placeholder 2">
            <a:extLst>
              <a:ext uri="{FF2B5EF4-FFF2-40B4-BE49-F238E27FC236}">
                <a16:creationId xmlns:a16="http://schemas.microsoft.com/office/drawing/2014/main" id="{1FF16216-B15D-7DE1-CFAE-F1050CC28724}"/>
              </a:ext>
            </a:extLst>
          </p:cNvPr>
          <p:cNvGraphicFramePr>
            <a:graphicFrameLocks noGrp="1"/>
          </p:cNvGraphicFramePr>
          <p:nvPr>
            <p:ph idx="1"/>
            <p:extLst>
              <p:ext uri="{D42A27DB-BD31-4B8C-83A1-F6EECF244321}">
                <p14:modId xmlns:p14="http://schemas.microsoft.com/office/powerpoint/2010/main" val="820684596"/>
              </p:ext>
            </p:extLst>
          </p:nvPr>
        </p:nvGraphicFramePr>
        <p:xfrm>
          <a:off x="599767" y="2005781"/>
          <a:ext cx="11189109" cy="4159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3640657"/>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8D625-0727-01B4-8A81-B32EE5370871}"/>
              </a:ext>
            </a:extLst>
          </p:cNvPr>
          <p:cNvSpPr>
            <a:spLocks noGrp="1"/>
          </p:cNvSpPr>
          <p:nvPr>
            <p:ph type="title"/>
          </p:nvPr>
        </p:nvSpPr>
        <p:spPr>
          <a:xfrm>
            <a:off x="1097280" y="286604"/>
            <a:ext cx="10058400" cy="883436"/>
          </a:xfrm>
        </p:spPr>
        <p:txBody>
          <a:bodyPr/>
          <a:lstStyle/>
          <a:p>
            <a:r>
              <a:rPr lang="it-IT" err="1"/>
              <a:t>DigitalBin</a:t>
            </a:r>
            <a:r>
              <a:rPr lang="it-IT"/>
              <a:t> – </a:t>
            </a:r>
            <a:r>
              <a:rPr lang="it-IT" err="1"/>
              <a:t>Packet</a:t>
            </a:r>
            <a:r>
              <a:rPr lang="it-IT"/>
              <a:t> (Bin </a:t>
            </a:r>
            <a:r>
              <a:rPr lang="en-GB"/>
              <a:t>→</a:t>
            </a:r>
            <a:r>
              <a:rPr lang="it-IT"/>
              <a:t> Bridge)</a:t>
            </a:r>
            <a:endParaRPr lang="en-GB"/>
          </a:p>
        </p:txBody>
      </p:sp>
      <p:sp>
        <p:nvSpPr>
          <p:cNvPr id="16" name="Rectangle 15">
            <a:extLst>
              <a:ext uri="{FF2B5EF4-FFF2-40B4-BE49-F238E27FC236}">
                <a16:creationId xmlns:a16="http://schemas.microsoft.com/office/drawing/2014/main" id="{3D38219A-3619-8CED-6FE0-8CF7E5FA8FEF}"/>
              </a:ext>
            </a:extLst>
          </p:cNvPr>
          <p:cNvSpPr/>
          <p:nvPr/>
        </p:nvSpPr>
        <p:spPr>
          <a:xfrm>
            <a:off x="1097280" y="2251586"/>
            <a:ext cx="1370617"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START_SEQ</a:t>
            </a:r>
          </a:p>
        </p:txBody>
      </p:sp>
      <p:sp>
        <p:nvSpPr>
          <p:cNvPr id="17" name="Rectangle 16">
            <a:extLst>
              <a:ext uri="{FF2B5EF4-FFF2-40B4-BE49-F238E27FC236}">
                <a16:creationId xmlns:a16="http://schemas.microsoft.com/office/drawing/2014/main" id="{5862E28B-105C-AB6F-F676-ABBC01D858D3}"/>
              </a:ext>
            </a:extLst>
          </p:cNvPr>
          <p:cNvSpPr/>
          <p:nvPr/>
        </p:nvSpPr>
        <p:spPr>
          <a:xfrm>
            <a:off x="2467897" y="2251587"/>
            <a:ext cx="3077497" cy="1471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POSITION/FILL/OVERTURN</a:t>
            </a:r>
          </a:p>
        </p:txBody>
      </p:sp>
      <p:sp>
        <p:nvSpPr>
          <p:cNvPr id="18" name="Rectangle 17">
            <a:extLst>
              <a:ext uri="{FF2B5EF4-FFF2-40B4-BE49-F238E27FC236}">
                <a16:creationId xmlns:a16="http://schemas.microsoft.com/office/drawing/2014/main" id="{A93702D7-6B5D-D68D-1E83-C9EBBE9EBE3D}"/>
              </a:ext>
            </a:extLst>
          </p:cNvPr>
          <p:cNvSpPr/>
          <p:nvPr/>
        </p:nvSpPr>
        <p:spPr>
          <a:xfrm>
            <a:off x="5545394" y="2251587"/>
            <a:ext cx="1370617" cy="1471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ID</a:t>
            </a:r>
          </a:p>
        </p:txBody>
      </p:sp>
      <p:sp>
        <p:nvSpPr>
          <p:cNvPr id="19" name="Rectangle 18">
            <a:extLst>
              <a:ext uri="{FF2B5EF4-FFF2-40B4-BE49-F238E27FC236}">
                <a16:creationId xmlns:a16="http://schemas.microsoft.com/office/drawing/2014/main" id="{20A0AD3B-AF96-6697-044B-B377E6107D78}"/>
              </a:ext>
            </a:extLst>
          </p:cNvPr>
          <p:cNvSpPr/>
          <p:nvPr/>
        </p:nvSpPr>
        <p:spPr>
          <a:xfrm>
            <a:off x="6916011" y="2251587"/>
            <a:ext cx="4239669" cy="1471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PAYLOAD</a:t>
            </a:r>
          </a:p>
        </p:txBody>
      </p:sp>
      <p:sp>
        <p:nvSpPr>
          <p:cNvPr id="20" name="Rectangle 19">
            <a:extLst>
              <a:ext uri="{FF2B5EF4-FFF2-40B4-BE49-F238E27FC236}">
                <a16:creationId xmlns:a16="http://schemas.microsoft.com/office/drawing/2014/main" id="{9D4C9B09-D5DA-9867-6C44-1FD80F81AD57}"/>
              </a:ext>
            </a:extLst>
          </p:cNvPr>
          <p:cNvSpPr/>
          <p:nvPr/>
        </p:nvSpPr>
        <p:spPr>
          <a:xfrm>
            <a:off x="1097280" y="4537587"/>
            <a:ext cx="2183743" cy="883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PAYLOAD</a:t>
            </a:r>
          </a:p>
        </p:txBody>
      </p:sp>
      <p:sp>
        <p:nvSpPr>
          <p:cNvPr id="22" name="Arrow: Right 21">
            <a:extLst>
              <a:ext uri="{FF2B5EF4-FFF2-40B4-BE49-F238E27FC236}">
                <a16:creationId xmlns:a16="http://schemas.microsoft.com/office/drawing/2014/main" id="{8BE72E33-50D8-9CE4-C12F-120E563C8B3E}"/>
              </a:ext>
            </a:extLst>
          </p:cNvPr>
          <p:cNvSpPr/>
          <p:nvPr/>
        </p:nvSpPr>
        <p:spPr>
          <a:xfrm>
            <a:off x="3628103" y="4590930"/>
            <a:ext cx="1061884" cy="7767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Left Brace 24">
            <a:extLst>
              <a:ext uri="{FF2B5EF4-FFF2-40B4-BE49-F238E27FC236}">
                <a16:creationId xmlns:a16="http://schemas.microsoft.com/office/drawing/2014/main" id="{4B12D16D-D583-2817-204C-B82A04979B61}"/>
              </a:ext>
            </a:extLst>
          </p:cNvPr>
          <p:cNvSpPr/>
          <p:nvPr/>
        </p:nvSpPr>
        <p:spPr>
          <a:xfrm>
            <a:off x="4925962" y="3912870"/>
            <a:ext cx="1425677" cy="2132867"/>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TextBox 25">
            <a:extLst>
              <a:ext uri="{FF2B5EF4-FFF2-40B4-BE49-F238E27FC236}">
                <a16:creationId xmlns:a16="http://schemas.microsoft.com/office/drawing/2014/main" id="{28581F71-E7AE-BE89-1162-653E8C877DD0}"/>
              </a:ext>
            </a:extLst>
          </p:cNvPr>
          <p:cNvSpPr txBox="1"/>
          <p:nvPr/>
        </p:nvSpPr>
        <p:spPr>
          <a:xfrm>
            <a:off x="6096000" y="4069933"/>
            <a:ext cx="4365523" cy="1631216"/>
          </a:xfrm>
          <a:prstGeom prst="rect">
            <a:avLst/>
          </a:prstGeom>
          <a:noFill/>
        </p:spPr>
        <p:txBody>
          <a:bodyPr wrap="square" rtlCol="0">
            <a:spAutoFit/>
          </a:bodyPr>
          <a:lstStyle/>
          <a:p>
            <a:r>
              <a:rPr lang="it-IT" sz="2000"/>
              <a:t>Position   </a:t>
            </a:r>
            <a:r>
              <a:rPr lang="en-GB" sz="2000"/>
              <a:t>→</a:t>
            </a:r>
            <a:r>
              <a:rPr lang="it-IT" sz="2000"/>
              <a:t> </a:t>
            </a:r>
            <a:r>
              <a:rPr lang="it-IT" sz="2000" err="1"/>
              <a:t>lat,lon</a:t>
            </a:r>
            <a:endParaRPr lang="it-IT" sz="2000"/>
          </a:p>
          <a:p>
            <a:endParaRPr lang="it-IT" sz="2000"/>
          </a:p>
          <a:p>
            <a:r>
              <a:rPr lang="en-GB" sz="2000"/>
              <a:t>Fill         → </a:t>
            </a:r>
            <a:r>
              <a:rPr lang="en-GB" sz="2000" err="1"/>
              <a:t>fill_level</a:t>
            </a:r>
            <a:r>
              <a:rPr lang="en-GB" sz="2000"/>
              <a:t> (%)</a:t>
            </a:r>
          </a:p>
          <a:p>
            <a:endParaRPr lang="en-GB" sz="2000"/>
          </a:p>
          <a:p>
            <a:r>
              <a:rPr lang="en-GB" sz="2000"/>
              <a:t>Overturn → </a:t>
            </a:r>
            <a:r>
              <a:rPr lang="en-GB" sz="2000" err="1"/>
              <a:t>is_Overturn</a:t>
            </a:r>
            <a:r>
              <a:rPr lang="en-GB" sz="2000"/>
              <a:t> (true/false)</a:t>
            </a:r>
            <a:endParaRPr lang="it-IT" sz="2000"/>
          </a:p>
        </p:txBody>
      </p:sp>
    </p:spTree>
    <p:extLst>
      <p:ext uri="{BB962C8B-B14F-4D97-AF65-F5344CB8AC3E}">
        <p14:creationId xmlns:p14="http://schemas.microsoft.com/office/powerpoint/2010/main" val="280554135"/>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E224B-9A01-8665-0B48-7557CDAD0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B1ABB-141D-A497-06EA-BCCB90FF77A8}"/>
              </a:ext>
            </a:extLst>
          </p:cNvPr>
          <p:cNvSpPr>
            <a:spLocks noGrp="1"/>
          </p:cNvSpPr>
          <p:nvPr>
            <p:ph type="title"/>
          </p:nvPr>
        </p:nvSpPr>
        <p:spPr>
          <a:xfrm>
            <a:off x="1097280" y="286604"/>
            <a:ext cx="10058400" cy="883436"/>
          </a:xfrm>
        </p:spPr>
        <p:txBody>
          <a:bodyPr>
            <a:normAutofit/>
          </a:bodyPr>
          <a:lstStyle/>
          <a:p>
            <a:r>
              <a:rPr lang="it-IT" err="1"/>
              <a:t>DigitalBin</a:t>
            </a:r>
            <a:r>
              <a:rPr lang="it-IT"/>
              <a:t> – </a:t>
            </a:r>
            <a:r>
              <a:rPr lang="it-IT" err="1"/>
              <a:t>Packet</a:t>
            </a:r>
            <a:r>
              <a:rPr lang="it-IT"/>
              <a:t> (Bridge </a:t>
            </a:r>
            <a:r>
              <a:rPr lang="en-GB"/>
              <a:t>→</a:t>
            </a:r>
            <a:r>
              <a:rPr lang="it-IT"/>
              <a:t> Bin)</a:t>
            </a:r>
            <a:endParaRPr lang="en-GB"/>
          </a:p>
        </p:txBody>
      </p:sp>
      <p:sp>
        <p:nvSpPr>
          <p:cNvPr id="16" name="Rectangle 15">
            <a:extLst>
              <a:ext uri="{FF2B5EF4-FFF2-40B4-BE49-F238E27FC236}">
                <a16:creationId xmlns:a16="http://schemas.microsoft.com/office/drawing/2014/main" id="{1FCC02CD-20DD-0850-9F75-9F0DD14F012C}"/>
              </a:ext>
            </a:extLst>
          </p:cNvPr>
          <p:cNvSpPr/>
          <p:nvPr/>
        </p:nvSpPr>
        <p:spPr>
          <a:xfrm>
            <a:off x="1097280" y="2251586"/>
            <a:ext cx="1370617"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START_SEQ</a:t>
            </a:r>
          </a:p>
        </p:txBody>
      </p:sp>
      <p:sp>
        <p:nvSpPr>
          <p:cNvPr id="20" name="Rectangle 19">
            <a:extLst>
              <a:ext uri="{FF2B5EF4-FFF2-40B4-BE49-F238E27FC236}">
                <a16:creationId xmlns:a16="http://schemas.microsoft.com/office/drawing/2014/main" id="{8F6F0B73-D821-65E3-5A78-1F65CF11971B}"/>
              </a:ext>
            </a:extLst>
          </p:cNvPr>
          <p:cNvSpPr/>
          <p:nvPr/>
        </p:nvSpPr>
        <p:spPr>
          <a:xfrm>
            <a:off x="509311" y="5213921"/>
            <a:ext cx="1832733" cy="6698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CMD</a:t>
            </a:r>
          </a:p>
        </p:txBody>
      </p:sp>
      <p:sp>
        <p:nvSpPr>
          <p:cNvPr id="22" name="Arrow: Right 21">
            <a:extLst>
              <a:ext uri="{FF2B5EF4-FFF2-40B4-BE49-F238E27FC236}">
                <a16:creationId xmlns:a16="http://schemas.microsoft.com/office/drawing/2014/main" id="{3A3C6917-3125-7581-59EC-9B58A42ED4A4}"/>
              </a:ext>
            </a:extLst>
          </p:cNvPr>
          <p:cNvSpPr/>
          <p:nvPr/>
        </p:nvSpPr>
        <p:spPr>
          <a:xfrm>
            <a:off x="2733368" y="5160467"/>
            <a:ext cx="1061884" cy="7767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Left Brace 24">
            <a:extLst>
              <a:ext uri="{FF2B5EF4-FFF2-40B4-BE49-F238E27FC236}">
                <a16:creationId xmlns:a16="http://schemas.microsoft.com/office/drawing/2014/main" id="{A14F93F5-5688-C6A6-66C2-6C2B25BD0A33}"/>
              </a:ext>
            </a:extLst>
          </p:cNvPr>
          <p:cNvSpPr/>
          <p:nvPr/>
        </p:nvSpPr>
        <p:spPr>
          <a:xfrm>
            <a:off x="3883743" y="4932338"/>
            <a:ext cx="894735" cy="1241218"/>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TextBox 25">
            <a:extLst>
              <a:ext uri="{FF2B5EF4-FFF2-40B4-BE49-F238E27FC236}">
                <a16:creationId xmlns:a16="http://schemas.microsoft.com/office/drawing/2014/main" id="{817846B7-9873-A2F1-F56C-380E4609A96B}"/>
              </a:ext>
            </a:extLst>
          </p:cNvPr>
          <p:cNvSpPr txBox="1"/>
          <p:nvPr/>
        </p:nvSpPr>
        <p:spPr>
          <a:xfrm>
            <a:off x="4920063" y="5107123"/>
            <a:ext cx="1480738" cy="1015663"/>
          </a:xfrm>
          <a:prstGeom prst="rect">
            <a:avLst/>
          </a:prstGeom>
          <a:noFill/>
        </p:spPr>
        <p:txBody>
          <a:bodyPr wrap="square" rtlCol="0">
            <a:spAutoFit/>
          </a:bodyPr>
          <a:lstStyle/>
          <a:p>
            <a:r>
              <a:rPr lang="it-IT" sz="2000"/>
              <a:t>CMD_LOCK </a:t>
            </a:r>
          </a:p>
          <a:p>
            <a:endParaRPr lang="en-GB" sz="2000"/>
          </a:p>
          <a:p>
            <a:r>
              <a:rPr lang="en-GB" sz="2000"/>
              <a:t>CMD_LCD</a:t>
            </a:r>
            <a:endParaRPr lang="it-IT" sz="2000"/>
          </a:p>
        </p:txBody>
      </p:sp>
      <p:sp>
        <p:nvSpPr>
          <p:cNvPr id="3" name="Rectangle 2">
            <a:extLst>
              <a:ext uri="{FF2B5EF4-FFF2-40B4-BE49-F238E27FC236}">
                <a16:creationId xmlns:a16="http://schemas.microsoft.com/office/drawing/2014/main" id="{063EB212-9461-C373-ED61-62152B79ECF1}"/>
              </a:ext>
            </a:extLst>
          </p:cNvPr>
          <p:cNvSpPr/>
          <p:nvPr/>
        </p:nvSpPr>
        <p:spPr>
          <a:xfrm>
            <a:off x="2467897" y="2251585"/>
            <a:ext cx="1533832"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MY_ADDRESS</a:t>
            </a:r>
          </a:p>
        </p:txBody>
      </p:sp>
      <p:sp>
        <p:nvSpPr>
          <p:cNvPr id="4" name="Rectangle 3">
            <a:extLst>
              <a:ext uri="{FF2B5EF4-FFF2-40B4-BE49-F238E27FC236}">
                <a16:creationId xmlns:a16="http://schemas.microsoft.com/office/drawing/2014/main" id="{1280FCE4-58E9-48CD-4D5E-BA899EC9BD1C}"/>
              </a:ext>
            </a:extLst>
          </p:cNvPr>
          <p:cNvSpPr/>
          <p:nvPr/>
        </p:nvSpPr>
        <p:spPr>
          <a:xfrm>
            <a:off x="4001729" y="2251584"/>
            <a:ext cx="1671484"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START_MARKER</a:t>
            </a:r>
          </a:p>
          <a:p>
            <a:pPr algn="ctr"/>
            <a:r>
              <a:rPr lang="it-IT">
                <a:ln w="0"/>
                <a:solidFill>
                  <a:schemeClr val="tx1"/>
                </a:solidFill>
                <a:effectLst>
                  <a:outerShdw blurRad="38100" dist="19050" dir="2700000" algn="tl" rotWithShape="0">
                    <a:schemeClr val="dk1">
                      <a:alpha val="40000"/>
                    </a:schemeClr>
                  </a:outerShdw>
                </a:effectLst>
              </a:rPr>
              <a:t>0xFE</a:t>
            </a:r>
          </a:p>
        </p:txBody>
      </p:sp>
      <p:sp>
        <p:nvSpPr>
          <p:cNvPr id="5" name="Rectangle 4">
            <a:extLst>
              <a:ext uri="{FF2B5EF4-FFF2-40B4-BE49-F238E27FC236}">
                <a16:creationId xmlns:a16="http://schemas.microsoft.com/office/drawing/2014/main" id="{3A2AA43E-C806-0B38-98E0-2D30D4D5C1CB}"/>
              </a:ext>
            </a:extLst>
          </p:cNvPr>
          <p:cNvSpPr/>
          <p:nvPr/>
        </p:nvSpPr>
        <p:spPr>
          <a:xfrm>
            <a:off x="5673213" y="2251584"/>
            <a:ext cx="1533832"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CMD</a:t>
            </a:r>
          </a:p>
        </p:txBody>
      </p:sp>
      <p:sp>
        <p:nvSpPr>
          <p:cNvPr id="6" name="Rectangle 5">
            <a:extLst>
              <a:ext uri="{FF2B5EF4-FFF2-40B4-BE49-F238E27FC236}">
                <a16:creationId xmlns:a16="http://schemas.microsoft.com/office/drawing/2014/main" id="{06B68498-5C21-BFA7-774D-1389B3D62B89}"/>
              </a:ext>
            </a:extLst>
          </p:cNvPr>
          <p:cNvSpPr/>
          <p:nvPr/>
        </p:nvSpPr>
        <p:spPr>
          <a:xfrm>
            <a:off x="7207045" y="2251582"/>
            <a:ext cx="2353843"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PAYLOAD</a:t>
            </a:r>
          </a:p>
        </p:txBody>
      </p:sp>
      <p:sp>
        <p:nvSpPr>
          <p:cNvPr id="7" name="Rectangle 6">
            <a:extLst>
              <a:ext uri="{FF2B5EF4-FFF2-40B4-BE49-F238E27FC236}">
                <a16:creationId xmlns:a16="http://schemas.microsoft.com/office/drawing/2014/main" id="{D0DFB976-C6DE-D862-D85D-58BA2BAE2665}"/>
              </a:ext>
            </a:extLst>
          </p:cNvPr>
          <p:cNvSpPr/>
          <p:nvPr/>
        </p:nvSpPr>
        <p:spPr>
          <a:xfrm>
            <a:off x="9560888" y="2251582"/>
            <a:ext cx="1533832" cy="1471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END_MARKER</a:t>
            </a:r>
          </a:p>
          <a:p>
            <a:pPr algn="ctr"/>
            <a:r>
              <a:rPr lang="it-IT">
                <a:ln w="0"/>
                <a:solidFill>
                  <a:schemeClr val="tx1"/>
                </a:solidFill>
                <a:effectLst>
                  <a:outerShdw blurRad="38100" dist="19050" dir="2700000" algn="tl" rotWithShape="0">
                    <a:schemeClr val="dk1">
                      <a:alpha val="40000"/>
                    </a:schemeClr>
                  </a:outerShdw>
                </a:effectLst>
              </a:rPr>
              <a:t>0xFF</a:t>
            </a:r>
          </a:p>
        </p:txBody>
      </p:sp>
      <p:sp>
        <p:nvSpPr>
          <p:cNvPr id="8" name="Left Brace 7">
            <a:extLst>
              <a:ext uri="{FF2B5EF4-FFF2-40B4-BE49-F238E27FC236}">
                <a16:creationId xmlns:a16="http://schemas.microsoft.com/office/drawing/2014/main" id="{3F62BF16-8A5C-CB91-8BE0-C0DD8E857CA5}"/>
              </a:ext>
            </a:extLst>
          </p:cNvPr>
          <p:cNvSpPr/>
          <p:nvPr/>
        </p:nvSpPr>
        <p:spPr>
          <a:xfrm rot="16200000">
            <a:off x="7184431" y="608104"/>
            <a:ext cx="737420" cy="708315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9" name="Rectangle 8">
            <a:extLst>
              <a:ext uri="{FF2B5EF4-FFF2-40B4-BE49-F238E27FC236}">
                <a16:creationId xmlns:a16="http://schemas.microsoft.com/office/drawing/2014/main" id="{3E7DF205-888F-944A-065D-B02FE954E183}"/>
              </a:ext>
            </a:extLst>
          </p:cNvPr>
          <p:cNvSpPr/>
          <p:nvPr/>
        </p:nvSpPr>
        <p:spPr>
          <a:xfrm>
            <a:off x="6958289" y="4518393"/>
            <a:ext cx="1189703" cy="588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n w="0"/>
                <a:solidFill>
                  <a:schemeClr val="tx1"/>
                </a:solidFill>
                <a:effectLst>
                  <a:outerShdw blurRad="38100" dist="19050" dir="2700000" algn="tl" rotWithShape="0">
                    <a:schemeClr val="dk1">
                      <a:alpha val="40000"/>
                    </a:schemeClr>
                  </a:outerShdw>
                </a:effectLst>
              </a:rPr>
              <a:t>FSM</a:t>
            </a:r>
            <a:endParaRPr lang="en-GB"/>
          </a:p>
        </p:txBody>
      </p:sp>
    </p:spTree>
    <p:extLst>
      <p:ext uri="{BB962C8B-B14F-4D97-AF65-F5344CB8AC3E}">
        <p14:creationId xmlns:p14="http://schemas.microsoft.com/office/powerpoint/2010/main" val="1268509372"/>
      </p:ext>
    </p:extLst>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5053F6-A165-B862-9F97-FF2C6EBB2DBF}"/>
              </a:ext>
            </a:extLst>
          </p:cNvPr>
          <p:cNvSpPr>
            <a:spLocks noGrp="1"/>
          </p:cNvSpPr>
          <p:nvPr>
            <p:ph type="title"/>
          </p:nvPr>
        </p:nvSpPr>
        <p:spPr>
          <a:xfrm>
            <a:off x="878911" y="353963"/>
            <a:ext cx="3177847" cy="1963685"/>
          </a:xfrm>
        </p:spPr>
        <p:txBody>
          <a:bodyPr vert="horz" lIns="91440" tIns="45720" rIns="91440" bIns="45720" rtlCol="0" anchor="b">
            <a:normAutofit/>
          </a:bodyPr>
          <a:lstStyle/>
          <a:p>
            <a:pPr>
              <a:lnSpc>
                <a:spcPct val="90000"/>
              </a:lnSpc>
            </a:pPr>
            <a:r>
              <a:rPr lang="en-US" sz="4000" err="1"/>
              <a:t>DigitalBin</a:t>
            </a:r>
            <a:r>
              <a:rPr lang="en-US" sz="4000"/>
              <a:t> - Finite State Machine</a:t>
            </a:r>
          </a:p>
        </p:txBody>
      </p:sp>
      <p:cxnSp>
        <p:nvCxnSpPr>
          <p:cNvPr id="36" name="Straight Connector 35">
            <a:extLst>
              <a:ext uri="{FF2B5EF4-FFF2-40B4-BE49-F238E27FC236}">
                <a16:creationId xmlns:a16="http://schemas.microsoft.com/office/drawing/2014/main" id="{EEB57AA8-F021-480C-A9E2-F899133136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62164" y="2478513"/>
            <a:ext cx="292608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E2C2BFA-AC32-432E-EA23-35FB1BD7648E}"/>
              </a:ext>
            </a:extLst>
          </p:cNvPr>
          <p:cNvSpPr txBox="1"/>
          <p:nvPr/>
        </p:nvSpPr>
        <p:spPr>
          <a:xfrm>
            <a:off x="858064" y="2639380"/>
            <a:ext cx="3205049" cy="3229714"/>
          </a:xfrm>
          <a:prstGeom prst="rect">
            <a:avLst/>
          </a:prstGeom>
        </p:spPr>
        <p:txBody>
          <a:bodyPr vert="horz" lIns="0" tIns="45720" rIns="0" bIns="45720" rtlCol="0">
            <a:normAutofit/>
          </a:bodyPr>
          <a:lstStyle/>
          <a:p>
            <a:pPr>
              <a:spcAft>
                <a:spcPts val="600"/>
              </a:spcAft>
              <a:buFont typeface="Calibri" panose="020F0502020204030204" pitchFamily="34" charset="0"/>
            </a:pPr>
            <a:r>
              <a:rPr lang="en-US">
                <a:solidFill>
                  <a:schemeClr val="tx1">
                    <a:lumMod val="75000"/>
                    <a:lumOff val="25000"/>
                  </a:schemeClr>
                </a:solidFill>
              </a:rPr>
              <a:t>FSM - Mealy</a:t>
            </a:r>
          </a:p>
        </p:txBody>
      </p:sp>
      <p:pic>
        <p:nvPicPr>
          <p:cNvPr id="5" name="Content Placeholder 4" descr="A diagram of a process&#10;&#10;AI-generated content may be incorrect.">
            <a:extLst>
              <a:ext uri="{FF2B5EF4-FFF2-40B4-BE49-F238E27FC236}">
                <a16:creationId xmlns:a16="http://schemas.microsoft.com/office/drawing/2014/main" id="{6A1567A4-B1A5-7D2E-32CA-BDB16D5774B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23475" y="643466"/>
            <a:ext cx="6552503" cy="5225621"/>
          </a:xfrm>
          <a:prstGeom prst="rect">
            <a:avLst/>
          </a:prstGeom>
        </p:spPr>
      </p:pic>
      <p:sp>
        <p:nvSpPr>
          <p:cNvPr id="38" name="Rectangle 37">
            <a:extLst>
              <a:ext uri="{FF2B5EF4-FFF2-40B4-BE49-F238E27FC236}">
                <a16:creationId xmlns:a16="http://schemas.microsoft.com/office/drawing/2014/main" id="{6BF36B24-6632-4516-9692-73146289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662765098"/>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2F3DA-0B28-7F71-3B81-4DF7BC686501}"/>
              </a:ext>
            </a:extLst>
          </p:cNvPr>
          <p:cNvSpPr>
            <a:spLocks noGrp="1"/>
          </p:cNvSpPr>
          <p:nvPr>
            <p:ph type="title"/>
          </p:nvPr>
        </p:nvSpPr>
        <p:spPr>
          <a:xfrm>
            <a:off x="1097280" y="286604"/>
            <a:ext cx="10058400" cy="912932"/>
          </a:xfrm>
        </p:spPr>
        <p:txBody>
          <a:bodyPr/>
          <a:lstStyle/>
          <a:p>
            <a:r>
              <a:rPr lang="it-IT"/>
              <a:t>Receiver LoRa</a:t>
            </a:r>
            <a:endParaRPr lang="en-GB"/>
          </a:p>
        </p:txBody>
      </p:sp>
      <p:graphicFrame>
        <p:nvGraphicFramePr>
          <p:cNvPr id="5" name="Content Placeholder 2">
            <a:extLst>
              <a:ext uri="{FF2B5EF4-FFF2-40B4-BE49-F238E27FC236}">
                <a16:creationId xmlns:a16="http://schemas.microsoft.com/office/drawing/2014/main" id="{51E07649-3FAF-5DC6-3CB5-CDCB765CB5DA}"/>
              </a:ext>
            </a:extLst>
          </p:cNvPr>
          <p:cNvGraphicFramePr>
            <a:graphicFrameLocks noGrp="1"/>
          </p:cNvGraphicFramePr>
          <p:nvPr>
            <p:ph idx="1"/>
            <p:extLst>
              <p:ext uri="{D42A27DB-BD31-4B8C-83A1-F6EECF244321}">
                <p14:modId xmlns:p14="http://schemas.microsoft.com/office/powerpoint/2010/main" val="3105049154"/>
              </p:ext>
            </p:extLst>
          </p:nvPr>
        </p:nvGraphicFramePr>
        <p:xfrm>
          <a:off x="1097280" y="2029543"/>
          <a:ext cx="10058400" cy="28964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5145569"/>
      </p:ext>
    </p:extLst>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E1F05-AEAC-8221-7DF6-09E08D2524CE}"/>
              </a:ext>
            </a:extLst>
          </p:cNvPr>
          <p:cNvSpPr>
            <a:spLocks noGrp="1"/>
          </p:cNvSpPr>
          <p:nvPr>
            <p:ph type="title"/>
          </p:nvPr>
        </p:nvSpPr>
        <p:spPr/>
        <p:txBody>
          <a:bodyPr/>
          <a:lstStyle/>
          <a:p>
            <a:r>
              <a:rPr lang="it-IT" err="1"/>
              <a:t>Receiver</a:t>
            </a:r>
            <a:r>
              <a:rPr lang="it-IT"/>
              <a:t> </a:t>
            </a:r>
            <a:r>
              <a:rPr lang="it-IT" err="1"/>
              <a:t>LoRa</a:t>
            </a:r>
            <a:r>
              <a:rPr lang="it-IT"/>
              <a:t> - </a:t>
            </a:r>
            <a:r>
              <a:rPr lang="it-IT" err="1"/>
              <a:t>Acknowledgment</a:t>
            </a:r>
            <a:endParaRPr lang="en-GB"/>
          </a:p>
        </p:txBody>
      </p:sp>
      <p:sp>
        <p:nvSpPr>
          <p:cNvPr id="4" name="Flowchart: Process 3">
            <a:extLst>
              <a:ext uri="{FF2B5EF4-FFF2-40B4-BE49-F238E27FC236}">
                <a16:creationId xmlns:a16="http://schemas.microsoft.com/office/drawing/2014/main" id="{399547B8-6018-4A32-6DE3-FE4F06588B3F}"/>
              </a:ext>
            </a:extLst>
          </p:cNvPr>
          <p:cNvSpPr/>
          <p:nvPr/>
        </p:nvSpPr>
        <p:spPr>
          <a:xfrm>
            <a:off x="2703871" y="2369574"/>
            <a:ext cx="186813" cy="3716594"/>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lowchart: Process 4">
            <a:extLst>
              <a:ext uri="{FF2B5EF4-FFF2-40B4-BE49-F238E27FC236}">
                <a16:creationId xmlns:a16="http://schemas.microsoft.com/office/drawing/2014/main" id="{2643E517-E2FA-AE67-9406-371257A964EE}"/>
              </a:ext>
            </a:extLst>
          </p:cNvPr>
          <p:cNvSpPr/>
          <p:nvPr/>
        </p:nvSpPr>
        <p:spPr>
          <a:xfrm>
            <a:off x="8834284" y="2369574"/>
            <a:ext cx="186813" cy="3716594"/>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4F787BD8-EE24-76A3-C31D-5AB75BF1DF5E}"/>
              </a:ext>
            </a:extLst>
          </p:cNvPr>
          <p:cNvSpPr txBox="1"/>
          <p:nvPr/>
        </p:nvSpPr>
        <p:spPr>
          <a:xfrm>
            <a:off x="2148348" y="1923435"/>
            <a:ext cx="1484671" cy="369332"/>
          </a:xfrm>
          <a:prstGeom prst="rect">
            <a:avLst/>
          </a:prstGeom>
          <a:noFill/>
        </p:spPr>
        <p:txBody>
          <a:bodyPr wrap="square" rtlCol="0">
            <a:spAutoFit/>
          </a:bodyPr>
          <a:lstStyle/>
          <a:p>
            <a:r>
              <a:rPr lang="it-IT" err="1"/>
              <a:t>Receiver</a:t>
            </a:r>
            <a:r>
              <a:rPr lang="it-IT"/>
              <a:t> </a:t>
            </a:r>
            <a:r>
              <a:rPr lang="it-IT" err="1"/>
              <a:t>LoRa</a:t>
            </a:r>
            <a:endParaRPr lang="en-GB"/>
          </a:p>
        </p:txBody>
      </p:sp>
      <p:sp>
        <p:nvSpPr>
          <p:cNvPr id="10" name="TextBox 9">
            <a:extLst>
              <a:ext uri="{FF2B5EF4-FFF2-40B4-BE49-F238E27FC236}">
                <a16:creationId xmlns:a16="http://schemas.microsoft.com/office/drawing/2014/main" id="{35EB9E9E-1364-BFE1-CE37-07A3373F3E22}"/>
              </a:ext>
            </a:extLst>
          </p:cNvPr>
          <p:cNvSpPr txBox="1"/>
          <p:nvPr/>
        </p:nvSpPr>
        <p:spPr>
          <a:xfrm>
            <a:off x="8364875" y="1929580"/>
            <a:ext cx="1125629" cy="369332"/>
          </a:xfrm>
          <a:prstGeom prst="rect">
            <a:avLst/>
          </a:prstGeom>
          <a:noFill/>
        </p:spPr>
        <p:txBody>
          <a:bodyPr wrap="none" rtlCol="0">
            <a:spAutoFit/>
          </a:bodyPr>
          <a:lstStyle/>
          <a:p>
            <a:r>
              <a:rPr lang="it-IT"/>
              <a:t>Digital Bin</a:t>
            </a:r>
            <a:endParaRPr lang="en-GB"/>
          </a:p>
        </p:txBody>
      </p:sp>
      <p:sp>
        <p:nvSpPr>
          <p:cNvPr id="11" name="TextBox 10">
            <a:extLst>
              <a:ext uri="{FF2B5EF4-FFF2-40B4-BE49-F238E27FC236}">
                <a16:creationId xmlns:a16="http://schemas.microsoft.com/office/drawing/2014/main" id="{37085CD7-7EA1-AA76-95B4-6A5DDA463C40}"/>
              </a:ext>
            </a:extLst>
          </p:cNvPr>
          <p:cNvSpPr txBox="1"/>
          <p:nvPr/>
        </p:nvSpPr>
        <p:spPr>
          <a:xfrm>
            <a:off x="1097280" y="2369574"/>
            <a:ext cx="1480470" cy="646331"/>
          </a:xfrm>
          <a:prstGeom prst="rect">
            <a:avLst/>
          </a:prstGeom>
          <a:noFill/>
        </p:spPr>
        <p:txBody>
          <a:bodyPr wrap="none" rtlCol="0">
            <a:spAutoFit/>
          </a:bodyPr>
          <a:lstStyle/>
          <a:p>
            <a:r>
              <a:rPr lang="it-IT"/>
              <a:t>Create </a:t>
            </a:r>
            <a:r>
              <a:rPr lang="it-IT" err="1"/>
              <a:t>Packet</a:t>
            </a:r>
            <a:endParaRPr lang="it-IT"/>
          </a:p>
          <a:p>
            <a:r>
              <a:rPr lang="it-IT"/>
              <a:t>Compute CRC</a:t>
            </a:r>
            <a:endParaRPr lang="en-GB"/>
          </a:p>
        </p:txBody>
      </p:sp>
      <p:cxnSp>
        <p:nvCxnSpPr>
          <p:cNvPr id="13" name="Straight Arrow Connector 12">
            <a:extLst>
              <a:ext uri="{FF2B5EF4-FFF2-40B4-BE49-F238E27FC236}">
                <a16:creationId xmlns:a16="http://schemas.microsoft.com/office/drawing/2014/main" id="{2D26C29A-A8DB-FF1C-0CB8-4B798D8E8C58}"/>
              </a:ext>
            </a:extLst>
          </p:cNvPr>
          <p:cNvCxnSpPr>
            <a:cxnSpLocks/>
          </p:cNvCxnSpPr>
          <p:nvPr/>
        </p:nvCxnSpPr>
        <p:spPr>
          <a:xfrm>
            <a:off x="3016805" y="3015905"/>
            <a:ext cx="5733905" cy="41309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95061E5-F018-F8A2-0EBD-332DDD5246FA}"/>
              </a:ext>
            </a:extLst>
          </p:cNvPr>
          <p:cNvSpPr txBox="1"/>
          <p:nvPr/>
        </p:nvSpPr>
        <p:spPr>
          <a:xfrm>
            <a:off x="9193161" y="3519948"/>
            <a:ext cx="1534716" cy="923330"/>
          </a:xfrm>
          <a:prstGeom prst="rect">
            <a:avLst/>
          </a:prstGeom>
          <a:noFill/>
        </p:spPr>
        <p:txBody>
          <a:bodyPr wrap="none" rtlCol="0">
            <a:spAutoFit/>
          </a:bodyPr>
          <a:lstStyle/>
          <a:p>
            <a:r>
              <a:rPr lang="it-IT" err="1"/>
              <a:t>Receive</a:t>
            </a:r>
            <a:r>
              <a:rPr lang="it-IT"/>
              <a:t> </a:t>
            </a:r>
            <a:r>
              <a:rPr lang="it-IT" err="1"/>
              <a:t>Packet</a:t>
            </a:r>
            <a:endParaRPr lang="it-IT"/>
          </a:p>
          <a:p>
            <a:r>
              <a:rPr lang="it-IT"/>
              <a:t>Compute CRC</a:t>
            </a:r>
          </a:p>
          <a:p>
            <a:r>
              <a:rPr lang="it-IT" err="1"/>
              <a:t>Send</a:t>
            </a:r>
            <a:r>
              <a:rPr lang="it-IT"/>
              <a:t> </a:t>
            </a:r>
            <a:r>
              <a:rPr lang="it-IT" err="1"/>
              <a:t>it</a:t>
            </a:r>
            <a:r>
              <a:rPr lang="it-IT"/>
              <a:t> </a:t>
            </a:r>
            <a:r>
              <a:rPr lang="it-IT" err="1"/>
              <a:t>as</a:t>
            </a:r>
            <a:r>
              <a:rPr lang="it-IT"/>
              <a:t> ACK</a:t>
            </a:r>
            <a:endParaRPr lang="en-GB"/>
          </a:p>
        </p:txBody>
      </p:sp>
      <p:cxnSp>
        <p:nvCxnSpPr>
          <p:cNvPr id="17" name="Straight Arrow Connector 16">
            <a:extLst>
              <a:ext uri="{FF2B5EF4-FFF2-40B4-BE49-F238E27FC236}">
                <a16:creationId xmlns:a16="http://schemas.microsoft.com/office/drawing/2014/main" id="{6B34ECCE-EB26-CF45-AC13-EE3BA539FE2C}"/>
              </a:ext>
            </a:extLst>
          </p:cNvPr>
          <p:cNvCxnSpPr>
            <a:cxnSpLocks/>
          </p:cNvCxnSpPr>
          <p:nvPr/>
        </p:nvCxnSpPr>
        <p:spPr>
          <a:xfrm flipH="1">
            <a:off x="3016805" y="4443278"/>
            <a:ext cx="5733905" cy="42369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DBB5B06-DC74-02B2-1B16-C050D728DD52}"/>
              </a:ext>
            </a:extLst>
          </p:cNvPr>
          <p:cNvCxnSpPr>
            <a:cxnSpLocks/>
          </p:cNvCxnSpPr>
          <p:nvPr/>
        </p:nvCxnSpPr>
        <p:spPr>
          <a:xfrm>
            <a:off x="2497394" y="3136490"/>
            <a:ext cx="0" cy="1571055"/>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7593BAF-405B-B887-9788-74C65B456BEE}"/>
              </a:ext>
            </a:extLst>
          </p:cNvPr>
          <p:cNvSpPr txBox="1"/>
          <p:nvPr/>
        </p:nvSpPr>
        <p:spPr>
          <a:xfrm>
            <a:off x="1388375" y="3487993"/>
            <a:ext cx="982898" cy="646331"/>
          </a:xfrm>
          <a:prstGeom prst="rect">
            <a:avLst/>
          </a:prstGeom>
          <a:noFill/>
        </p:spPr>
        <p:txBody>
          <a:bodyPr wrap="none" rtlCol="0">
            <a:spAutoFit/>
          </a:bodyPr>
          <a:lstStyle/>
          <a:p>
            <a:r>
              <a:rPr lang="it-IT" err="1"/>
              <a:t>Waiting</a:t>
            </a:r>
            <a:r>
              <a:rPr lang="it-IT"/>
              <a:t> </a:t>
            </a:r>
          </a:p>
          <a:p>
            <a:r>
              <a:rPr lang="it-IT"/>
              <a:t>For </a:t>
            </a:r>
            <a:r>
              <a:rPr lang="it-IT" err="1"/>
              <a:t>Ack</a:t>
            </a:r>
            <a:endParaRPr lang="en-GB"/>
          </a:p>
        </p:txBody>
      </p:sp>
      <p:sp>
        <p:nvSpPr>
          <p:cNvPr id="23" name="TextBox 22">
            <a:extLst>
              <a:ext uri="{FF2B5EF4-FFF2-40B4-BE49-F238E27FC236}">
                <a16:creationId xmlns:a16="http://schemas.microsoft.com/office/drawing/2014/main" id="{AF09150C-E278-92E2-BDD1-D446026FE9FE}"/>
              </a:ext>
            </a:extLst>
          </p:cNvPr>
          <p:cNvSpPr txBox="1"/>
          <p:nvPr/>
        </p:nvSpPr>
        <p:spPr>
          <a:xfrm>
            <a:off x="548164" y="4772413"/>
            <a:ext cx="2191818" cy="1200329"/>
          </a:xfrm>
          <a:prstGeom prst="rect">
            <a:avLst/>
          </a:prstGeom>
          <a:noFill/>
        </p:spPr>
        <p:txBody>
          <a:bodyPr wrap="none" rtlCol="0">
            <a:spAutoFit/>
          </a:bodyPr>
          <a:lstStyle/>
          <a:p>
            <a:r>
              <a:rPr lang="it-IT"/>
              <a:t>Compare CRC</a:t>
            </a:r>
          </a:p>
          <a:p>
            <a:r>
              <a:rPr lang="it-IT" err="1"/>
              <a:t>If</a:t>
            </a:r>
            <a:r>
              <a:rPr lang="it-IT"/>
              <a:t> </a:t>
            </a:r>
            <a:r>
              <a:rPr lang="it-IT" err="1"/>
              <a:t>Equal</a:t>
            </a:r>
            <a:r>
              <a:rPr lang="it-IT"/>
              <a:t>   </a:t>
            </a:r>
            <a:r>
              <a:rPr lang="en-GB"/>
              <a:t>✔</a:t>
            </a:r>
          </a:p>
          <a:p>
            <a:r>
              <a:rPr lang="en-GB"/>
              <a:t>Otherwise send again</a:t>
            </a:r>
          </a:p>
          <a:p>
            <a:r>
              <a:rPr lang="en-GB"/>
              <a:t>(3 times max)</a:t>
            </a:r>
          </a:p>
        </p:txBody>
      </p:sp>
    </p:spTree>
    <p:extLst>
      <p:ext uri="{BB962C8B-B14F-4D97-AF65-F5344CB8AC3E}">
        <p14:creationId xmlns:p14="http://schemas.microsoft.com/office/powerpoint/2010/main" val="483030733"/>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9CEF9-3621-4AF2-773C-5B75317242AC}"/>
              </a:ext>
            </a:extLst>
          </p:cNvPr>
          <p:cNvSpPr>
            <a:spLocks noGrp="1"/>
          </p:cNvSpPr>
          <p:nvPr>
            <p:ph type="title"/>
          </p:nvPr>
        </p:nvSpPr>
        <p:spPr>
          <a:xfrm>
            <a:off x="1097280" y="286604"/>
            <a:ext cx="10058400" cy="883436"/>
          </a:xfrm>
        </p:spPr>
        <p:txBody>
          <a:bodyPr/>
          <a:lstStyle/>
          <a:p>
            <a:r>
              <a:rPr lang="it-IT"/>
              <a:t>Bridge</a:t>
            </a:r>
            <a:endParaRPr lang="en-GB"/>
          </a:p>
        </p:txBody>
      </p:sp>
      <p:graphicFrame>
        <p:nvGraphicFramePr>
          <p:cNvPr id="5" name="Content Placeholder 2">
            <a:extLst>
              <a:ext uri="{FF2B5EF4-FFF2-40B4-BE49-F238E27FC236}">
                <a16:creationId xmlns:a16="http://schemas.microsoft.com/office/drawing/2014/main" id="{B2AB2817-A463-45F8-DD2C-774EA07E9651}"/>
              </a:ext>
            </a:extLst>
          </p:cNvPr>
          <p:cNvGraphicFramePr>
            <a:graphicFrameLocks noGrp="1"/>
          </p:cNvGraphicFramePr>
          <p:nvPr>
            <p:ph idx="1"/>
            <p:extLst>
              <p:ext uri="{D42A27DB-BD31-4B8C-83A1-F6EECF244321}">
                <p14:modId xmlns:p14="http://schemas.microsoft.com/office/powerpoint/2010/main" val="3003338495"/>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7040044"/>
      </p:ext>
    </p:extLst>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CE2F-9111-F6E8-7B67-F65F0032FFB8}"/>
              </a:ext>
            </a:extLst>
          </p:cNvPr>
          <p:cNvSpPr>
            <a:spLocks noGrp="1"/>
          </p:cNvSpPr>
          <p:nvPr>
            <p:ph type="title"/>
          </p:nvPr>
        </p:nvSpPr>
        <p:spPr/>
        <p:txBody>
          <a:bodyPr/>
          <a:lstStyle/>
          <a:p>
            <a:r>
              <a:rPr lang="en-US" err="1"/>
              <a:t>HiveMQ</a:t>
            </a:r>
          </a:p>
        </p:txBody>
      </p:sp>
      <p:graphicFrame>
        <p:nvGraphicFramePr>
          <p:cNvPr id="7" name="Content Placeholder 2">
            <a:extLst>
              <a:ext uri="{FF2B5EF4-FFF2-40B4-BE49-F238E27FC236}">
                <a16:creationId xmlns:a16="http://schemas.microsoft.com/office/drawing/2014/main" id="{98A6F38F-EA21-D066-A212-3FCD82B59735}"/>
              </a:ext>
            </a:extLst>
          </p:cNvPr>
          <p:cNvGraphicFramePr>
            <a:graphicFrameLocks noGrp="1"/>
          </p:cNvGraphicFramePr>
          <p:nvPr>
            <p:ph idx="1"/>
            <p:extLst>
              <p:ext uri="{D42A27DB-BD31-4B8C-83A1-F6EECF244321}">
                <p14:modId xmlns:p14="http://schemas.microsoft.com/office/powerpoint/2010/main" val="4003659426"/>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Graphic 4">
            <a:extLst>
              <a:ext uri="{FF2B5EF4-FFF2-40B4-BE49-F238E27FC236}">
                <a16:creationId xmlns:a16="http://schemas.microsoft.com/office/drawing/2014/main" id="{6D2F150D-3CB3-AE9F-5AD9-A4461244C9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9220" y="383458"/>
            <a:ext cx="5794789" cy="1348096"/>
          </a:xfrm>
          <a:prstGeom prst="rect">
            <a:avLst/>
          </a:prstGeom>
        </p:spPr>
      </p:pic>
    </p:spTree>
    <p:extLst>
      <p:ext uri="{BB962C8B-B14F-4D97-AF65-F5344CB8AC3E}">
        <p14:creationId xmlns:p14="http://schemas.microsoft.com/office/powerpoint/2010/main" val="2803437719"/>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B7B6-5D11-C364-082A-837A59664593}"/>
              </a:ext>
            </a:extLst>
          </p:cNvPr>
          <p:cNvSpPr>
            <a:spLocks noGrp="1"/>
          </p:cNvSpPr>
          <p:nvPr>
            <p:ph type="title"/>
          </p:nvPr>
        </p:nvSpPr>
        <p:spPr/>
        <p:txBody>
          <a:bodyPr/>
          <a:lstStyle/>
          <a:p>
            <a:r>
              <a:rPr lang="en-US"/>
              <a:t>Central Controller</a:t>
            </a:r>
          </a:p>
        </p:txBody>
      </p:sp>
      <p:pic>
        <p:nvPicPr>
          <p:cNvPr id="4" name="Content Placeholder 3" descr="A black and white logo&#10;&#10;AI-generated content may be incorrect.">
            <a:extLst>
              <a:ext uri="{FF2B5EF4-FFF2-40B4-BE49-F238E27FC236}">
                <a16:creationId xmlns:a16="http://schemas.microsoft.com/office/drawing/2014/main" id="{62DC7592-A7A9-7C25-4500-FD0784683A3F}"/>
              </a:ext>
            </a:extLst>
          </p:cNvPr>
          <p:cNvPicPr>
            <a:picLocks noGrp="1" noChangeAspect="1"/>
          </p:cNvPicPr>
          <p:nvPr>
            <p:ph idx="1"/>
          </p:nvPr>
        </p:nvPicPr>
        <p:blipFill>
          <a:blip r:embed="rId3"/>
          <a:stretch>
            <a:fillRect/>
          </a:stretch>
        </p:blipFill>
        <p:spPr>
          <a:xfrm>
            <a:off x="7893422" y="767483"/>
            <a:ext cx="3443983" cy="979897"/>
          </a:xfrm>
          <a:prstGeom prst="rect">
            <a:avLst/>
          </a:prstGeom>
        </p:spPr>
      </p:pic>
      <p:pic>
        <p:nvPicPr>
          <p:cNvPr id="6" name="Graphic 5">
            <a:extLst>
              <a:ext uri="{FF2B5EF4-FFF2-40B4-BE49-F238E27FC236}">
                <a16:creationId xmlns:a16="http://schemas.microsoft.com/office/drawing/2014/main" id="{4E40246A-C824-5BBF-1BBC-DF337B605D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8986" y="4744702"/>
            <a:ext cx="6356093" cy="1505649"/>
          </a:xfrm>
          <a:prstGeom prst="rect">
            <a:avLst/>
          </a:prstGeom>
        </p:spPr>
      </p:pic>
      <p:pic>
        <p:nvPicPr>
          <p:cNvPr id="8" name="Graphic 7" descr="Computer outline">
            <a:extLst>
              <a:ext uri="{FF2B5EF4-FFF2-40B4-BE49-F238E27FC236}">
                <a16:creationId xmlns:a16="http://schemas.microsoft.com/office/drawing/2014/main" id="{F59E207D-2E40-61AF-762A-921E25A8FB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79887" y="3037766"/>
            <a:ext cx="1240972" cy="1249345"/>
          </a:xfrm>
          <a:prstGeom prst="rect">
            <a:avLst/>
          </a:prstGeom>
        </p:spPr>
      </p:pic>
      <p:sp>
        <p:nvSpPr>
          <p:cNvPr id="12" name="TextBox 11">
            <a:extLst>
              <a:ext uri="{FF2B5EF4-FFF2-40B4-BE49-F238E27FC236}">
                <a16:creationId xmlns:a16="http://schemas.microsoft.com/office/drawing/2014/main" id="{7AC69ABE-2880-F1A9-8960-E0A470599EB2}"/>
              </a:ext>
            </a:extLst>
          </p:cNvPr>
          <p:cNvSpPr txBox="1"/>
          <p:nvPr/>
        </p:nvSpPr>
        <p:spPr>
          <a:xfrm>
            <a:off x="1011398" y="2717799"/>
            <a:ext cx="159173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Subscribe to:</a:t>
            </a:r>
          </a:p>
          <a:p>
            <a:pPr marL="171450" indent="-171450">
              <a:buFont typeface="Arial"/>
              <a:buChar char="•"/>
            </a:pPr>
            <a:r>
              <a:rPr lang="en-US" sz="1200"/>
              <a:t>Fill</a:t>
            </a:r>
          </a:p>
          <a:p>
            <a:pPr marL="171450" indent="-171450">
              <a:buFont typeface="Arial"/>
              <a:buChar char="•"/>
            </a:pPr>
            <a:r>
              <a:rPr lang="en-US" sz="1200"/>
              <a:t>Overturn</a:t>
            </a:r>
          </a:p>
          <a:p>
            <a:pPr marL="171450" indent="-171450">
              <a:buFont typeface="Arial"/>
              <a:buChar char="•"/>
            </a:pPr>
            <a:r>
              <a:rPr lang="en-US" sz="1200"/>
              <a:t>Position</a:t>
            </a:r>
          </a:p>
        </p:txBody>
      </p:sp>
      <p:sp>
        <p:nvSpPr>
          <p:cNvPr id="15" name="TextBox 14">
            <a:extLst>
              <a:ext uri="{FF2B5EF4-FFF2-40B4-BE49-F238E27FC236}">
                <a16:creationId xmlns:a16="http://schemas.microsoft.com/office/drawing/2014/main" id="{8666937C-7E7F-164C-480A-A42D5D1EF12B}"/>
              </a:ext>
            </a:extLst>
          </p:cNvPr>
          <p:cNvSpPr txBox="1"/>
          <p:nvPr/>
        </p:nvSpPr>
        <p:spPr>
          <a:xfrm>
            <a:off x="4816979" y="2869463"/>
            <a:ext cx="1380066"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Data is stored in Json files and </a:t>
            </a:r>
            <a:r>
              <a:rPr lang="en-US" sz="1400">
                <a:ea typeface="+mn-lt"/>
                <a:cs typeface="+mn-lt"/>
              </a:rPr>
              <a:t>dictionaries</a:t>
            </a:r>
            <a:endParaRPr lang="en-US" sz="1400"/>
          </a:p>
        </p:txBody>
      </p:sp>
      <p:sp>
        <p:nvSpPr>
          <p:cNvPr id="17" name="Arrow: Bent 16">
            <a:extLst>
              <a:ext uri="{FF2B5EF4-FFF2-40B4-BE49-F238E27FC236}">
                <a16:creationId xmlns:a16="http://schemas.microsoft.com/office/drawing/2014/main" id="{49074F67-F380-C22E-5EDF-5A7B4C057772}"/>
              </a:ext>
            </a:extLst>
          </p:cNvPr>
          <p:cNvSpPr/>
          <p:nvPr/>
        </p:nvSpPr>
        <p:spPr>
          <a:xfrm>
            <a:off x="3305865" y="2359438"/>
            <a:ext cx="1236133" cy="804333"/>
          </a:xfrm>
          <a:prstGeom prst="ben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pic>
        <p:nvPicPr>
          <p:cNvPr id="18" name="Picture 17" descr="A blue letters on a white background&#10;&#10;AI-generated content may be incorrect.">
            <a:extLst>
              <a:ext uri="{FF2B5EF4-FFF2-40B4-BE49-F238E27FC236}">
                <a16:creationId xmlns:a16="http://schemas.microsoft.com/office/drawing/2014/main" id="{CC08D94B-0FB5-B4F6-B88D-07CF9F1CFD64}"/>
              </a:ext>
            </a:extLst>
          </p:cNvPr>
          <p:cNvPicPr>
            <a:picLocks noChangeAspect="1"/>
          </p:cNvPicPr>
          <p:nvPr/>
        </p:nvPicPr>
        <p:blipFill>
          <a:blip r:embed="rId8"/>
          <a:stretch>
            <a:fillRect/>
          </a:stretch>
        </p:blipFill>
        <p:spPr>
          <a:xfrm>
            <a:off x="4782792" y="2228435"/>
            <a:ext cx="1367459" cy="529259"/>
          </a:xfrm>
          <a:prstGeom prst="rect">
            <a:avLst/>
          </a:prstGeom>
        </p:spPr>
      </p:pic>
      <p:pic>
        <p:nvPicPr>
          <p:cNvPr id="19" name="Graphic 18" descr="Gears outline">
            <a:extLst>
              <a:ext uri="{FF2B5EF4-FFF2-40B4-BE49-F238E27FC236}">
                <a16:creationId xmlns:a16="http://schemas.microsoft.com/office/drawing/2014/main" id="{5D103BB6-F3D5-1918-ECEE-94B9D0C839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30276" y="4313581"/>
            <a:ext cx="1005510" cy="1022075"/>
          </a:xfrm>
          <a:prstGeom prst="rect">
            <a:avLst/>
          </a:prstGeom>
        </p:spPr>
      </p:pic>
      <p:sp>
        <p:nvSpPr>
          <p:cNvPr id="20" name="Arrow: Bent-Up 19">
            <a:extLst>
              <a:ext uri="{FF2B5EF4-FFF2-40B4-BE49-F238E27FC236}">
                <a16:creationId xmlns:a16="http://schemas.microsoft.com/office/drawing/2014/main" id="{F692CBBF-D0F6-A7A5-3890-5EAA53756A0B}"/>
              </a:ext>
            </a:extLst>
          </p:cNvPr>
          <p:cNvSpPr/>
          <p:nvPr/>
        </p:nvSpPr>
        <p:spPr>
          <a:xfrm rot="5400000">
            <a:off x="5416180" y="3651434"/>
            <a:ext cx="1379883" cy="1479457"/>
          </a:xfrm>
          <a:prstGeom prst="ben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0FAF14C9-2D03-F08D-CE7C-C7D2A012FC4D}"/>
              </a:ext>
            </a:extLst>
          </p:cNvPr>
          <p:cNvSpPr txBox="1"/>
          <p:nvPr/>
        </p:nvSpPr>
        <p:spPr>
          <a:xfrm>
            <a:off x="6498348" y="2057767"/>
            <a:ext cx="20675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The Controller decide:</a:t>
            </a:r>
          </a:p>
          <a:p>
            <a:pPr marL="342900" indent="-342900">
              <a:buAutoNum type="arabicPeriod"/>
            </a:pPr>
            <a:r>
              <a:rPr lang="en-US" sz="1400"/>
              <a:t>When to close the lid</a:t>
            </a:r>
          </a:p>
          <a:p>
            <a:pPr marL="342900" indent="-342900">
              <a:buAutoNum type="arabicPeriod"/>
            </a:pPr>
            <a:r>
              <a:rPr lang="en-US" sz="1400"/>
              <a:t>Compute the direction and distance of the next free bin</a:t>
            </a:r>
          </a:p>
          <a:p>
            <a:pPr marL="342900" indent="-342900">
              <a:buAutoNum type="arabicPeriod"/>
            </a:pPr>
            <a:r>
              <a:rPr lang="en-US" sz="1400">
                <a:ea typeface="+mn-lt"/>
                <a:cs typeface="+mn-lt"/>
              </a:rPr>
              <a:t>Predictive modeling of bin saturation based on past collection cycles.</a:t>
            </a:r>
          </a:p>
        </p:txBody>
      </p:sp>
      <p:pic>
        <p:nvPicPr>
          <p:cNvPr id="23" name="Graphic 22">
            <a:extLst>
              <a:ext uri="{FF2B5EF4-FFF2-40B4-BE49-F238E27FC236}">
                <a16:creationId xmlns:a16="http://schemas.microsoft.com/office/drawing/2014/main" id="{8965B7BF-D67D-54A3-6410-C1A1C14AD11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40551" y="2565089"/>
            <a:ext cx="1121647" cy="1155142"/>
          </a:xfrm>
          <a:prstGeom prst="rect">
            <a:avLst/>
          </a:prstGeom>
        </p:spPr>
      </p:pic>
      <p:sp>
        <p:nvSpPr>
          <p:cNvPr id="24" name="Arrow: Bent-Up 23">
            <a:extLst>
              <a:ext uri="{FF2B5EF4-FFF2-40B4-BE49-F238E27FC236}">
                <a16:creationId xmlns:a16="http://schemas.microsoft.com/office/drawing/2014/main" id="{4596BD3E-86A5-03BB-0F36-AF7ED15233A2}"/>
              </a:ext>
            </a:extLst>
          </p:cNvPr>
          <p:cNvSpPr/>
          <p:nvPr/>
        </p:nvSpPr>
        <p:spPr>
          <a:xfrm>
            <a:off x="8431049" y="3841933"/>
            <a:ext cx="2547730" cy="1156436"/>
          </a:xfrm>
          <a:prstGeom prst="ben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3E99C3AC-084C-3DF4-B0EF-8114FA9D6851}"/>
              </a:ext>
            </a:extLst>
          </p:cNvPr>
          <p:cNvSpPr txBox="1"/>
          <p:nvPr/>
        </p:nvSpPr>
        <p:spPr>
          <a:xfrm>
            <a:off x="8925152" y="3664593"/>
            <a:ext cx="13800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Upload data to a </a:t>
            </a:r>
            <a:r>
              <a:rPr lang="en-US" sz="1400" err="1">
                <a:ea typeface="+mn-lt"/>
                <a:cs typeface="+mn-lt"/>
              </a:rPr>
              <a:t>ThingsBoard</a:t>
            </a:r>
            <a:r>
              <a:rPr lang="en-US" sz="1400">
                <a:ea typeface="+mn-lt"/>
                <a:cs typeface="+mn-lt"/>
              </a:rPr>
              <a:t> dashboard for visualization.</a:t>
            </a:r>
            <a:endParaRPr lang="en-US"/>
          </a:p>
        </p:txBody>
      </p:sp>
      <p:sp>
        <p:nvSpPr>
          <p:cNvPr id="26" name="Arrow: Bent 25">
            <a:extLst>
              <a:ext uri="{FF2B5EF4-FFF2-40B4-BE49-F238E27FC236}">
                <a16:creationId xmlns:a16="http://schemas.microsoft.com/office/drawing/2014/main" id="{A376CE63-9649-C7F3-E822-D1C3C823ED9D}"/>
              </a:ext>
            </a:extLst>
          </p:cNvPr>
          <p:cNvSpPr/>
          <p:nvPr/>
        </p:nvSpPr>
        <p:spPr>
          <a:xfrm>
            <a:off x="1475409" y="3427894"/>
            <a:ext cx="1236133" cy="1251593"/>
          </a:xfrm>
          <a:prstGeom prst="ben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28" name="Arrow: Bent 27">
            <a:extLst>
              <a:ext uri="{FF2B5EF4-FFF2-40B4-BE49-F238E27FC236}">
                <a16:creationId xmlns:a16="http://schemas.microsoft.com/office/drawing/2014/main" id="{26F9D893-2273-CEB1-722A-0BCC40ACCBD0}"/>
              </a:ext>
            </a:extLst>
          </p:cNvPr>
          <p:cNvSpPr/>
          <p:nvPr/>
        </p:nvSpPr>
        <p:spPr>
          <a:xfrm rot="10800000">
            <a:off x="2328518" y="5382591"/>
            <a:ext cx="5220067" cy="986549"/>
          </a:xfrm>
          <a:prstGeom prst="ben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0150A654-D4BA-01FA-FF9B-20C3F89EA3FE}"/>
              </a:ext>
            </a:extLst>
          </p:cNvPr>
          <p:cNvSpPr txBox="1"/>
          <p:nvPr/>
        </p:nvSpPr>
        <p:spPr>
          <a:xfrm>
            <a:off x="3189723" y="5227429"/>
            <a:ext cx="15917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Publish on:</a:t>
            </a:r>
          </a:p>
          <a:p>
            <a:pPr marL="171450" indent="-171450">
              <a:buFont typeface="Arial"/>
              <a:buChar char="•"/>
            </a:pPr>
            <a:r>
              <a:rPr lang="en-US" sz="1200"/>
              <a:t>Lock</a:t>
            </a:r>
          </a:p>
          <a:p>
            <a:pPr marL="171450" indent="-171450">
              <a:buFont typeface="Arial"/>
              <a:buChar char="•"/>
            </a:pPr>
            <a:r>
              <a:rPr lang="en-US" sz="1200"/>
              <a:t>lcd</a:t>
            </a:r>
          </a:p>
        </p:txBody>
      </p:sp>
    </p:spTree>
    <p:extLst>
      <p:ext uri="{BB962C8B-B14F-4D97-AF65-F5344CB8AC3E}">
        <p14:creationId xmlns:p14="http://schemas.microsoft.com/office/powerpoint/2010/main" val="3942313982"/>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a:extLst>
              <a:ext uri="{FF2B5EF4-FFF2-40B4-BE49-F238E27FC236}">
                <a16:creationId xmlns:a16="http://schemas.microsoft.com/office/drawing/2014/main" id="{511369DD-BAC2-085C-F6BC-DA74A3BA1EE9}"/>
              </a:ext>
            </a:extLst>
          </p:cNvPr>
          <p:cNvSpPr/>
          <p:nvPr/>
        </p:nvSpPr>
        <p:spPr>
          <a:xfrm>
            <a:off x="4049730" y="2294563"/>
            <a:ext cx="3262045" cy="31935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340A5F3-0D25-07B2-C11A-84B25CBDA645}"/>
              </a:ext>
            </a:extLst>
          </p:cNvPr>
          <p:cNvSpPr>
            <a:spLocks noGrp="1"/>
          </p:cNvSpPr>
          <p:nvPr>
            <p:ph type="title"/>
          </p:nvPr>
        </p:nvSpPr>
        <p:spPr/>
        <p:txBody>
          <a:bodyPr>
            <a:normAutofit/>
          </a:bodyPr>
          <a:lstStyle/>
          <a:p>
            <a:r>
              <a:rPr lang="en-US" sz="4400"/>
              <a:t>Central Controller - Next open bin detection </a:t>
            </a:r>
          </a:p>
        </p:txBody>
      </p:sp>
      <p:pic>
        <p:nvPicPr>
          <p:cNvPr id="5" name="Graphic 4" descr="Garbage outline">
            <a:extLst>
              <a:ext uri="{FF2B5EF4-FFF2-40B4-BE49-F238E27FC236}">
                <a16:creationId xmlns:a16="http://schemas.microsoft.com/office/drawing/2014/main" id="{0E4FCE7C-02DC-211E-7AFA-B511D48B3C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2180" y="3575802"/>
            <a:ext cx="608744" cy="608744"/>
          </a:xfrm>
          <a:prstGeom prst="rect">
            <a:avLst/>
          </a:prstGeom>
        </p:spPr>
      </p:pic>
      <p:pic>
        <p:nvPicPr>
          <p:cNvPr id="7" name="Graphic 6" descr="Garbage outline">
            <a:extLst>
              <a:ext uri="{FF2B5EF4-FFF2-40B4-BE49-F238E27FC236}">
                <a16:creationId xmlns:a16="http://schemas.microsoft.com/office/drawing/2014/main" id="{B981DEC3-BC5B-C7DF-7D9F-6C8AE10FD2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10648" y="2618393"/>
            <a:ext cx="608744" cy="608744"/>
          </a:xfrm>
          <a:prstGeom prst="rect">
            <a:avLst/>
          </a:prstGeom>
        </p:spPr>
      </p:pic>
      <p:pic>
        <p:nvPicPr>
          <p:cNvPr id="21" name="Graphic 20" descr="Garbage outline">
            <a:extLst>
              <a:ext uri="{FF2B5EF4-FFF2-40B4-BE49-F238E27FC236}">
                <a16:creationId xmlns:a16="http://schemas.microsoft.com/office/drawing/2014/main" id="{EE8E71AF-4ED5-CC80-2A3F-EE3E07B1F8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3190" y="5183996"/>
            <a:ext cx="608744" cy="608744"/>
          </a:xfrm>
          <a:prstGeom prst="rect">
            <a:avLst/>
          </a:prstGeom>
        </p:spPr>
      </p:pic>
      <p:pic>
        <p:nvPicPr>
          <p:cNvPr id="25" name="Graphic 24" descr="Garbage outline">
            <a:extLst>
              <a:ext uri="{FF2B5EF4-FFF2-40B4-BE49-F238E27FC236}">
                <a16:creationId xmlns:a16="http://schemas.microsoft.com/office/drawing/2014/main" id="{F078847B-9888-509C-89F2-0A74D54A71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0493" y="4285007"/>
            <a:ext cx="608744" cy="608744"/>
          </a:xfrm>
          <a:prstGeom prst="rect">
            <a:avLst/>
          </a:prstGeom>
        </p:spPr>
      </p:pic>
      <p:cxnSp>
        <p:nvCxnSpPr>
          <p:cNvPr id="26" name="Straight Arrow Connector 25">
            <a:extLst>
              <a:ext uri="{FF2B5EF4-FFF2-40B4-BE49-F238E27FC236}">
                <a16:creationId xmlns:a16="http://schemas.microsoft.com/office/drawing/2014/main" id="{0EEC5A1A-EDBD-E493-25F7-6FC8E9D41398}"/>
              </a:ext>
            </a:extLst>
          </p:cNvPr>
          <p:cNvCxnSpPr/>
          <p:nvPr/>
        </p:nvCxnSpPr>
        <p:spPr>
          <a:xfrm flipV="1">
            <a:off x="5719280" y="2619911"/>
            <a:ext cx="847618" cy="1275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5EC2A8AA-CD7E-FA26-060D-8D55ABB67FAD}"/>
              </a:ext>
            </a:extLst>
          </p:cNvPr>
          <p:cNvSpPr txBox="1"/>
          <p:nvPr/>
        </p:nvSpPr>
        <p:spPr>
          <a:xfrm rot="-3540000">
            <a:off x="5779212" y="3005191"/>
            <a:ext cx="50514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t>1km</a:t>
            </a:r>
          </a:p>
        </p:txBody>
      </p:sp>
      <p:pic>
        <p:nvPicPr>
          <p:cNvPr id="28" name="Graphic 27" descr="Close with solid fill">
            <a:extLst>
              <a:ext uri="{FF2B5EF4-FFF2-40B4-BE49-F238E27FC236}">
                <a16:creationId xmlns:a16="http://schemas.microsoft.com/office/drawing/2014/main" id="{B4B75564-7333-ECBA-F7DA-8FCBD06CC4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3451" y="3554003"/>
            <a:ext cx="375007" cy="366445"/>
          </a:xfrm>
          <a:prstGeom prst="rect">
            <a:avLst/>
          </a:prstGeom>
        </p:spPr>
      </p:pic>
      <p:pic>
        <p:nvPicPr>
          <p:cNvPr id="29" name="Graphic 28" descr="Close with solid fill">
            <a:extLst>
              <a:ext uri="{FF2B5EF4-FFF2-40B4-BE49-F238E27FC236}">
                <a16:creationId xmlns:a16="http://schemas.microsoft.com/office/drawing/2014/main" id="{2E2659F8-24FF-0A47-0179-C63568A124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29900" y="4221822"/>
            <a:ext cx="375007" cy="366445"/>
          </a:xfrm>
          <a:prstGeom prst="rect">
            <a:avLst/>
          </a:prstGeom>
        </p:spPr>
      </p:pic>
      <p:pic>
        <p:nvPicPr>
          <p:cNvPr id="30" name="Graphic 29" descr="Checkmark with solid fill">
            <a:extLst>
              <a:ext uri="{FF2B5EF4-FFF2-40B4-BE49-F238E27FC236}">
                <a16:creationId xmlns:a16="http://schemas.microsoft.com/office/drawing/2014/main" id="{F81019A3-C6BA-65F9-671B-AEF6C56FCA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6866" y="2492339"/>
            <a:ext cx="452064" cy="426379"/>
          </a:xfrm>
          <a:prstGeom prst="rect">
            <a:avLst/>
          </a:prstGeom>
        </p:spPr>
      </p:pic>
      <p:pic>
        <p:nvPicPr>
          <p:cNvPr id="31" name="Graphic 30" descr="Close with solid fill">
            <a:extLst>
              <a:ext uri="{FF2B5EF4-FFF2-40B4-BE49-F238E27FC236}">
                <a16:creationId xmlns:a16="http://schemas.microsoft.com/office/drawing/2014/main" id="{76667C3A-45A1-3795-480C-04944DEEB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32597" y="5120812"/>
            <a:ext cx="375007" cy="366445"/>
          </a:xfrm>
          <a:prstGeom prst="rect">
            <a:avLst/>
          </a:prstGeom>
        </p:spPr>
      </p:pic>
      <p:sp>
        <p:nvSpPr>
          <p:cNvPr id="33" name="TextBox 32">
            <a:extLst>
              <a:ext uri="{FF2B5EF4-FFF2-40B4-BE49-F238E27FC236}">
                <a16:creationId xmlns:a16="http://schemas.microsoft.com/office/drawing/2014/main" id="{7E323560-D7AE-53E5-861A-208A52F34A96}"/>
              </a:ext>
            </a:extLst>
          </p:cNvPr>
          <p:cNvSpPr txBox="1"/>
          <p:nvPr/>
        </p:nvSpPr>
        <p:spPr>
          <a:xfrm>
            <a:off x="667763" y="1980711"/>
            <a:ext cx="2307252"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ea typeface="+mn-lt"/>
                <a:cs typeface="+mn-lt"/>
              </a:rPr>
              <a:t>The controller checks for the presence of other bins within a 1km radius. If multiple bins are detected, it selects the nearest one.</a:t>
            </a:r>
            <a:endParaRPr lang="en-US"/>
          </a:p>
          <a:p>
            <a:pPr algn="just"/>
            <a:r>
              <a:rPr lang="en-US" sz="1400">
                <a:ea typeface="+mn-lt"/>
                <a:cs typeface="+mn-lt"/>
              </a:rPr>
              <a:t>The new bin must be open.</a:t>
            </a:r>
          </a:p>
          <a:p>
            <a:pPr algn="just"/>
            <a:endParaRPr lang="en-US" sz="1400">
              <a:ea typeface="+mn-lt"/>
              <a:cs typeface="+mn-lt"/>
            </a:endParaRPr>
          </a:p>
          <a:p>
            <a:pPr algn="just"/>
            <a:r>
              <a:rPr lang="en-US" sz="1400">
                <a:ea typeface="+mn-lt"/>
                <a:cs typeface="+mn-lt"/>
              </a:rPr>
              <a:t>Utilizing an onboard </a:t>
            </a:r>
            <a:r>
              <a:rPr lang="en-US" sz="1400" err="1">
                <a:ea typeface="+mn-lt"/>
                <a:cs typeface="+mn-lt"/>
              </a:rPr>
              <a:t>sensconsisting</a:t>
            </a:r>
            <a:r>
              <a:rPr lang="en-US" sz="1400">
                <a:ea typeface="+mn-lt"/>
                <a:cs typeface="+mn-lt"/>
              </a:rPr>
              <a:t> of a magnetometer, accelerometer, and gyroscope, the bin maintains full 3D orientation awareness. This enables the system to perform dynamic heading compensation, ensuring the directional arrow remains accurate even when the device is rotated</a:t>
            </a:r>
            <a:endParaRPr lang="en-US">
              <a:ea typeface="+mn-lt"/>
              <a:cs typeface="+mn-lt"/>
            </a:endParaRPr>
          </a:p>
          <a:p>
            <a:pPr algn="just"/>
            <a:endParaRPr lang="en-US" sz="1400">
              <a:ea typeface="+mn-lt"/>
              <a:cs typeface="+mn-lt"/>
            </a:endParaRPr>
          </a:p>
        </p:txBody>
      </p:sp>
      <p:pic>
        <p:nvPicPr>
          <p:cNvPr id="34" name="Picture 33" descr="A blue circuit board with many blue circles&#10;&#10;AI-generated content may be incorrect.">
            <a:extLst>
              <a:ext uri="{FF2B5EF4-FFF2-40B4-BE49-F238E27FC236}">
                <a16:creationId xmlns:a16="http://schemas.microsoft.com/office/drawing/2014/main" id="{80796CAE-F314-0FB2-EBFF-8B7661EC6EF6}"/>
              </a:ext>
            </a:extLst>
          </p:cNvPr>
          <p:cNvPicPr>
            <a:picLocks noChangeAspect="1"/>
          </p:cNvPicPr>
          <p:nvPr/>
        </p:nvPicPr>
        <p:blipFill>
          <a:blip r:embed="rId9"/>
          <a:stretch>
            <a:fillRect/>
          </a:stretch>
        </p:blipFill>
        <p:spPr>
          <a:xfrm>
            <a:off x="7893549" y="2607604"/>
            <a:ext cx="3262902" cy="2541782"/>
          </a:xfrm>
          <a:prstGeom prst="rect">
            <a:avLst/>
          </a:prstGeom>
        </p:spPr>
      </p:pic>
    </p:spTree>
    <p:extLst>
      <p:ext uri="{BB962C8B-B14F-4D97-AF65-F5344CB8AC3E}">
        <p14:creationId xmlns:p14="http://schemas.microsoft.com/office/powerpoint/2010/main" val="347697749"/>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2547D-5CD3-10DC-BBA8-E1A067B30788}"/>
              </a:ext>
            </a:extLst>
          </p:cNvPr>
          <p:cNvSpPr>
            <a:spLocks noGrp="1"/>
          </p:cNvSpPr>
          <p:nvPr>
            <p:ph type="title"/>
          </p:nvPr>
        </p:nvSpPr>
        <p:spPr/>
        <p:txBody>
          <a:bodyPr>
            <a:normAutofit/>
          </a:bodyPr>
          <a:lstStyle/>
          <a:p>
            <a:r>
              <a:rPr lang="it-IT" sz="4800"/>
              <a:t>Central Controller - ML </a:t>
            </a:r>
            <a:r>
              <a:rPr lang="it-IT" sz="4800" err="1"/>
              <a:t>Predictor</a:t>
            </a:r>
            <a:r>
              <a:rPr lang="it-IT" sz="4800"/>
              <a:t> Pipeline</a:t>
            </a:r>
            <a:endParaRPr lang="en-GB" sz="4800"/>
          </a:p>
        </p:txBody>
      </p:sp>
      <p:pic>
        <p:nvPicPr>
          <p:cNvPr id="4" name="Graphic 3" descr="Computer outline">
            <a:extLst>
              <a:ext uri="{FF2B5EF4-FFF2-40B4-BE49-F238E27FC236}">
                <a16:creationId xmlns:a16="http://schemas.microsoft.com/office/drawing/2014/main" id="{08F83140-5629-BBCB-AD1D-BAF88FBEC7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7280" y="2179655"/>
            <a:ext cx="1240972" cy="1249345"/>
          </a:xfrm>
          <a:prstGeom prst="rect">
            <a:avLst/>
          </a:prstGeom>
        </p:spPr>
      </p:pic>
      <p:sp>
        <p:nvSpPr>
          <p:cNvPr id="5" name="TextBox 4">
            <a:extLst>
              <a:ext uri="{FF2B5EF4-FFF2-40B4-BE49-F238E27FC236}">
                <a16:creationId xmlns:a16="http://schemas.microsoft.com/office/drawing/2014/main" id="{B36BA87C-F881-E199-111C-FBCC384F03DB}"/>
              </a:ext>
            </a:extLst>
          </p:cNvPr>
          <p:cNvSpPr txBox="1"/>
          <p:nvPr/>
        </p:nvSpPr>
        <p:spPr>
          <a:xfrm>
            <a:off x="1097280" y="3510116"/>
            <a:ext cx="1201932" cy="369332"/>
          </a:xfrm>
          <a:prstGeom prst="rect">
            <a:avLst/>
          </a:prstGeom>
          <a:noFill/>
        </p:spPr>
        <p:txBody>
          <a:bodyPr wrap="none" rtlCol="0">
            <a:spAutoFit/>
          </a:bodyPr>
          <a:lstStyle/>
          <a:p>
            <a:r>
              <a:rPr lang="it-IT"/>
              <a:t>Takes Data</a:t>
            </a:r>
            <a:endParaRPr lang="en-GB"/>
          </a:p>
        </p:txBody>
      </p:sp>
      <p:pic>
        <p:nvPicPr>
          <p:cNvPr id="7" name="Graphic 6" descr="Soap with solid fill">
            <a:extLst>
              <a:ext uri="{FF2B5EF4-FFF2-40B4-BE49-F238E27FC236}">
                <a16:creationId xmlns:a16="http://schemas.microsoft.com/office/drawing/2014/main" id="{4D2D73E9-2425-7CBE-70F5-279573647E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8555" y="2347127"/>
            <a:ext cx="914400" cy="914400"/>
          </a:xfrm>
          <a:prstGeom prst="rect">
            <a:avLst/>
          </a:prstGeom>
        </p:spPr>
      </p:pic>
      <p:sp>
        <p:nvSpPr>
          <p:cNvPr id="8" name="TextBox 7">
            <a:extLst>
              <a:ext uri="{FF2B5EF4-FFF2-40B4-BE49-F238E27FC236}">
                <a16:creationId xmlns:a16="http://schemas.microsoft.com/office/drawing/2014/main" id="{AC8CAC3A-88E3-2AD8-59F6-AD9FA89AB98E}"/>
              </a:ext>
            </a:extLst>
          </p:cNvPr>
          <p:cNvSpPr txBox="1"/>
          <p:nvPr/>
        </p:nvSpPr>
        <p:spPr>
          <a:xfrm>
            <a:off x="3007374" y="3325450"/>
            <a:ext cx="1941301" cy="1477328"/>
          </a:xfrm>
          <a:prstGeom prst="rect">
            <a:avLst/>
          </a:prstGeom>
          <a:noFill/>
        </p:spPr>
        <p:txBody>
          <a:bodyPr wrap="none" rtlCol="0">
            <a:spAutoFit/>
          </a:bodyPr>
          <a:lstStyle/>
          <a:p>
            <a:r>
              <a:rPr lang="it-IT" err="1"/>
              <a:t>Cleaning</a:t>
            </a:r>
            <a:r>
              <a:rPr lang="it-IT"/>
              <a:t> Data:</a:t>
            </a:r>
          </a:p>
          <a:p>
            <a:r>
              <a:rPr lang="it-IT" err="1"/>
              <a:t>Outliers</a:t>
            </a:r>
            <a:r>
              <a:rPr lang="it-IT"/>
              <a:t> </a:t>
            </a:r>
            <a:r>
              <a:rPr lang="it-IT" err="1"/>
              <a:t>detection</a:t>
            </a:r>
            <a:endParaRPr lang="it-IT"/>
          </a:p>
          <a:p>
            <a:r>
              <a:rPr lang="en-GB"/>
              <a:t>Missing value</a:t>
            </a:r>
          </a:p>
          <a:p>
            <a:r>
              <a:rPr lang="en-GB"/>
              <a:t>Features </a:t>
            </a:r>
            <a:r>
              <a:rPr lang="en-GB" err="1"/>
              <a:t>exctractor</a:t>
            </a:r>
            <a:endParaRPr lang="en-GB"/>
          </a:p>
          <a:p>
            <a:r>
              <a:rPr lang="en-GB"/>
              <a:t>Cyclical Encoding</a:t>
            </a:r>
          </a:p>
        </p:txBody>
      </p:sp>
      <p:pic>
        <p:nvPicPr>
          <p:cNvPr id="10" name="Graphic 9" descr="Database with solid fill">
            <a:extLst>
              <a:ext uri="{FF2B5EF4-FFF2-40B4-BE49-F238E27FC236}">
                <a16:creationId xmlns:a16="http://schemas.microsoft.com/office/drawing/2014/main" id="{01535174-AA93-9D31-1A5F-8CC32BFE194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92994" y="2347127"/>
            <a:ext cx="914400" cy="914400"/>
          </a:xfrm>
          <a:prstGeom prst="rect">
            <a:avLst/>
          </a:prstGeom>
        </p:spPr>
      </p:pic>
      <p:sp>
        <p:nvSpPr>
          <p:cNvPr id="12" name="TextBox 11">
            <a:extLst>
              <a:ext uri="{FF2B5EF4-FFF2-40B4-BE49-F238E27FC236}">
                <a16:creationId xmlns:a16="http://schemas.microsoft.com/office/drawing/2014/main" id="{DB3946F8-1DCF-8B7D-7EE0-E8742603E34D}"/>
              </a:ext>
            </a:extLst>
          </p:cNvPr>
          <p:cNvSpPr txBox="1"/>
          <p:nvPr/>
        </p:nvSpPr>
        <p:spPr>
          <a:xfrm>
            <a:off x="5249228" y="3325450"/>
            <a:ext cx="1436162" cy="646331"/>
          </a:xfrm>
          <a:prstGeom prst="rect">
            <a:avLst/>
          </a:prstGeom>
          <a:noFill/>
        </p:spPr>
        <p:txBody>
          <a:bodyPr wrap="none" rtlCol="0">
            <a:spAutoFit/>
          </a:bodyPr>
          <a:lstStyle/>
          <a:p>
            <a:r>
              <a:rPr lang="it-IT"/>
              <a:t>Storage Data</a:t>
            </a:r>
            <a:endParaRPr lang="en-GB"/>
          </a:p>
          <a:p>
            <a:r>
              <a:rPr lang="en-GB"/>
              <a:t>Json file</a:t>
            </a:r>
            <a:endParaRPr lang="it-IT"/>
          </a:p>
        </p:txBody>
      </p:sp>
      <p:pic>
        <p:nvPicPr>
          <p:cNvPr id="14" name="Graphic 13" descr="Artificial Intelligence with solid fill">
            <a:extLst>
              <a:ext uri="{FF2B5EF4-FFF2-40B4-BE49-F238E27FC236}">
                <a16:creationId xmlns:a16="http://schemas.microsoft.com/office/drawing/2014/main" id="{59BDC1B0-3122-FE62-8FB3-DC019EFD3CC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77433" y="2347127"/>
            <a:ext cx="914400" cy="914400"/>
          </a:xfrm>
          <a:prstGeom prst="rect">
            <a:avLst/>
          </a:prstGeom>
        </p:spPr>
      </p:pic>
      <p:sp>
        <p:nvSpPr>
          <p:cNvPr id="15" name="TextBox 14">
            <a:extLst>
              <a:ext uri="{FF2B5EF4-FFF2-40B4-BE49-F238E27FC236}">
                <a16:creationId xmlns:a16="http://schemas.microsoft.com/office/drawing/2014/main" id="{93193F0B-7B4E-1336-DF52-9522D248D867}"/>
              </a:ext>
            </a:extLst>
          </p:cNvPr>
          <p:cNvSpPr txBox="1"/>
          <p:nvPr/>
        </p:nvSpPr>
        <p:spPr>
          <a:xfrm>
            <a:off x="7333667" y="3325450"/>
            <a:ext cx="1278620" cy="369332"/>
          </a:xfrm>
          <a:prstGeom prst="rect">
            <a:avLst/>
          </a:prstGeom>
          <a:noFill/>
        </p:spPr>
        <p:txBody>
          <a:bodyPr wrap="none" rtlCol="0">
            <a:spAutoFit/>
          </a:bodyPr>
          <a:lstStyle/>
          <a:p>
            <a:r>
              <a:rPr lang="it-IT"/>
              <a:t>Train Model</a:t>
            </a:r>
            <a:endParaRPr lang="en-GB"/>
          </a:p>
        </p:txBody>
      </p:sp>
      <p:pic>
        <p:nvPicPr>
          <p:cNvPr id="17" name="Graphic 16" descr="Brainstorm with solid fill">
            <a:extLst>
              <a:ext uri="{FF2B5EF4-FFF2-40B4-BE49-F238E27FC236}">
                <a16:creationId xmlns:a16="http://schemas.microsoft.com/office/drawing/2014/main" id="{656503F8-D81E-7D94-F7DD-5709F3F3B9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561872" y="2347127"/>
            <a:ext cx="914400" cy="914400"/>
          </a:xfrm>
          <a:prstGeom prst="rect">
            <a:avLst/>
          </a:prstGeom>
        </p:spPr>
      </p:pic>
      <p:sp>
        <p:nvSpPr>
          <p:cNvPr id="19" name="TextBox 18">
            <a:extLst>
              <a:ext uri="{FF2B5EF4-FFF2-40B4-BE49-F238E27FC236}">
                <a16:creationId xmlns:a16="http://schemas.microsoft.com/office/drawing/2014/main" id="{17EEA0C3-1F84-0867-D3D9-57CBB8A782C9}"/>
              </a:ext>
            </a:extLst>
          </p:cNvPr>
          <p:cNvSpPr txBox="1"/>
          <p:nvPr/>
        </p:nvSpPr>
        <p:spPr>
          <a:xfrm>
            <a:off x="9418106" y="3342967"/>
            <a:ext cx="1088760" cy="369332"/>
          </a:xfrm>
          <a:prstGeom prst="rect">
            <a:avLst/>
          </a:prstGeom>
          <a:noFill/>
        </p:spPr>
        <p:txBody>
          <a:bodyPr wrap="none" rtlCol="0">
            <a:spAutoFit/>
          </a:bodyPr>
          <a:lstStyle/>
          <a:p>
            <a:pPr algn="ctr"/>
            <a:r>
              <a:rPr lang="it-IT" err="1"/>
              <a:t>Prediction</a:t>
            </a:r>
            <a:endParaRPr lang="en-GB"/>
          </a:p>
        </p:txBody>
      </p:sp>
      <p:sp>
        <p:nvSpPr>
          <p:cNvPr id="20" name="Arrow: Right 19">
            <a:extLst>
              <a:ext uri="{FF2B5EF4-FFF2-40B4-BE49-F238E27FC236}">
                <a16:creationId xmlns:a16="http://schemas.microsoft.com/office/drawing/2014/main" id="{7371A05A-5D1C-9F6A-4CD5-A75D15C279B9}"/>
              </a:ext>
            </a:extLst>
          </p:cNvPr>
          <p:cNvSpPr/>
          <p:nvPr/>
        </p:nvSpPr>
        <p:spPr>
          <a:xfrm>
            <a:off x="2585884" y="2637178"/>
            <a:ext cx="609600" cy="334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Right 20">
            <a:extLst>
              <a:ext uri="{FF2B5EF4-FFF2-40B4-BE49-F238E27FC236}">
                <a16:creationId xmlns:a16="http://schemas.microsoft.com/office/drawing/2014/main" id="{A8F8A528-BF84-0B36-5A9D-76262F34BEB7}"/>
              </a:ext>
            </a:extLst>
          </p:cNvPr>
          <p:cNvSpPr/>
          <p:nvPr/>
        </p:nvSpPr>
        <p:spPr>
          <a:xfrm>
            <a:off x="4639628" y="2637177"/>
            <a:ext cx="609600" cy="334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2BC11A4D-B4AB-F83A-F998-4A875D6D93AF}"/>
              </a:ext>
            </a:extLst>
          </p:cNvPr>
          <p:cNvSpPr/>
          <p:nvPr/>
        </p:nvSpPr>
        <p:spPr>
          <a:xfrm>
            <a:off x="6587613" y="2637176"/>
            <a:ext cx="609600" cy="334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Right 22">
            <a:extLst>
              <a:ext uri="{FF2B5EF4-FFF2-40B4-BE49-F238E27FC236}">
                <a16:creationId xmlns:a16="http://schemas.microsoft.com/office/drawing/2014/main" id="{1F6A592A-9EE0-6FBB-5CF7-95FB56014E16}"/>
              </a:ext>
            </a:extLst>
          </p:cNvPr>
          <p:cNvSpPr/>
          <p:nvPr/>
        </p:nvSpPr>
        <p:spPr>
          <a:xfrm>
            <a:off x="8672052" y="2637176"/>
            <a:ext cx="609600" cy="334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17448061"/>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C7E5-3F84-9483-887D-0B810C3935C1}"/>
              </a:ext>
            </a:extLst>
          </p:cNvPr>
          <p:cNvSpPr>
            <a:spLocks noGrp="1"/>
          </p:cNvSpPr>
          <p:nvPr>
            <p:ph type="title"/>
          </p:nvPr>
        </p:nvSpPr>
        <p:spPr/>
        <p:txBody>
          <a:bodyPr/>
          <a:lstStyle/>
          <a:p>
            <a:r>
              <a:rPr lang="en-US" err="1"/>
              <a:t>Thingsboard</a:t>
            </a:r>
            <a:r>
              <a:rPr lang="en-US"/>
              <a:t> </a:t>
            </a:r>
          </a:p>
        </p:txBody>
      </p:sp>
      <p:pic>
        <p:nvPicPr>
          <p:cNvPr id="5" name="Graphic 4">
            <a:extLst>
              <a:ext uri="{FF2B5EF4-FFF2-40B4-BE49-F238E27FC236}">
                <a16:creationId xmlns:a16="http://schemas.microsoft.com/office/drawing/2014/main" id="{4E24EE95-A1C3-59F1-9DE1-F9DA622AE9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7721" y="837337"/>
            <a:ext cx="757213" cy="774142"/>
          </a:xfrm>
          <a:prstGeom prst="rect">
            <a:avLst/>
          </a:prstGeom>
        </p:spPr>
      </p:pic>
      <p:pic>
        <p:nvPicPr>
          <p:cNvPr id="3" name="Graphic 2" descr="Server outline">
            <a:extLst>
              <a:ext uri="{FF2B5EF4-FFF2-40B4-BE49-F238E27FC236}">
                <a16:creationId xmlns:a16="http://schemas.microsoft.com/office/drawing/2014/main" id="{2F6BFA60-BC1E-5CFE-2C04-518C470B9A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56341" y="2833788"/>
            <a:ext cx="1881883" cy="1830512"/>
          </a:xfrm>
          <a:prstGeom prst="rect">
            <a:avLst/>
          </a:prstGeom>
        </p:spPr>
      </p:pic>
      <p:sp>
        <p:nvSpPr>
          <p:cNvPr id="4" name="TextBox 3">
            <a:extLst>
              <a:ext uri="{FF2B5EF4-FFF2-40B4-BE49-F238E27FC236}">
                <a16:creationId xmlns:a16="http://schemas.microsoft.com/office/drawing/2014/main" id="{E29A95F7-3AFB-F0DC-3736-BEB63A07AFA0}"/>
              </a:ext>
            </a:extLst>
          </p:cNvPr>
          <p:cNvSpPr txBox="1"/>
          <p:nvPr/>
        </p:nvSpPr>
        <p:spPr>
          <a:xfrm>
            <a:off x="1164684" y="1987825"/>
            <a:ext cx="993010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err="1">
                <a:ea typeface="+mn-lt"/>
                <a:cs typeface="+mn-lt"/>
              </a:rPr>
              <a:t>Thingsboard</a:t>
            </a:r>
            <a:r>
              <a:rPr lang="en-US" sz="1400">
                <a:ea typeface="+mn-lt"/>
                <a:cs typeface="+mn-lt"/>
              </a:rPr>
              <a:t> is an open-source IoT (Internet of Things) platform designed for data collection, processing, visualization, and device management.</a:t>
            </a:r>
            <a:endParaRPr lang="en-US" sz="1400"/>
          </a:p>
          <a:p>
            <a:pPr algn="just"/>
            <a:r>
              <a:rPr lang="en-US" sz="1400"/>
              <a:t>In particular we use it in our project as an interactive dashboard that waste collectors can use to check the bin state and location.</a:t>
            </a:r>
          </a:p>
        </p:txBody>
      </p:sp>
      <p:pic>
        <p:nvPicPr>
          <p:cNvPr id="6" name="Graphic 5">
            <a:extLst>
              <a:ext uri="{FF2B5EF4-FFF2-40B4-BE49-F238E27FC236}">
                <a16:creationId xmlns:a16="http://schemas.microsoft.com/office/drawing/2014/main" id="{F8684780-1DB2-B047-2B00-5F2BE1CFE8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23356" y="2797955"/>
            <a:ext cx="577416" cy="585783"/>
          </a:xfrm>
          <a:prstGeom prst="rect">
            <a:avLst/>
          </a:prstGeom>
        </p:spPr>
      </p:pic>
      <p:sp>
        <p:nvSpPr>
          <p:cNvPr id="7" name="TextBox 6">
            <a:extLst>
              <a:ext uri="{FF2B5EF4-FFF2-40B4-BE49-F238E27FC236}">
                <a16:creationId xmlns:a16="http://schemas.microsoft.com/office/drawing/2014/main" id="{224C65DC-A36D-A9AD-4BAB-DBF31E7CF0F6}"/>
              </a:ext>
            </a:extLst>
          </p:cNvPr>
          <p:cNvSpPr txBox="1"/>
          <p:nvPr/>
        </p:nvSpPr>
        <p:spPr>
          <a:xfrm>
            <a:off x="8152226" y="4587169"/>
            <a:ext cx="18835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t>Self-hosted </a:t>
            </a:r>
            <a:r>
              <a:rPr lang="en-US" sz="1600" err="1"/>
              <a:t>thingsboard</a:t>
            </a:r>
            <a:r>
              <a:rPr lang="en-US" sz="1600"/>
              <a:t> instance</a:t>
            </a:r>
            <a:endParaRPr lang="en-US"/>
          </a:p>
        </p:txBody>
      </p:sp>
      <p:pic>
        <p:nvPicPr>
          <p:cNvPr id="9" name="Graphic 8" descr="Computer outline">
            <a:extLst>
              <a:ext uri="{FF2B5EF4-FFF2-40B4-BE49-F238E27FC236}">
                <a16:creationId xmlns:a16="http://schemas.microsoft.com/office/drawing/2014/main" id="{BB13B48E-CEBE-CFB3-01EE-5B833525D4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53869" y="2795802"/>
            <a:ext cx="1883107" cy="1994221"/>
          </a:xfrm>
          <a:prstGeom prst="rect">
            <a:avLst/>
          </a:prstGeom>
        </p:spPr>
      </p:pic>
      <p:sp>
        <p:nvSpPr>
          <p:cNvPr id="11" name="TextBox 10">
            <a:extLst>
              <a:ext uri="{FF2B5EF4-FFF2-40B4-BE49-F238E27FC236}">
                <a16:creationId xmlns:a16="http://schemas.microsoft.com/office/drawing/2014/main" id="{D002FB90-07C6-E491-ED08-C8187FDBAC58}"/>
              </a:ext>
            </a:extLst>
          </p:cNvPr>
          <p:cNvSpPr txBox="1"/>
          <p:nvPr/>
        </p:nvSpPr>
        <p:spPr>
          <a:xfrm>
            <a:off x="1752738" y="4506004"/>
            <a:ext cx="189139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Central Controller</a:t>
            </a:r>
          </a:p>
        </p:txBody>
      </p:sp>
      <p:sp>
        <p:nvSpPr>
          <p:cNvPr id="13" name="Arrow: Right 12">
            <a:extLst>
              <a:ext uri="{FF2B5EF4-FFF2-40B4-BE49-F238E27FC236}">
                <a16:creationId xmlns:a16="http://schemas.microsoft.com/office/drawing/2014/main" id="{F2160F54-1A4C-D4A3-BEBF-B90EB839E2AA}"/>
              </a:ext>
            </a:extLst>
          </p:cNvPr>
          <p:cNvSpPr/>
          <p:nvPr/>
        </p:nvSpPr>
        <p:spPr>
          <a:xfrm>
            <a:off x="3956947" y="3217001"/>
            <a:ext cx="4306584" cy="35959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Arrow: Right 15">
            <a:extLst>
              <a:ext uri="{FF2B5EF4-FFF2-40B4-BE49-F238E27FC236}">
                <a16:creationId xmlns:a16="http://schemas.microsoft.com/office/drawing/2014/main" id="{D197DBCC-F89B-7B64-AD79-6D7493711539}"/>
              </a:ext>
            </a:extLst>
          </p:cNvPr>
          <p:cNvSpPr/>
          <p:nvPr/>
        </p:nvSpPr>
        <p:spPr>
          <a:xfrm rot="10800000">
            <a:off x="3956946" y="3859135"/>
            <a:ext cx="4306584" cy="35959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D084142B-EC82-1AEA-6733-99E99C38613C}"/>
              </a:ext>
            </a:extLst>
          </p:cNvPr>
          <p:cNvSpPr txBox="1"/>
          <p:nvPr/>
        </p:nvSpPr>
        <p:spPr>
          <a:xfrm>
            <a:off x="5241217" y="3568035"/>
            <a:ext cx="18493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MQTT Protocol</a:t>
            </a:r>
          </a:p>
        </p:txBody>
      </p:sp>
      <p:sp>
        <p:nvSpPr>
          <p:cNvPr id="22" name="TextBox 21">
            <a:extLst>
              <a:ext uri="{FF2B5EF4-FFF2-40B4-BE49-F238E27FC236}">
                <a16:creationId xmlns:a16="http://schemas.microsoft.com/office/drawing/2014/main" id="{D03A77B6-4C4F-D270-3739-78C5B5BA6FB8}"/>
              </a:ext>
            </a:extLst>
          </p:cNvPr>
          <p:cNvSpPr txBox="1"/>
          <p:nvPr/>
        </p:nvSpPr>
        <p:spPr>
          <a:xfrm>
            <a:off x="1131553" y="5283744"/>
            <a:ext cx="993010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ea typeface="+mn-lt"/>
                <a:cs typeface="+mn-lt"/>
              </a:rPr>
              <a:t>Data is sent to a gateway via the </a:t>
            </a:r>
            <a:r>
              <a:rPr lang="en-US" sz="1400" b="1">
                <a:ea typeface="+mn-lt"/>
                <a:cs typeface="+mn-lt"/>
              </a:rPr>
              <a:t>MQTT protocol</a:t>
            </a:r>
            <a:r>
              <a:rPr lang="en-US" sz="1400">
                <a:ea typeface="+mn-lt"/>
                <a:cs typeface="+mn-lt"/>
              </a:rPr>
              <a:t>. The gateway is responsible for </a:t>
            </a:r>
            <a:r>
              <a:rPr lang="en-US" sz="1400" b="1">
                <a:ea typeface="+mn-lt"/>
                <a:cs typeface="+mn-lt"/>
              </a:rPr>
              <a:t>dynamically provisioning</a:t>
            </a:r>
            <a:r>
              <a:rPr lang="en-US" sz="1400">
                <a:ea typeface="+mn-lt"/>
                <a:cs typeface="+mn-lt"/>
              </a:rPr>
              <a:t> new devices and </a:t>
            </a:r>
            <a:r>
              <a:rPr lang="en-US" sz="1400" b="1">
                <a:ea typeface="+mn-lt"/>
                <a:cs typeface="+mn-lt"/>
              </a:rPr>
              <a:t>forwarding</a:t>
            </a:r>
            <a:r>
              <a:rPr lang="en-US" sz="1400">
                <a:ea typeface="+mn-lt"/>
                <a:cs typeface="+mn-lt"/>
              </a:rPr>
              <a:t> the relevant telemetry to them. This data is then used to </a:t>
            </a:r>
            <a:r>
              <a:rPr lang="en-US" sz="1400" b="1">
                <a:ea typeface="+mn-lt"/>
                <a:cs typeface="+mn-lt"/>
              </a:rPr>
              <a:t>generate real-time graphs</a:t>
            </a:r>
            <a:r>
              <a:rPr lang="en-US" sz="1400">
                <a:ea typeface="+mn-lt"/>
                <a:cs typeface="+mn-lt"/>
              </a:rPr>
              <a:t> and visualizations within the dashboard</a:t>
            </a:r>
            <a:endParaRPr lang="en-US">
              <a:ea typeface="+mn-lt"/>
              <a:cs typeface="+mn-lt"/>
            </a:endParaRPr>
          </a:p>
        </p:txBody>
      </p:sp>
      <p:pic>
        <p:nvPicPr>
          <p:cNvPr id="8" name="Picture 7" descr="A orange arrow pointing to the right&#10;&#10;AI-generated content may be incorrect.">
            <a:extLst>
              <a:ext uri="{FF2B5EF4-FFF2-40B4-BE49-F238E27FC236}">
                <a16:creationId xmlns:a16="http://schemas.microsoft.com/office/drawing/2014/main" id="{F92B6743-7D01-FCC4-DFA5-45C97C00E616}"/>
              </a:ext>
            </a:extLst>
          </p:cNvPr>
          <p:cNvPicPr>
            <a:picLocks noChangeAspect="1"/>
          </p:cNvPicPr>
          <p:nvPr/>
        </p:nvPicPr>
        <p:blipFill>
          <a:blip r:embed="rId9"/>
          <a:stretch>
            <a:fillRect/>
          </a:stretch>
        </p:blipFill>
        <p:spPr>
          <a:xfrm>
            <a:off x="8463989" y="4405928"/>
            <a:ext cx="1209261" cy="182218"/>
          </a:xfrm>
          <a:prstGeom prst="rect">
            <a:avLst/>
          </a:prstGeom>
        </p:spPr>
      </p:pic>
    </p:spTree>
    <p:extLst>
      <p:ext uri="{BB962C8B-B14F-4D97-AF65-F5344CB8AC3E}">
        <p14:creationId xmlns:p14="http://schemas.microsoft.com/office/powerpoint/2010/main" val="2904480633"/>
      </p:ext>
    </p:extLst>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E4B47B-6B42-49DA-3AEC-A5BA83CE0F62}"/>
              </a:ext>
            </a:extLst>
          </p:cNvPr>
          <p:cNvSpPr>
            <a:spLocks noGrp="1"/>
          </p:cNvSpPr>
          <p:nvPr>
            <p:ph type="title"/>
          </p:nvPr>
        </p:nvSpPr>
        <p:spPr>
          <a:xfrm>
            <a:off x="1036320" y="286603"/>
            <a:ext cx="10058400" cy="1450757"/>
          </a:xfrm>
        </p:spPr>
        <p:txBody>
          <a:bodyPr>
            <a:normAutofit/>
          </a:bodyPr>
          <a:lstStyle/>
          <a:p>
            <a:r>
              <a:rPr lang="it-IT"/>
              <a:t>Waste </a:t>
            </a:r>
            <a:r>
              <a:rPr lang="it-IT" err="1"/>
              <a:t>Collector</a:t>
            </a:r>
            <a:r>
              <a:rPr lang="it-IT"/>
              <a:t> - Interactions </a:t>
            </a:r>
            <a:endParaRPr lang="en-GB"/>
          </a:p>
        </p:txBody>
      </p:sp>
      <p:cxnSp>
        <p:nvCxnSpPr>
          <p:cNvPr id="21" name="Straight Connector 20">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Confused person with solid fill">
            <a:extLst>
              <a:ext uri="{FF2B5EF4-FFF2-40B4-BE49-F238E27FC236}">
                <a16:creationId xmlns:a16="http://schemas.microsoft.com/office/drawing/2014/main" id="{0AD2D354-81A3-822A-4792-A5D7A478B74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E1EEEBB5-2263-1017-2B5C-5C28DC73CE06}"/>
              </a:ext>
            </a:extLst>
          </p:cNvPr>
          <p:cNvSpPr>
            <a:spLocks noGrp="1"/>
          </p:cNvSpPr>
          <p:nvPr>
            <p:ph idx="1"/>
          </p:nvPr>
        </p:nvSpPr>
        <p:spPr>
          <a:xfrm>
            <a:off x="4706460" y="2108201"/>
            <a:ext cx="6708520" cy="3760891"/>
          </a:xfrm>
        </p:spPr>
        <p:txBody>
          <a:bodyPr>
            <a:normAutofit/>
          </a:bodyPr>
          <a:lstStyle/>
          <a:p>
            <a:r>
              <a:rPr lang="it-IT"/>
              <a:t>The Waste </a:t>
            </a:r>
            <a:r>
              <a:rPr lang="it-IT" err="1"/>
              <a:t>Collector</a:t>
            </a:r>
            <a:r>
              <a:rPr lang="it-IT"/>
              <a:t> can </a:t>
            </a:r>
            <a:r>
              <a:rPr lang="it-IT" err="1"/>
              <a:t>interact</a:t>
            </a:r>
            <a:r>
              <a:rPr lang="it-IT"/>
              <a:t> with the system by the </a:t>
            </a:r>
          </a:p>
          <a:p>
            <a:pPr>
              <a:buFont typeface="Arial" panose="020B0604020202020204" pitchFamily="34" charset="0"/>
              <a:buChar char="•"/>
            </a:pPr>
            <a:r>
              <a:rPr lang="en-GB"/>
              <a:t> Web Dashboard (</a:t>
            </a:r>
            <a:r>
              <a:rPr lang="en-GB" err="1"/>
              <a:t>ThingsBoard</a:t>
            </a:r>
            <a:r>
              <a:rPr lang="en-GB"/>
              <a:t>)</a:t>
            </a:r>
          </a:p>
          <a:p>
            <a:pPr>
              <a:buFont typeface="Arial" panose="020B0604020202020204" pitchFamily="34" charset="0"/>
              <a:buChar char="•"/>
            </a:pPr>
            <a:r>
              <a:rPr lang="en-GB"/>
              <a:t> NFC Module</a:t>
            </a:r>
          </a:p>
        </p:txBody>
      </p:sp>
      <p:sp>
        <p:nvSpPr>
          <p:cNvPr id="23" name="Rectangle 22">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8129610"/>
      </p:ext>
    </p:extLst>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3E53-163E-E988-D7BF-0805F040F6A9}"/>
              </a:ext>
            </a:extLst>
          </p:cNvPr>
          <p:cNvSpPr>
            <a:spLocks noGrp="1"/>
          </p:cNvSpPr>
          <p:nvPr>
            <p:ph type="title"/>
          </p:nvPr>
        </p:nvSpPr>
        <p:spPr/>
        <p:txBody>
          <a:bodyPr/>
          <a:lstStyle/>
          <a:p>
            <a:r>
              <a:rPr lang="it-IT"/>
              <a:t>Waste </a:t>
            </a:r>
            <a:r>
              <a:rPr lang="it-IT" err="1"/>
              <a:t>Collector</a:t>
            </a:r>
            <a:r>
              <a:rPr lang="it-IT"/>
              <a:t> - NFC</a:t>
            </a:r>
            <a:endParaRPr lang="en-GB"/>
          </a:p>
        </p:txBody>
      </p:sp>
      <p:sp>
        <p:nvSpPr>
          <p:cNvPr id="3" name="Content Placeholder 2">
            <a:extLst>
              <a:ext uri="{FF2B5EF4-FFF2-40B4-BE49-F238E27FC236}">
                <a16:creationId xmlns:a16="http://schemas.microsoft.com/office/drawing/2014/main" id="{A2544908-8A2C-C48E-876F-78C1868E2AE8}"/>
              </a:ext>
            </a:extLst>
          </p:cNvPr>
          <p:cNvSpPr>
            <a:spLocks noGrp="1"/>
          </p:cNvSpPr>
          <p:nvPr>
            <p:ph idx="1"/>
          </p:nvPr>
        </p:nvSpPr>
        <p:spPr>
          <a:xfrm>
            <a:off x="1097280" y="2108201"/>
            <a:ext cx="10058400" cy="497347"/>
          </a:xfrm>
        </p:spPr>
        <p:txBody>
          <a:bodyPr/>
          <a:lstStyle/>
          <a:p>
            <a:r>
              <a:rPr lang="it-IT"/>
              <a:t>The NFC Module </a:t>
            </a:r>
            <a:r>
              <a:rPr lang="it-IT" err="1"/>
              <a:t>allows</a:t>
            </a:r>
            <a:r>
              <a:rPr lang="it-IT"/>
              <a:t> </a:t>
            </a:r>
            <a:r>
              <a:rPr lang="it-IT" err="1"/>
              <a:t>authorized</a:t>
            </a:r>
            <a:r>
              <a:rPr lang="it-IT"/>
              <a:t> personal to open a full bin to </a:t>
            </a:r>
            <a:r>
              <a:rPr lang="it-IT" err="1"/>
              <a:t>empty</a:t>
            </a:r>
            <a:r>
              <a:rPr lang="it-IT"/>
              <a:t> </a:t>
            </a:r>
            <a:r>
              <a:rPr lang="it-IT" err="1"/>
              <a:t>it</a:t>
            </a:r>
            <a:r>
              <a:rPr lang="it-IT"/>
              <a:t>.</a:t>
            </a:r>
            <a:endParaRPr lang="en-GB"/>
          </a:p>
        </p:txBody>
      </p:sp>
      <p:pic>
        <p:nvPicPr>
          <p:cNvPr id="5" name="Graphic 4" descr="Credit card outline">
            <a:extLst>
              <a:ext uri="{FF2B5EF4-FFF2-40B4-BE49-F238E27FC236}">
                <a16:creationId xmlns:a16="http://schemas.microsoft.com/office/drawing/2014/main" id="{8EB7CD88-EFC3-AA3D-7954-C94B5DF2D1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794967">
            <a:off x="3033252" y="2843981"/>
            <a:ext cx="914400" cy="914400"/>
          </a:xfrm>
          <a:prstGeom prst="rect">
            <a:avLst/>
          </a:prstGeom>
        </p:spPr>
      </p:pic>
      <p:pic>
        <p:nvPicPr>
          <p:cNvPr id="7" name="Picture 6" descr="A black and white outline of a trash can&#10;&#10;AI-generated content may be incorrect.">
            <a:extLst>
              <a:ext uri="{FF2B5EF4-FFF2-40B4-BE49-F238E27FC236}">
                <a16:creationId xmlns:a16="http://schemas.microsoft.com/office/drawing/2014/main" id="{9769A16C-F867-964C-3C8B-84125881D3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4890" y="2797104"/>
            <a:ext cx="949795" cy="1008151"/>
          </a:xfrm>
          <a:prstGeom prst="rect">
            <a:avLst/>
          </a:prstGeom>
        </p:spPr>
      </p:pic>
      <p:pic>
        <p:nvPicPr>
          <p:cNvPr id="9" name="Graphic 8" descr="Wireless outline">
            <a:extLst>
              <a:ext uri="{FF2B5EF4-FFF2-40B4-BE49-F238E27FC236}">
                <a16:creationId xmlns:a16="http://schemas.microsoft.com/office/drawing/2014/main" id="{CC60D3EA-C39C-C0CB-CB43-F8D40084884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4115244" y="3038167"/>
            <a:ext cx="526026" cy="526026"/>
          </a:xfrm>
          <a:prstGeom prst="rect">
            <a:avLst/>
          </a:prstGeom>
        </p:spPr>
      </p:pic>
      <p:sp>
        <p:nvSpPr>
          <p:cNvPr id="10" name="Arrow: Right 9">
            <a:extLst>
              <a:ext uri="{FF2B5EF4-FFF2-40B4-BE49-F238E27FC236}">
                <a16:creationId xmlns:a16="http://schemas.microsoft.com/office/drawing/2014/main" id="{D3D3C675-8380-8788-08D6-9D368D8A2072}"/>
              </a:ext>
            </a:extLst>
          </p:cNvPr>
          <p:cNvSpPr/>
          <p:nvPr/>
        </p:nvSpPr>
        <p:spPr>
          <a:xfrm>
            <a:off x="6361472" y="3038167"/>
            <a:ext cx="747251" cy="526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Graphic 14" descr="Repeat with solid fill">
            <a:extLst>
              <a:ext uri="{FF2B5EF4-FFF2-40B4-BE49-F238E27FC236}">
                <a16:creationId xmlns:a16="http://schemas.microsoft.com/office/drawing/2014/main" id="{879A6CA1-7DDE-03C0-08B3-BDAB8A6943C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37654" y="3795253"/>
            <a:ext cx="914400" cy="914400"/>
          </a:xfrm>
          <a:prstGeom prst="rect">
            <a:avLst/>
          </a:prstGeom>
        </p:spPr>
      </p:pic>
      <p:sp>
        <p:nvSpPr>
          <p:cNvPr id="16" name="TextBox 15">
            <a:extLst>
              <a:ext uri="{FF2B5EF4-FFF2-40B4-BE49-F238E27FC236}">
                <a16:creationId xmlns:a16="http://schemas.microsoft.com/office/drawing/2014/main" id="{7CD94BA3-B4EA-87D6-F407-BAAB301B15C8}"/>
              </a:ext>
            </a:extLst>
          </p:cNvPr>
          <p:cNvSpPr txBox="1"/>
          <p:nvPr/>
        </p:nvSpPr>
        <p:spPr>
          <a:xfrm>
            <a:off x="6361472" y="4067787"/>
            <a:ext cx="1023037" cy="369332"/>
          </a:xfrm>
          <a:prstGeom prst="rect">
            <a:avLst/>
          </a:prstGeom>
          <a:noFill/>
        </p:spPr>
        <p:txBody>
          <a:bodyPr wrap="none" rtlCol="0">
            <a:spAutoFit/>
          </a:bodyPr>
          <a:lstStyle/>
          <a:p>
            <a:r>
              <a:rPr lang="it-IT" err="1"/>
              <a:t>Emptying</a:t>
            </a:r>
            <a:endParaRPr lang="en-GB"/>
          </a:p>
        </p:txBody>
      </p:sp>
      <p:pic>
        <p:nvPicPr>
          <p:cNvPr id="17" name="Graphic 16" descr="Credit card outline">
            <a:extLst>
              <a:ext uri="{FF2B5EF4-FFF2-40B4-BE49-F238E27FC236}">
                <a16:creationId xmlns:a16="http://schemas.microsoft.com/office/drawing/2014/main" id="{341ECB44-258B-E1DA-FFEE-2B3B64AF60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794967">
            <a:off x="3033252" y="4877247"/>
            <a:ext cx="914400" cy="914400"/>
          </a:xfrm>
          <a:prstGeom prst="rect">
            <a:avLst/>
          </a:prstGeom>
        </p:spPr>
      </p:pic>
      <p:pic>
        <p:nvPicPr>
          <p:cNvPr id="19" name="Graphic 18" descr="Wireless outline">
            <a:extLst>
              <a:ext uri="{FF2B5EF4-FFF2-40B4-BE49-F238E27FC236}">
                <a16:creationId xmlns:a16="http://schemas.microsoft.com/office/drawing/2014/main" id="{3C4ABBBB-3326-9948-7548-DDFB791BF4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4115244" y="5071433"/>
            <a:ext cx="526026" cy="526026"/>
          </a:xfrm>
          <a:prstGeom prst="rect">
            <a:avLst/>
          </a:prstGeom>
        </p:spPr>
      </p:pic>
      <p:sp>
        <p:nvSpPr>
          <p:cNvPr id="20" name="Arrow: Right 19">
            <a:extLst>
              <a:ext uri="{FF2B5EF4-FFF2-40B4-BE49-F238E27FC236}">
                <a16:creationId xmlns:a16="http://schemas.microsoft.com/office/drawing/2014/main" id="{0F4EBA1C-DB02-EB32-5C97-43B75DCA2FC0}"/>
              </a:ext>
            </a:extLst>
          </p:cNvPr>
          <p:cNvSpPr/>
          <p:nvPr/>
        </p:nvSpPr>
        <p:spPr>
          <a:xfrm>
            <a:off x="6361472" y="5071433"/>
            <a:ext cx="747251" cy="526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A black and white outline of a trash can&#10;&#10;AI-generated content may be incorrect.">
            <a:extLst>
              <a:ext uri="{FF2B5EF4-FFF2-40B4-BE49-F238E27FC236}">
                <a16:creationId xmlns:a16="http://schemas.microsoft.com/office/drawing/2014/main" id="{9A94F54A-85D1-72A3-911D-DA6602FF4DC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62398" y="4635812"/>
            <a:ext cx="834777" cy="1249584"/>
          </a:xfrm>
          <a:prstGeom prst="rect">
            <a:avLst/>
          </a:prstGeom>
        </p:spPr>
      </p:pic>
      <p:sp>
        <p:nvSpPr>
          <p:cNvPr id="22" name="TextBox 21">
            <a:extLst>
              <a:ext uri="{FF2B5EF4-FFF2-40B4-BE49-F238E27FC236}">
                <a16:creationId xmlns:a16="http://schemas.microsoft.com/office/drawing/2014/main" id="{D7DEB400-E18F-0F51-9B5D-82748E8BA881}"/>
              </a:ext>
            </a:extLst>
          </p:cNvPr>
          <p:cNvSpPr txBox="1"/>
          <p:nvPr/>
        </p:nvSpPr>
        <p:spPr>
          <a:xfrm>
            <a:off x="8750710" y="3187931"/>
            <a:ext cx="2762865" cy="369332"/>
          </a:xfrm>
          <a:prstGeom prst="rect">
            <a:avLst/>
          </a:prstGeom>
          <a:noFill/>
        </p:spPr>
        <p:txBody>
          <a:bodyPr wrap="square" rtlCol="0">
            <a:spAutoFit/>
          </a:bodyPr>
          <a:lstStyle/>
          <a:p>
            <a:r>
              <a:rPr lang="it-IT"/>
              <a:t>, Enter </a:t>
            </a:r>
            <a:r>
              <a:rPr lang="it-IT" err="1"/>
              <a:t>configuration</a:t>
            </a:r>
            <a:r>
              <a:rPr lang="it-IT"/>
              <a:t> mode</a:t>
            </a:r>
            <a:endParaRPr lang="en-GB"/>
          </a:p>
        </p:txBody>
      </p:sp>
      <p:sp>
        <p:nvSpPr>
          <p:cNvPr id="23" name="TextBox 22">
            <a:extLst>
              <a:ext uri="{FF2B5EF4-FFF2-40B4-BE49-F238E27FC236}">
                <a16:creationId xmlns:a16="http://schemas.microsoft.com/office/drawing/2014/main" id="{F4D96C6B-B587-D960-A1A9-F8B298DE9F47}"/>
              </a:ext>
            </a:extLst>
          </p:cNvPr>
          <p:cNvSpPr txBox="1"/>
          <p:nvPr/>
        </p:nvSpPr>
        <p:spPr>
          <a:xfrm>
            <a:off x="7762567" y="5071433"/>
            <a:ext cx="2762865" cy="369332"/>
          </a:xfrm>
          <a:prstGeom prst="rect">
            <a:avLst/>
          </a:prstGeom>
          <a:noFill/>
        </p:spPr>
        <p:txBody>
          <a:bodyPr wrap="square" rtlCol="0">
            <a:spAutoFit/>
          </a:bodyPr>
          <a:lstStyle/>
          <a:p>
            <a:r>
              <a:rPr lang="it-IT"/>
              <a:t>Exit </a:t>
            </a:r>
            <a:r>
              <a:rPr lang="it-IT" err="1"/>
              <a:t>configuration</a:t>
            </a:r>
            <a:r>
              <a:rPr lang="it-IT"/>
              <a:t> mode</a:t>
            </a:r>
            <a:endParaRPr lang="en-GB"/>
          </a:p>
        </p:txBody>
      </p:sp>
      <p:pic>
        <p:nvPicPr>
          <p:cNvPr id="24" name="Picture 23" descr="A black and white outline of a trash can&#10;&#10;AI-generated content may be incorrect.">
            <a:extLst>
              <a:ext uri="{FF2B5EF4-FFF2-40B4-BE49-F238E27FC236}">
                <a16:creationId xmlns:a16="http://schemas.microsoft.com/office/drawing/2014/main" id="{30AB1C23-294A-1CB9-4A98-D4010506D99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59369" y="2614998"/>
            <a:ext cx="834777" cy="1249584"/>
          </a:xfrm>
          <a:prstGeom prst="rect">
            <a:avLst/>
          </a:prstGeom>
        </p:spPr>
      </p:pic>
    </p:spTree>
    <p:extLst>
      <p:ext uri="{BB962C8B-B14F-4D97-AF65-F5344CB8AC3E}">
        <p14:creationId xmlns:p14="http://schemas.microsoft.com/office/powerpoint/2010/main" val="2525667919"/>
      </p:ext>
    </p:extLst>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1DBC-607F-A99C-F378-4E89B4F30C86}"/>
              </a:ext>
            </a:extLst>
          </p:cNvPr>
          <p:cNvSpPr>
            <a:spLocks noGrp="1"/>
          </p:cNvSpPr>
          <p:nvPr>
            <p:ph type="title"/>
          </p:nvPr>
        </p:nvSpPr>
        <p:spPr/>
        <p:txBody>
          <a:bodyPr/>
          <a:lstStyle/>
          <a:p>
            <a:r>
              <a:rPr lang="en-US"/>
              <a:t>Waste Collector - Dashboard</a:t>
            </a:r>
          </a:p>
        </p:txBody>
      </p:sp>
      <p:sp>
        <p:nvSpPr>
          <p:cNvPr id="5" name="TextBox 4">
            <a:extLst>
              <a:ext uri="{FF2B5EF4-FFF2-40B4-BE49-F238E27FC236}">
                <a16:creationId xmlns:a16="http://schemas.microsoft.com/office/drawing/2014/main" id="{BB9394FF-276F-C8A0-8D5D-14D63F84CBD6}"/>
              </a:ext>
            </a:extLst>
          </p:cNvPr>
          <p:cNvSpPr txBox="1"/>
          <p:nvPr/>
        </p:nvSpPr>
        <p:spPr>
          <a:xfrm>
            <a:off x="1095909" y="3253483"/>
            <a:ext cx="217469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Each waste collector has a customer account within Thingsboard</a:t>
            </a:r>
          </a:p>
        </p:txBody>
      </p:sp>
      <p:pic>
        <p:nvPicPr>
          <p:cNvPr id="3" name="Picture 2" descr="A screenshot of a computer&#10;&#10;AI-generated content may be incorrect.">
            <a:extLst>
              <a:ext uri="{FF2B5EF4-FFF2-40B4-BE49-F238E27FC236}">
                <a16:creationId xmlns:a16="http://schemas.microsoft.com/office/drawing/2014/main" id="{3568ABF3-938B-16F4-676D-2928D16CDFC5}"/>
              </a:ext>
            </a:extLst>
          </p:cNvPr>
          <p:cNvPicPr>
            <a:picLocks noChangeAspect="1"/>
          </p:cNvPicPr>
          <p:nvPr/>
        </p:nvPicPr>
        <p:blipFill>
          <a:blip r:embed="rId3"/>
          <a:stretch>
            <a:fillRect/>
          </a:stretch>
        </p:blipFill>
        <p:spPr>
          <a:xfrm>
            <a:off x="3354456" y="2096652"/>
            <a:ext cx="8489674" cy="3898804"/>
          </a:xfrm>
          <a:prstGeom prst="rect">
            <a:avLst/>
          </a:prstGeom>
        </p:spPr>
      </p:pic>
    </p:spTree>
    <p:extLst>
      <p:ext uri="{BB962C8B-B14F-4D97-AF65-F5344CB8AC3E}">
        <p14:creationId xmlns:p14="http://schemas.microsoft.com/office/powerpoint/2010/main" val="4156661611"/>
      </p:ext>
    </p:extLst>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D6A57-60A8-6B21-7084-0089683D5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C4F53-E281-9278-6343-889289511E09}"/>
              </a:ext>
            </a:extLst>
          </p:cNvPr>
          <p:cNvSpPr>
            <a:spLocks noGrp="1"/>
          </p:cNvSpPr>
          <p:nvPr>
            <p:ph type="title"/>
          </p:nvPr>
        </p:nvSpPr>
        <p:spPr/>
        <p:txBody>
          <a:bodyPr/>
          <a:lstStyle/>
          <a:p>
            <a:r>
              <a:rPr lang="en-US"/>
              <a:t>Waste Collector - Dashboard</a:t>
            </a:r>
          </a:p>
        </p:txBody>
      </p:sp>
      <p:sp>
        <p:nvSpPr>
          <p:cNvPr id="5" name="TextBox 4">
            <a:extLst>
              <a:ext uri="{FF2B5EF4-FFF2-40B4-BE49-F238E27FC236}">
                <a16:creationId xmlns:a16="http://schemas.microsoft.com/office/drawing/2014/main" id="{9058D142-9C5C-1510-8C07-C599059966F5}"/>
              </a:ext>
            </a:extLst>
          </p:cNvPr>
          <p:cNvSpPr txBox="1"/>
          <p:nvPr/>
        </p:nvSpPr>
        <p:spPr>
          <a:xfrm>
            <a:off x="1010291" y="2063393"/>
            <a:ext cx="104453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Administrators centrally manage collectors by </a:t>
            </a:r>
            <a:r>
              <a:rPr lang="en-US" b="1">
                <a:ea typeface="+mn-lt"/>
                <a:cs typeface="+mn-lt"/>
              </a:rPr>
              <a:t>assigning specific assets and dashboards</a:t>
            </a:r>
            <a:r>
              <a:rPr lang="en-US">
                <a:ea typeface="+mn-lt"/>
                <a:cs typeface="+mn-lt"/>
              </a:rPr>
              <a:t>. This regulates access and permissions, significantly </a:t>
            </a:r>
            <a:r>
              <a:rPr lang="en-US" b="1">
                <a:ea typeface="+mn-lt"/>
                <a:cs typeface="+mn-lt"/>
              </a:rPr>
              <a:t>enhancing security</a:t>
            </a:r>
            <a:r>
              <a:rPr lang="en-US">
                <a:ea typeface="+mn-lt"/>
                <a:cs typeface="+mn-lt"/>
              </a:rPr>
              <a:t> through organized </a:t>
            </a:r>
            <a:r>
              <a:rPr lang="en-US" err="1">
                <a:ea typeface="+mn-lt"/>
                <a:cs typeface="+mn-lt"/>
              </a:rPr>
              <a:t>emploee</a:t>
            </a:r>
            <a:r>
              <a:rPr lang="en-US">
                <a:ea typeface="+mn-lt"/>
                <a:cs typeface="+mn-lt"/>
              </a:rPr>
              <a:t> management</a:t>
            </a:r>
            <a:endParaRPr lang="en-US"/>
          </a:p>
        </p:txBody>
      </p:sp>
      <p:pic>
        <p:nvPicPr>
          <p:cNvPr id="7" name="Content Placeholder 6" descr="A screenshot of a computer&#10;&#10;AI-generated content may be incorrect.">
            <a:extLst>
              <a:ext uri="{FF2B5EF4-FFF2-40B4-BE49-F238E27FC236}">
                <a16:creationId xmlns:a16="http://schemas.microsoft.com/office/drawing/2014/main" id="{2231F3D3-680C-AAF0-2DB7-EBE7093004AC}"/>
              </a:ext>
            </a:extLst>
          </p:cNvPr>
          <p:cNvPicPr>
            <a:picLocks noGrp="1" noChangeAspect="1"/>
          </p:cNvPicPr>
          <p:nvPr>
            <p:ph idx="1"/>
          </p:nvPr>
        </p:nvPicPr>
        <p:blipFill>
          <a:blip r:embed="rId3"/>
          <a:stretch>
            <a:fillRect/>
          </a:stretch>
        </p:blipFill>
        <p:spPr>
          <a:xfrm>
            <a:off x="1653797" y="2999169"/>
            <a:ext cx="8876872" cy="119747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85772FE-A7A8-AF56-FC50-CF94BEC04D0C}"/>
              </a:ext>
            </a:extLst>
          </p:cNvPr>
          <p:cNvPicPr>
            <a:picLocks noChangeAspect="1"/>
          </p:cNvPicPr>
          <p:nvPr/>
        </p:nvPicPr>
        <p:blipFill>
          <a:blip r:embed="rId4"/>
          <a:stretch>
            <a:fillRect/>
          </a:stretch>
        </p:blipFill>
        <p:spPr>
          <a:xfrm>
            <a:off x="1654783" y="4518063"/>
            <a:ext cx="8876227" cy="1204654"/>
          </a:xfrm>
          <a:prstGeom prst="rect">
            <a:avLst/>
          </a:prstGeom>
        </p:spPr>
      </p:pic>
    </p:spTree>
    <p:extLst>
      <p:ext uri="{BB962C8B-B14F-4D97-AF65-F5344CB8AC3E}">
        <p14:creationId xmlns:p14="http://schemas.microsoft.com/office/powerpoint/2010/main" val="1911053406"/>
      </p:ext>
    </p:extLst>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4A747-8B3C-8649-9B05-1AC902D21C43}"/>
              </a:ext>
            </a:extLst>
          </p:cNvPr>
          <p:cNvSpPr>
            <a:spLocks noGrp="1"/>
          </p:cNvSpPr>
          <p:nvPr>
            <p:ph type="title"/>
          </p:nvPr>
        </p:nvSpPr>
        <p:spPr/>
        <p:txBody>
          <a:bodyPr/>
          <a:lstStyle/>
          <a:p>
            <a:r>
              <a:rPr lang="en-US"/>
              <a:t>Pro and Cons</a:t>
            </a:r>
          </a:p>
        </p:txBody>
      </p:sp>
      <p:sp>
        <p:nvSpPr>
          <p:cNvPr id="8" name="TextBox 7">
            <a:extLst>
              <a:ext uri="{FF2B5EF4-FFF2-40B4-BE49-F238E27FC236}">
                <a16:creationId xmlns:a16="http://schemas.microsoft.com/office/drawing/2014/main" id="{58F47EC8-F9BD-7901-70DA-69E90CE0E67F}"/>
              </a:ext>
            </a:extLst>
          </p:cNvPr>
          <p:cNvSpPr txBox="1"/>
          <p:nvPr/>
        </p:nvSpPr>
        <p:spPr>
          <a:xfrm>
            <a:off x="1219405" y="2292700"/>
            <a:ext cx="488022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Pro:</a:t>
            </a:r>
          </a:p>
          <a:p>
            <a:endParaRPr lang="en-US">
              <a:ea typeface="+mn-lt"/>
              <a:cs typeface="+mn-lt"/>
            </a:endParaRPr>
          </a:p>
          <a:p>
            <a:pPr marL="285750" indent="-285750">
              <a:buFont typeface="Arial"/>
              <a:buChar char="•"/>
            </a:pPr>
            <a:r>
              <a:rPr lang="en-US">
                <a:ea typeface="+mn-lt"/>
                <a:cs typeface="+mn-lt"/>
              </a:rPr>
              <a:t>Cheap hardware and installation </a:t>
            </a:r>
            <a:endParaRPr lang="en-US"/>
          </a:p>
          <a:p>
            <a:pPr marL="285750" indent="-285750">
              <a:buFont typeface="Arial"/>
              <a:buChar char="•"/>
            </a:pPr>
            <a:r>
              <a:rPr lang="en-US">
                <a:ea typeface="+mn-lt"/>
                <a:cs typeface="+mn-lt"/>
              </a:rPr>
              <a:t>Low consumption and long range thanks to LoRa </a:t>
            </a:r>
            <a:endParaRPr lang="en-US"/>
          </a:p>
          <a:p>
            <a:pPr marL="285750" indent="-285750">
              <a:buFont typeface="Arial"/>
              <a:buChar char="•"/>
            </a:pPr>
            <a:r>
              <a:rPr lang="en-US">
                <a:ea typeface="+mn-lt"/>
                <a:cs typeface="+mn-lt"/>
              </a:rPr>
              <a:t>Software easy to extend thanks to the modular </a:t>
            </a:r>
            <a:r>
              <a:rPr lang="en-US" err="1">
                <a:ea typeface="+mn-lt"/>
                <a:cs typeface="+mn-lt"/>
              </a:rPr>
              <a:t>approch</a:t>
            </a:r>
            <a:r>
              <a:rPr lang="en-US">
                <a:ea typeface="+mn-lt"/>
                <a:cs typeface="+mn-lt"/>
              </a:rPr>
              <a:t> </a:t>
            </a:r>
            <a:endParaRPr lang="en-US"/>
          </a:p>
          <a:p>
            <a:pPr marL="285750" indent="-285750">
              <a:buFont typeface="Arial"/>
              <a:buChar char="•"/>
            </a:pPr>
            <a:r>
              <a:rPr lang="en-US">
                <a:ea typeface="+mn-lt"/>
                <a:cs typeface="+mn-lt"/>
              </a:rPr>
              <a:t>Software easy to develop thanks to python  </a:t>
            </a:r>
            <a:endParaRPr lang="en-US"/>
          </a:p>
          <a:p>
            <a:pPr marL="285750" indent="-285750">
              <a:buFont typeface="Arial"/>
              <a:buChar char="•"/>
            </a:pPr>
            <a:r>
              <a:rPr lang="en-US">
                <a:ea typeface="+mn-lt"/>
                <a:cs typeface="+mn-lt"/>
              </a:rPr>
              <a:t>No need for subscription plan to external service </a:t>
            </a:r>
            <a:endParaRPr lang="en-US"/>
          </a:p>
          <a:p>
            <a:pPr marL="285750" indent="-285750">
              <a:buFont typeface="Arial"/>
              <a:buChar char="•"/>
            </a:pPr>
            <a:r>
              <a:rPr lang="en-US">
                <a:ea typeface="+mn-lt"/>
                <a:cs typeface="+mn-lt"/>
              </a:rPr>
              <a:t>Easy and centralized </a:t>
            </a:r>
            <a:r>
              <a:rPr lang="en-US" err="1">
                <a:ea typeface="+mn-lt"/>
                <a:cs typeface="+mn-lt"/>
              </a:rPr>
              <a:t>emploee</a:t>
            </a:r>
            <a:r>
              <a:rPr lang="en-US">
                <a:ea typeface="+mn-lt"/>
                <a:cs typeface="+mn-lt"/>
              </a:rPr>
              <a:t> management </a:t>
            </a:r>
            <a:endParaRPr lang="en-US"/>
          </a:p>
          <a:p>
            <a:pPr algn="l"/>
            <a:endParaRPr lang="en-US"/>
          </a:p>
        </p:txBody>
      </p:sp>
      <p:sp>
        <p:nvSpPr>
          <p:cNvPr id="9" name="TextBox 8">
            <a:extLst>
              <a:ext uri="{FF2B5EF4-FFF2-40B4-BE49-F238E27FC236}">
                <a16:creationId xmlns:a16="http://schemas.microsoft.com/office/drawing/2014/main" id="{5B135210-DBC6-F99F-BA11-670161172013}"/>
              </a:ext>
            </a:extLst>
          </p:cNvPr>
          <p:cNvSpPr txBox="1"/>
          <p:nvPr/>
        </p:nvSpPr>
        <p:spPr>
          <a:xfrm>
            <a:off x="6130991" y="2292699"/>
            <a:ext cx="488022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Cons:</a:t>
            </a:r>
          </a:p>
          <a:p>
            <a:endParaRPr lang="en-US">
              <a:ea typeface="+mn-lt"/>
              <a:cs typeface="+mn-lt"/>
            </a:endParaRPr>
          </a:p>
          <a:p>
            <a:pPr marL="285750" indent="-285750">
              <a:buFont typeface="Arial"/>
              <a:buChar char="•"/>
            </a:pPr>
            <a:r>
              <a:rPr lang="en-US"/>
              <a:t>Might need to upgrade </a:t>
            </a:r>
            <a:r>
              <a:rPr lang="en-US" err="1"/>
              <a:t>HiveMQ</a:t>
            </a:r>
            <a:r>
              <a:rPr lang="en-US"/>
              <a:t> plan for higher </a:t>
            </a:r>
            <a:r>
              <a:rPr lang="en-US" err="1"/>
              <a:t>trasmission</a:t>
            </a:r>
            <a:r>
              <a:rPr lang="en-US"/>
              <a:t> limits</a:t>
            </a:r>
          </a:p>
          <a:p>
            <a:pPr marL="285750" indent="-285750">
              <a:buFont typeface="Arial"/>
              <a:buChar char="•"/>
            </a:pPr>
            <a:r>
              <a:rPr lang="en-US"/>
              <a:t>Low </a:t>
            </a:r>
            <a:r>
              <a:rPr lang="en-US" err="1"/>
              <a:t>responsivness</a:t>
            </a:r>
            <a:r>
              <a:rPr lang="en-US"/>
              <a:t> due LoRa regulation , </a:t>
            </a:r>
            <a:r>
              <a:rPr lang="en-US" err="1"/>
              <a:t>teoretically</a:t>
            </a:r>
            <a:r>
              <a:rPr lang="en-US"/>
              <a:t> 1 </a:t>
            </a:r>
            <a:r>
              <a:rPr lang="en-US" err="1"/>
              <a:t>trasmission</a:t>
            </a:r>
            <a:r>
              <a:rPr lang="en-US"/>
              <a:t> every 3/4 mins</a:t>
            </a:r>
          </a:p>
          <a:p>
            <a:pPr marL="285750" indent="-285750" algn="l">
              <a:buFont typeface="Arial"/>
              <a:buChar char="•"/>
            </a:pPr>
            <a:endParaRPr lang="en-US"/>
          </a:p>
          <a:p>
            <a:endParaRPr lang="en-US"/>
          </a:p>
        </p:txBody>
      </p:sp>
    </p:spTree>
    <p:extLst>
      <p:ext uri="{BB962C8B-B14F-4D97-AF65-F5344CB8AC3E}">
        <p14:creationId xmlns:p14="http://schemas.microsoft.com/office/powerpoint/2010/main" val="3122162667"/>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5" name="Straight Connector 34">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B4D0E555-16F6-44D0-BF56-AF5FF5BDE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117041D-1A7B-4ECA-AB68-3CFDB6726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4"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C0730E9-5E42-AF5C-A480-9758C0AE4CFD}"/>
              </a:ext>
            </a:extLst>
          </p:cNvPr>
          <p:cNvSpPr>
            <a:spLocks noGrp="1"/>
          </p:cNvSpPr>
          <p:nvPr>
            <p:ph type="title"/>
          </p:nvPr>
        </p:nvSpPr>
        <p:spPr>
          <a:xfrm>
            <a:off x="435869" y="640080"/>
            <a:ext cx="3659246" cy="2862699"/>
          </a:xfrm>
        </p:spPr>
        <p:txBody>
          <a:bodyPr vert="horz" lIns="91440" tIns="45720" rIns="91440" bIns="45720" rtlCol="0" anchor="b">
            <a:normAutofit/>
          </a:bodyPr>
          <a:lstStyle/>
          <a:p>
            <a:pPr>
              <a:lnSpc>
                <a:spcPct val="90000"/>
              </a:lnSpc>
            </a:pPr>
            <a:r>
              <a:rPr lang="en-US" sz="4400">
                <a:solidFill>
                  <a:srgbClr val="FFFFFF"/>
                </a:solidFill>
              </a:rPr>
              <a:t>Future developments</a:t>
            </a:r>
          </a:p>
        </p:txBody>
      </p:sp>
      <p:cxnSp>
        <p:nvCxnSpPr>
          <p:cNvPr id="41" name="Straight Connector 40">
            <a:extLst>
              <a:ext uri="{FF2B5EF4-FFF2-40B4-BE49-F238E27FC236}">
                <a16:creationId xmlns:a16="http://schemas.microsoft.com/office/drawing/2014/main" id="{ABCD2462-4C1E-401A-AC2D-F799A138B2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852" y="3663649"/>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descr="A person in a suit and tie">
            <a:extLst>
              <a:ext uri="{FF2B5EF4-FFF2-40B4-BE49-F238E27FC236}">
                <a16:creationId xmlns:a16="http://schemas.microsoft.com/office/drawing/2014/main" id="{6ADD1859-C41E-58DF-00E4-C3DA574B0D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309" y="1733816"/>
            <a:ext cx="5677839" cy="3193784"/>
          </a:xfrm>
          <a:prstGeom prst="rect">
            <a:avLst/>
          </a:prstGeom>
        </p:spPr>
      </p:pic>
    </p:spTree>
    <p:extLst>
      <p:ext uri="{BB962C8B-B14F-4D97-AF65-F5344CB8AC3E}">
        <p14:creationId xmlns:p14="http://schemas.microsoft.com/office/powerpoint/2010/main" val="96253702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7DF4-B708-8375-B8E2-0295DD8E4C8B}"/>
              </a:ext>
            </a:extLst>
          </p:cNvPr>
          <p:cNvSpPr>
            <a:spLocks noGrp="1"/>
          </p:cNvSpPr>
          <p:nvPr>
            <p:ph type="title"/>
          </p:nvPr>
        </p:nvSpPr>
        <p:spPr/>
        <p:txBody>
          <a:bodyPr/>
          <a:lstStyle/>
          <a:p>
            <a:r>
              <a:rPr lang="en-US"/>
              <a:t>Future Developments</a:t>
            </a:r>
          </a:p>
        </p:txBody>
      </p:sp>
      <p:pic>
        <p:nvPicPr>
          <p:cNvPr id="4" name="Picture 3">
            <a:extLst>
              <a:ext uri="{FF2B5EF4-FFF2-40B4-BE49-F238E27FC236}">
                <a16:creationId xmlns:a16="http://schemas.microsoft.com/office/drawing/2014/main" id="{C1BD5A7A-C268-8284-ED70-4630A4B04579}"/>
              </a:ext>
            </a:extLst>
          </p:cNvPr>
          <p:cNvPicPr>
            <a:picLocks noChangeAspect="1"/>
          </p:cNvPicPr>
          <p:nvPr/>
        </p:nvPicPr>
        <p:blipFill>
          <a:blip r:embed="rId3"/>
          <a:stretch>
            <a:fillRect/>
          </a:stretch>
        </p:blipFill>
        <p:spPr>
          <a:xfrm>
            <a:off x="2592085" y="2801849"/>
            <a:ext cx="1365607" cy="1365607"/>
          </a:xfrm>
          <a:prstGeom prst="rect">
            <a:avLst/>
          </a:prstGeom>
        </p:spPr>
      </p:pic>
      <p:sp>
        <p:nvSpPr>
          <p:cNvPr id="6" name="TextBox 5">
            <a:extLst>
              <a:ext uri="{FF2B5EF4-FFF2-40B4-BE49-F238E27FC236}">
                <a16:creationId xmlns:a16="http://schemas.microsoft.com/office/drawing/2014/main" id="{969A4EEC-2315-ADEA-424E-90F8A1C016E3}"/>
              </a:ext>
            </a:extLst>
          </p:cNvPr>
          <p:cNvSpPr txBox="1"/>
          <p:nvPr/>
        </p:nvSpPr>
        <p:spPr>
          <a:xfrm>
            <a:off x="1619576" y="4812845"/>
            <a:ext cx="330327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t>Integrate a real Machine Learning model such as Prophet or Random Forest</a:t>
            </a:r>
          </a:p>
        </p:txBody>
      </p:sp>
      <p:pic>
        <p:nvPicPr>
          <p:cNvPr id="8" name="Graphic 7" descr="Garbage outline">
            <a:extLst>
              <a:ext uri="{FF2B5EF4-FFF2-40B4-BE49-F238E27FC236}">
                <a16:creationId xmlns:a16="http://schemas.microsoft.com/office/drawing/2014/main" id="{6A16A43F-DA6F-FE32-2D2F-63C6F04480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75488" y="2699668"/>
            <a:ext cx="1499171" cy="1456362"/>
          </a:xfrm>
          <a:prstGeom prst="rect">
            <a:avLst/>
          </a:prstGeom>
        </p:spPr>
      </p:pic>
      <p:sp>
        <p:nvSpPr>
          <p:cNvPr id="9" name="TextBox 8">
            <a:extLst>
              <a:ext uri="{FF2B5EF4-FFF2-40B4-BE49-F238E27FC236}">
                <a16:creationId xmlns:a16="http://schemas.microsoft.com/office/drawing/2014/main" id="{59FED90F-04FA-E885-E742-45778B261EB0}"/>
              </a:ext>
            </a:extLst>
          </p:cNvPr>
          <p:cNvSpPr txBox="1"/>
          <p:nvPr/>
        </p:nvSpPr>
        <p:spPr>
          <a:xfrm>
            <a:off x="6371373" y="4538866"/>
            <a:ext cx="330327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ea typeface="+mn-lt"/>
                <a:cs typeface="+mn-lt"/>
              </a:rPr>
              <a:t>Enhance the hardware by implementing an IP-rated waterproof enclosure, a rain-activated automatic closure system, and an integrated GPS module for precise geolocation.</a:t>
            </a:r>
            <a:endParaRPr lang="en-US"/>
          </a:p>
        </p:txBody>
      </p:sp>
    </p:spTree>
    <p:extLst>
      <p:ext uri="{BB962C8B-B14F-4D97-AF65-F5344CB8AC3E}">
        <p14:creationId xmlns:p14="http://schemas.microsoft.com/office/powerpoint/2010/main" val="301936792"/>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0703B-DCA2-283B-9FBB-DE09D31E4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4AE76-7B05-90DE-4CA5-47E63BC3F092}"/>
              </a:ext>
            </a:extLst>
          </p:cNvPr>
          <p:cNvSpPr>
            <a:spLocks noGrp="1"/>
          </p:cNvSpPr>
          <p:nvPr>
            <p:ph type="title"/>
          </p:nvPr>
        </p:nvSpPr>
        <p:spPr/>
        <p:txBody>
          <a:bodyPr/>
          <a:lstStyle/>
          <a:p>
            <a:r>
              <a:rPr lang="en-US"/>
              <a:t>Future Developments</a:t>
            </a:r>
          </a:p>
        </p:txBody>
      </p:sp>
      <p:sp>
        <p:nvSpPr>
          <p:cNvPr id="9" name="TextBox 8">
            <a:extLst>
              <a:ext uri="{FF2B5EF4-FFF2-40B4-BE49-F238E27FC236}">
                <a16:creationId xmlns:a16="http://schemas.microsoft.com/office/drawing/2014/main" id="{4141EEEC-D4E9-527F-DC49-22F97F3290F7}"/>
              </a:ext>
            </a:extLst>
          </p:cNvPr>
          <p:cNvSpPr txBox="1"/>
          <p:nvPr/>
        </p:nvSpPr>
        <p:spPr>
          <a:xfrm>
            <a:off x="1756564" y="4419001"/>
            <a:ext cx="330327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ea typeface="+mn-lt"/>
                <a:cs typeface="+mn-lt"/>
              </a:rPr>
              <a:t>Improve waste collector schedule and route based on distance and forecasting prediction</a:t>
            </a:r>
            <a:endParaRPr lang="en-US"/>
          </a:p>
        </p:txBody>
      </p:sp>
      <p:pic>
        <p:nvPicPr>
          <p:cNvPr id="5" name="Graphic 4" descr="Computer outline">
            <a:extLst>
              <a:ext uri="{FF2B5EF4-FFF2-40B4-BE49-F238E27FC236}">
                <a16:creationId xmlns:a16="http://schemas.microsoft.com/office/drawing/2014/main" id="{E93CB47C-9722-FDC7-D93D-6DA9B2AD67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27509" y="2436206"/>
            <a:ext cx="1883107" cy="1994221"/>
          </a:xfrm>
          <a:prstGeom prst="rect">
            <a:avLst/>
          </a:prstGeom>
        </p:spPr>
      </p:pic>
      <p:pic>
        <p:nvPicPr>
          <p:cNvPr id="7" name="Graphic 6" descr="Tablet outline">
            <a:extLst>
              <a:ext uri="{FF2B5EF4-FFF2-40B4-BE49-F238E27FC236}">
                <a16:creationId xmlns:a16="http://schemas.microsoft.com/office/drawing/2014/main" id="{5E776E0D-8223-7875-7FDB-BE4BACDF0E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31294" y="2295418"/>
            <a:ext cx="2258602" cy="2267164"/>
          </a:xfrm>
          <a:prstGeom prst="rect">
            <a:avLst/>
          </a:prstGeom>
        </p:spPr>
      </p:pic>
      <p:sp>
        <p:nvSpPr>
          <p:cNvPr id="12" name="TextBox 11">
            <a:extLst>
              <a:ext uri="{FF2B5EF4-FFF2-40B4-BE49-F238E27FC236}">
                <a16:creationId xmlns:a16="http://schemas.microsoft.com/office/drawing/2014/main" id="{2F7ACFD2-A636-6AEF-7759-141BE7C78479}"/>
              </a:ext>
            </a:extLst>
          </p:cNvPr>
          <p:cNvSpPr txBox="1"/>
          <p:nvPr/>
        </p:nvSpPr>
        <p:spPr>
          <a:xfrm>
            <a:off x="6705283" y="4419000"/>
            <a:ext cx="330327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ea typeface="+mn-lt"/>
                <a:cs typeface="+mn-lt"/>
              </a:rPr>
              <a:t>Upgrade the dashboard to enable waste collectors to report specific maintenance or operational problems</a:t>
            </a:r>
            <a:endParaRPr lang="en-US">
              <a:ea typeface="+mn-lt"/>
              <a:cs typeface="+mn-lt"/>
            </a:endParaRPr>
          </a:p>
        </p:txBody>
      </p:sp>
    </p:spTree>
    <p:extLst>
      <p:ext uri="{BB962C8B-B14F-4D97-AF65-F5344CB8AC3E}">
        <p14:creationId xmlns:p14="http://schemas.microsoft.com/office/powerpoint/2010/main" val="1339352326"/>
      </p:ext>
    </p:extLst>
  </p:cSld>
  <p:clrMapOvr>
    <a:masterClrMapping/>
  </p:clrMapOvr>
  <p:transition>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F3B87D-C3C9-E63D-AEAD-B9CD69008B36}"/>
              </a:ext>
            </a:extLst>
          </p:cNvPr>
          <p:cNvSpPr>
            <a:spLocks noGrp="1"/>
          </p:cNvSpPr>
          <p:nvPr>
            <p:ph type="title"/>
          </p:nvPr>
        </p:nvSpPr>
        <p:spPr>
          <a:xfrm>
            <a:off x="1096963" y="831548"/>
            <a:ext cx="10058400" cy="2355132"/>
          </a:xfrm>
        </p:spPr>
        <p:txBody>
          <a:bodyPr anchor="b">
            <a:normAutofit/>
          </a:bodyPr>
          <a:lstStyle/>
          <a:p>
            <a:r>
              <a:rPr lang="en-US" sz="7200"/>
              <a:t>Thanks for your attention</a:t>
            </a:r>
          </a:p>
        </p:txBody>
      </p:sp>
      <p:cxnSp>
        <p:nvCxnSpPr>
          <p:cNvPr id="29" name="Straight Connector 28">
            <a:extLst>
              <a:ext uri="{FF2B5EF4-FFF2-40B4-BE49-F238E27FC236}">
                <a16:creationId xmlns:a16="http://schemas.microsoft.com/office/drawing/2014/main" id="{2253D3D2-93DD-4AE3-9660-D546EF032A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8403" y="3429000"/>
            <a:ext cx="981151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FD2BEE73-A518-D7C1-FBF3-8C73B5A37CF8}"/>
              </a:ext>
            </a:extLst>
          </p:cNvPr>
          <p:cNvSpPr>
            <a:spLocks noGrp="1"/>
          </p:cNvSpPr>
          <p:nvPr>
            <p:ph idx="1"/>
          </p:nvPr>
        </p:nvSpPr>
        <p:spPr>
          <a:xfrm>
            <a:off x="1096963" y="3671316"/>
            <a:ext cx="10058400" cy="2355132"/>
          </a:xfrm>
        </p:spPr>
        <p:txBody>
          <a:bodyPr anchor="t">
            <a:normAutofit/>
          </a:bodyPr>
          <a:lstStyle/>
          <a:p>
            <a:r>
              <a:rPr lang="en-US"/>
              <a:t>By Francesco Pietri, Simone Aresta</a:t>
            </a:r>
          </a:p>
        </p:txBody>
      </p:sp>
      <p:sp>
        <p:nvSpPr>
          <p:cNvPr id="31" name="Rectangle 30">
            <a:extLst>
              <a:ext uri="{FF2B5EF4-FFF2-40B4-BE49-F238E27FC236}">
                <a16:creationId xmlns:a16="http://schemas.microsoft.com/office/drawing/2014/main" id="{C8C4A29D-5269-414E-AF71-0B9E9252E2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159277287"/>
      </p:ext>
    </p:extLst>
  </p:cSld>
  <p:clrMapOvr>
    <a:masterClrMapping/>
  </p:clrMapOvr>
  <p:transition>
    <p:wipe/>
  </p:transition>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Tw Cen M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88E4568960D3D4B9566803B9A92BC08" ma:contentTypeVersion="5" ma:contentTypeDescription="Creare un nuovo documento." ma:contentTypeScope="" ma:versionID="5929276d0dafa08c5299b88cadc72204">
  <xsd:schema xmlns:xsd="http://www.w3.org/2001/XMLSchema" xmlns:xs="http://www.w3.org/2001/XMLSchema" xmlns:p="http://schemas.microsoft.com/office/2006/metadata/properties" xmlns:ns3="39cf543f-af9d-471e-9024-d982332f2bc2" targetNamespace="http://schemas.microsoft.com/office/2006/metadata/properties" ma:root="true" ma:fieldsID="833ece1e662e6396290576290915eb63" ns3:_="">
    <xsd:import namespace="39cf543f-af9d-471e-9024-d982332f2bc2"/>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cf543f-af9d-471e-9024-d982332f2b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D9E5FEF-0FF6-40E3-BEA3-9328B6817BC1}">
  <ds:schemaRefs>
    <ds:schemaRef ds:uri="39cf543f-af9d-471e-9024-d982332f2b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3FF9650-8D72-4FD4-8433-3A2AEB0B2ADF}">
  <ds:schemaRefs>
    <ds:schemaRef ds:uri="http://schemas.microsoft.com/sharepoint/v3/contenttype/forms"/>
  </ds:schemaRefs>
</ds:datastoreItem>
</file>

<file path=customXml/itemProps3.xml><?xml version="1.0" encoding="utf-8"?>
<ds:datastoreItem xmlns:ds="http://schemas.openxmlformats.org/officeDocument/2006/customXml" ds:itemID="{5CBD3689-5C1B-48A4-91DF-8089A46378F3}">
  <ds:schemaRefs>
    <ds:schemaRef ds:uri="http://purl.org/dc/dcmitype/"/>
    <ds:schemaRef ds:uri="http://schemas.microsoft.com/office/2006/documentManagement/type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39cf543f-af9d-471e-9024-d982332f2bc2"/>
  </ds:schemaRefs>
</ds:datastoreItem>
</file>

<file path=docProps/app.xml><?xml version="1.0" encoding="utf-8"?>
<Properties xmlns="http://schemas.openxmlformats.org/officeDocument/2006/extended-properties" xmlns:vt="http://schemas.openxmlformats.org/officeDocument/2006/docPropsVTypes">
  <TotalTime>0</TotalTime>
  <Words>1292</Words>
  <Application>Microsoft Office PowerPoint</Application>
  <PresentationFormat>Widescreen</PresentationFormat>
  <Paragraphs>253</Paragraphs>
  <Slides>31</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Arial</vt:lpstr>
      <vt:lpstr>Calibri</vt:lpstr>
      <vt:lpstr>Tw Cen MT</vt:lpstr>
      <vt:lpstr>RetrospectVTI</vt:lpstr>
      <vt:lpstr>DigitalBin</vt:lpstr>
      <vt:lpstr>Main Goals</vt:lpstr>
      <vt:lpstr>Infrastructure Overview</vt:lpstr>
      <vt:lpstr>1. Digital Bin</vt:lpstr>
      <vt:lpstr>2. Receiver LoRa + Bridge</vt:lpstr>
      <vt:lpstr>3. Central Controller</vt:lpstr>
      <vt:lpstr>4. Web Dashboard</vt:lpstr>
      <vt:lpstr>Digital Bin  In Depth</vt:lpstr>
      <vt:lpstr>DigitalBin – Onboard Hardware</vt:lpstr>
      <vt:lpstr>DigitalBin – Receiver Hardware</vt:lpstr>
      <vt:lpstr>DigitalBin - LoRa Technology</vt:lpstr>
      <vt:lpstr>DigitalBin – Packet (Bin → Bridge)</vt:lpstr>
      <vt:lpstr>DigitalBin – Packet (Bridge → Bin)</vt:lpstr>
      <vt:lpstr>DigitalBin - Finite State Machine</vt:lpstr>
      <vt:lpstr>Receiver LoRa</vt:lpstr>
      <vt:lpstr>Receiver LoRa - Acknowledgment</vt:lpstr>
      <vt:lpstr>Bridge</vt:lpstr>
      <vt:lpstr>HiveMQ</vt:lpstr>
      <vt:lpstr>Central Controller</vt:lpstr>
      <vt:lpstr>Central Controller - Next open bin detection </vt:lpstr>
      <vt:lpstr>Central Controller - ML Predictor Pipeline</vt:lpstr>
      <vt:lpstr>Thingsboard </vt:lpstr>
      <vt:lpstr>Waste Collector - Interactions </vt:lpstr>
      <vt:lpstr>Waste Collector - NFC</vt:lpstr>
      <vt:lpstr>Waste Collector - Dashboard</vt:lpstr>
      <vt:lpstr>Waste Collector - Dashboard</vt:lpstr>
      <vt:lpstr>Pro and Cons</vt:lpstr>
      <vt:lpstr>Future developments</vt:lpstr>
      <vt:lpstr>Future Developments</vt:lpstr>
      <vt:lpstr>Future Developments</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SIMONE ARESTA</dc:creator>
  <cp:lastModifiedBy>SIMONE ARESTA</cp:lastModifiedBy>
  <cp:revision>5</cp:revision>
  <dcterms:created xsi:type="dcterms:W3CDTF">2026-02-04T08:48:36Z</dcterms:created>
  <dcterms:modified xsi:type="dcterms:W3CDTF">2026-02-10T12:41:09Z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0x010100588E4568960D3D4B9566803B9A92BC08</vt:lpwstr>
  </property>
</Properties>
</file>